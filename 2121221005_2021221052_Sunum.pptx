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8288000" cy="10287000"/>
  <p:notesSz cx="6858000" cy="9144000"/>
  <p:embeddedFontLst>
    <p:embeddedFont>
      <p:font typeface="Roboto Bold" panose="020B0604020202020204" charset="0"/>
      <p:regular r:id="rId51"/>
    </p:embeddedFont>
    <p:embeddedFont>
      <p:font typeface="Roboto" panose="020B0604020202020204" charset="0"/>
      <p:regular r:id="rId52"/>
    </p:embeddedFont>
    <p:embeddedFont>
      <p:font typeface="Canva Sans" panose="020B0604020202020204" charset="0"/>
      <p:regular r:id="rId53"/>
    </p:embeddedFont>
    <p:embeddedFont>
      <p:font typeface="Calibri" panose="020F0502020204030204" pitchFamily="34" charset="0"/>
      <p:regular r:id="rId54"/>
      <p:bold r:id="rId55"/>
      <p:italic r:id="rId56"/>
      <p:boldItalic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0" d="100"/>
          <a:sy n="60" d="100"/>
        </p:scale>
        <p:origin x="-37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554851" y="727075"/>
            <a:ext cx="3197348" cy="1482770"/>
          </a:xfrm>
          <a:custGeom>
            <a:avLst/>
            <a:gdLst/>
            <a:ahLst/>
            <a:cxnLst/>
            <a:rect l="l" t="t" r="r" b="b"/>
            <a:pathLst>
              <a:path w="3197348" h="1482770">
                <a:moveTo>
                  <a:pt x="0" y="0"/>
                </a:moveTo>
                <a:lnTo>
                  <a:pt x="3197348" y="0"/>
                </a:lnTo>
                <a:lnTo>
                  <a:pt x="3197348" y="1482770"/>
                </a:lnTo>
                <a:lnTo>
                  <a:pt x="0" y="1482770"/>
                </a:lnTo>
                <a:lnTo>
                  <a:pt x="0" y="0"/>
                </a:lnTo>
                <a:close/>
              </a:path>
            </a:pathLst>
          </a:custGeom>
          <a:blipFill>
            <a:blip r:embed="rId2"/>
            <a:stretch>
              <a:fillRect/>
            </a:stretch>
          </a:blipFill>
        </p:spPr>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
        <p:nvSpPr>
          <p:cNvPr id="4" name="TextBox 4"/>
          <p:cNvSpPr txBox="1"/>
          <p:nvPr/>
        </p:nvSpPr>
        <p:spPr>
          <a:xfrm>
            <a:off x="5828448" y="2668928"/>
            <a:ext cx="6631104" cy="2332990"/>
          </a:xfrm>
          <a:prstGeom prst="rect">
            <a:avLst/>
          </a:prstGeom>
        </p:spPr>
        <p:txBody>
          <a:bodyPr lIns="0" tIns="0" rIns="0" bIns="0" rtlCol="0" anchor="t">
            <a:spAutoFit/>
          </a:bodyPr>
          <a:lstStyle/>
          <a:p>
            <a:pPr algn="ctr">
              <a:lnSpc>
                <a:spcPts val="2659"/>
              </a:lnSpc>
              <a:spcBef>
                <a:spcPct val="0"/>
              </a:spcBef>
            </a:pPr>
            <a:r>
              <a:rPr lang="en-US" sz="1899" b="1">
                <a:solidFill>
                  <a:srgbClr val="000000"/>
                </a:solidFill>
                <a:latin typeface="Roboto Bold"/>
                <a:ea typeface="Roboto Bold"/>
                <a:cs typeface="Roboto Bold"/>
                <a:sym typeface="Roboto Bold"/>
              </a:rPr>
              <a:t>T.C.</a:t>
            </a:r>
          </a:p>
          <a:p>
            <a:pPr algn="ctr">
              <a:lnSpc>
                <a:spcPts val="2659"/>
              </a:lnSpc>
              <a:spcBef>
                <a:spcPct val="0"/>
              </a:spcBef>
            </a:pPr>
            <a:r>
              <a:rPr lang="en-US" sz="1899" b="1">
                <a:solidFill>
                  <a:srgbClr val="000000"/>
                </a:solidFill>
                <a:latin typeface="Roboto Bold"/>
                <a:ea typeface="Roboto Bold"/>
                <a:cs typeface="Roboto Bold"/>
                <a:sym typeface="Roboto Bold"/>
              </a:rPr>
              <a:t>FATİH SULTAN MEHMET VAKIF ÜNİVERSİTESİ</a:t>
            </a:r>
          </a:p>
          <a:p>
            <a:pPr algn="ctr">
              <a:lnSpc>
                <a:spcPts val="2659"/>
              </a:lnSpc>
              <a:spcBef>
                <a:spcPct val="0"/>
              </a:spcBef>
            </a:pPr>
            <a:endParaRPr lang="en-US" sz="1899" b="1">
              <a:solidFill>
                <a:srgbClr val="000000"/>
              </a:solidFill>
              <a:latin typeface="Roboto Bold"/>
              <a:ea typeface="Roboto Bold"/>
              <a:cs typeface="Roboto Bold"/>
              <a:sym typeface="Roboto Bold"/>
            </a:endParaRPr>
          </a:p>
          <a:p>
            <a:pPr algn="ctr">
              <a:lnSpc>
                <a:spcPts val="2659"/>
              </a:lnSpc>
              <a:spcBef>
                <a:spcPct val="0"/>
              </a:spcBef>
            </a:pPr>
            <a:r>
              <a:rPr lang="en-US" sz="1899" b="1">
                <a:solidFill>
                  <a:srgbClr val="000000"/>
                </a:solidFill>
                <a:latin typeface="Roboto Bold"/>
                <a:ea typeface="Roboto Bold"/>
                <a:cs typeface="Roboto Bold"/>
                <a:sym typeface="Roboto Bold"/>
              </a:rPr>
              <a:t>Mühendislik Fakültesi Bilgisayar Mühendisliği Bölümü</a:t>
            </a:r>
          </a:p>
          <a:p>
            <a:pPr algn="ctr">
              <a:lnSpc>
                <a:spcPts val="2659"/>
              </a:lnSpc>
              <a:spcBef>
                <a:spcPct val="0"/>
              </a:spcBef>
            </a:pPr>
            <a:endParaRPr lang="en-US" sz="1899" b="1">
              <a:solidFill>
                <a:srgbClr val="000000"/>
              </a:solidFill>
              <a:latin typeface="Roboto Bold"/>
              <a:ea typeface="Roboto Bold"/>
              <a:cs typeface="Roboto Bold"/>
              <a:sym typeface="Roboto Bold"/>
            </a:endParaRPr>
          </a:p>
          <a:p>
            <a:pPr algn="ctr">
              <a:lnSpc>
                <a:spcPts val="2659"/>
              </a:lnSpc>
              <a:spcBef>
                <a:spcPct val="0"/>
              </a:spcBef>
            </a:pPr>
            <a:endParaRPr lang="en-US" sz="1899" b="1">
              <a:solidFill>
                <a:srgbClr val="000000"/>
              </a:solidFill>
              <a:latin typeface="Roboto Bold"/>
              <a:ea typeface="Roboto Bold"/>
              <a:cs typeface="Roboto Bold"/>
              <a:sym typeface="Roboto Bold"/>
            </a:endParaRPr>
          </a:p>
          <a:p>
            <a:pPr algn="ctr">
              <a:lnSpc>
                <a:spcPts val="2659"/>
              </a:lnSpc>
              <a:spcBef>
                <a:spcPct val="0"/>
              </a:spcBef>
            </a:pPr>
            <a:r>
              <a:rPr lang="en-US" sz="1899" b="1">
                <a:solidFill>
                  <a:srgbClr val="000000"/>
                </a:solidFill>
                <a:latin typeface="Roboto Bold"/>
                <a:ea typeface="Roboto Bold"/>
                <a:cs typeface="Roboto Bold"/>
                <a:sym typeface="Roboto Bold"/>
              </a:rPr>
              <a:t>Lisans Bitirme Projesi</a:t>
            </a:r>
          </a:p>
        </p:txBody>
      </p:sp>
      <p:sp>
        <p:nvSpPr>
          <p:cNvPr id="5" name="TextBox 5"/>
          <p:cNvSpPr txBox="1"/>
          <p:nvPr/>
        </p:nvSpPr>
        <p:spPr>
          <a:xfrm>
            <a:off x="4672131" y="5449593"/>
            <a:ext cx="8943737" cy="905510"/>
          </a:xfrm>
          <a:prstGeom prst="rect">
            <a:avLst/>
          </a:prstGeom>
        </p:spPr>
        <p:txBody>
          <a:bodyPr lIns="0" tIns="0" rIns="0" bIns="0" rtlCol="0" anchor="t">
            <a:spAutoFit/>
          </a:bodyPr>
          <a:lstStyle/>
          <a:p>
            <a:pPr algn="ctr">
              <a:lnSpc>
                <a:spcPts val="3639"/>
              </a:lnSpc>
              <a:spcBef>
                <a:spcPct val="0"/>
              </a:spcBef>
            </a:pPr>
            <a:r>
              <a:rPr lang="en-US" sz="2599" b="1">
                <a:solidFill>
                  <a:srgbClr val="000000"/>
                </a:solidFill>
                <a:latin typeface="Roboto Bold"/>
                <a:ea typeface="Roboto Bold"/>
                <a:cs typeface="Roboto Bold"/>
                <a:sym typeface="Roboto Bold"/>
              </a:rPr>
              <a:t>BİLGİ DAMITMA VE TRANSFER ÖĞRENME YÖNTEMLERİNİN</a:t>
            </a:r>
          </a:p>
          <a:p>
            <a:pPr algn="ctr">
              <a:lnSpc>
                <a:spcPts val="3639"/>
              </a:lnSpc>
              <a:spcBef>
                <a:spcPct val="0"/>
              </a:spcBef>
            </a:pPr>
            <a:r>
              <a:rPr lang="en-US" sz="2599" b="1">
                <a:solidFill>
                  <a:srgbClr val="000000"/>
                </a:solidFill>
                <a:latin typeface="Roboto Bold"/>
                <a:ea typeface="Roboto Bold"/>
                <a:cs typeface="Roboto Bold"/>
                <a:sym typeface="Roboto Bold"/>
              </a:rPr>
              <a:t>SINIFLANDIRMA PROBLEMLERİ İÇİN KARŞILAŞTIRILMASI</a:t>
            </a:r>
          </a:p>
        </p:txBody>
      </p:sp>
      <p:sp>
        <p:nvSpPr>
          <p:cNvPr id="6" name="TextBox 6"/>
          <p:cNvSpPr txBox="1"/>
          <p:nvPr/>
        </p:nvSpPr>
        <p:spPr>
          <a:xfrm>
            <a:off x="6267212" y="7208228"/>
            <a:ext cx="5753576" cy="6661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Roboto"/>
                <a:ea typeface="Roboto"/>
                <a:cs typeface="Roboto"/>
                <a:sym typeface="Roboto"/>
              </a:rPr>
              <a:t>Merve Öğ - Beyza Yıldızlı 2121221005 - 2021221052</a:t>
            </a:r>
          </a:p>
          <a:p>
            <a:pPr algn="ctr">
              <a:lnSpc>
                <a:spcPts val="2659"/>
              </a:lnSpc>
              <a:spcBef>
                <a:spcPct val="0"/>
              </a:spcBef>
            </a:pPr>
            <a:r>
              <a:rPr lang="en-US" sz="1899">
                <a:solidFill>
                  <a:srgbClr val="000000"/>
                </a:solidFill>
                <a:latin typeface="Roboto"/>
                <a:ea typeface="Roboto"/>
                <a:cs typeface="Roboto"/>
                <a:sym typeface="Roboto"/>
              </a:rPr>
              <a:t>Bitirme Projesi Danışmanı: Dr. Öğr. Üyesi Musa AYDIN</a:t>
            </a:r>
          </a:p>
        </p:txBody>
      </p:sp>
      <p:sp>
        <p:nvSpPr>
          <p:cNvPr id="7" name="TextBox 7"/>
          <p:cNvSpPr txBox="1"/>
          <p:nvPr/>
        </p:nvSpPr>
        <p:spPr>
          <a:xfrm>
            <a:off x="7881714" y="8458019"/>
            <a:ext cx="2524571" cy="332740"/>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Roboto"/>
                <a:ea typeface="Roboto"/>
                <a:cs typeface="Roboto"/>
                <a:sym typeface="Roboto"/>
              </a:rPr>
              <a:t>İstanbul, [Haziran 2025]</a:t>
            </a:r>
          </a:p>
        </p:txBody>
      </p:sp>
      <p:grpSp>
        <p:nvGrpSpPr>
          <p:cNvPr id="8" name="Group 8"/>
          <p:cNvGrpSpPr/>
          <p:nvPr/>
        </p:nvGrpSpPr>
        <p:grpSpPr>
          <a:xfrm>
            <a:off x="0" y="9820130"/>
            <a:ext cx="18288000" cy="466870"/>
            <a:chOff x="0" y="0"/>
            <a:chExt cx="4816593" cy="122962"/>
          </a:xfrm>
        </p:grpSpPr>
        <p:sp>
          <p:nvSpPr>
            <p:cNvPr id="9" name="Freeform 9"/>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0" name="TextBox 10"/>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69316" y="1883410"/>
            <a:ext cx="6826824" cy="5453380"/>
          </a:xfrm>
          <a:prstGeom prst="rect">
            <a:avLst/>
          </a:prstGeom>
        </p:spPr>
        <p:txBody>
          <a:bodyPr lIns="0" tIns="0" rIns="0" bIns="0" rtlCol="0" anchor="t">
            <a:spAutoFit/>
          </a:bodyPr>
          <a:lstStyle/>
          <a:p>
            <a:pPr marL="604518" lvl="1" indent="-302259" algn="l">
              <a:lnSpc>
                <a:spcPts val="3919"/>
              </a:lnSpc>
              <a:buFont typeface="Arial"/>
              <a:buChar char="•"/>
            </a:pPr>
            <a:r>
              <a:rPr lang="en-US" sz="2799">
                <a:solidFill>
                  <a:srgbClr val="000000"/>
                </a:solidFill>
                <a:latin typeface="Roboto"/>
                <a:ea typeface="Roboto"/>
                <a:cs typeface="Roboto"/>
                <a:sym typeface="Roboto"/>
              </a:rPr>
              <a:t>MOTİVASYON</a:t>
            </a:r>
          </a:p>
          <a:p>
            <a:pPr algn="l">
              <a:lnSpc>
                <a:spcPts val="3919"/>
              </a:lnSpc>
            </a:pPr>
            <a:endParaRPr lang="en-US" sz="2799">
              <a:solidFill>
                <a:srgbClr val="000000"/>
              </a:solidFill>
              <a:latin typeface="Roboto"/>
              <a:ea typeface="Roboto"/>
              <a:cs typeface="Roboto"/>
              <a:sym typeface="Roboto"/>
            </a:endParaRPr>
          </a:p>
          <a:p>
            <a:pPr marL="604518" lvl="1" indent="-302259" algn="l">
              <a:lnSpc>
                <a:spcPts val="3919"/>
              </a:lnSpc>
              <a:buFont typeface="Arial"/>
              <a:buChar char="•"/>
            </a:pPr>
            <a:r>
              <a:rPr lang="en-US" sz="2799">
                <a:solidFill>
                  <a:srgbClr val="000000"/>
                </a:solidFill>
                <a:latin typeface="Roboto"/>
                <a:ea typeface="Roboto"/>
                <a:cs typeface="Roboto"/>
                <a:sym typeface="Roboto"/>
              </a:rPr>
              <a:t>PROBLEM TANIMI</a:t>
            </a:r>
          </a:p>
          <a:p>
            <a:pPr algn="l">
              <a:lnSpc>
                <a:spcPts val="3919"/>
              </a:lnSpc>
            </a:pPr>
            <a:endParaRPr lang="en-US" sz="2799">
              <a:solidFill>
                <a:srgbClr val="000000"/>
              </a:solidFill>
              <a:latin typeface="Roboto"/>
              <a:ea typeface="Roboto"/>
              <a:cs typeface="Roboto"/>
              <a:sym typeface="Roboto"/>
            </a:endParaRPr>
          </a:p>
          <a:p>
            <a:pPr marL="604518" lvl="1" indent="-302259" algn="l">
              <a:lnSpc>
                <a:spcPts val="3919"/>
              </a:lnSpc>
              <a:buFont typeface="Arial"/>
              <a:buChar char="•"/>
            </a:pPr>
            <a:r>
              <a:rPr lang="en-US" sz="2799">
                <a:solidFill>
                  <a:srgbClr val="000000"/>
                </a:solidFill>
                <a:latin typeface="Roboto"/>
                <a:ea typeface="Roboto"/>
                <a:cs typeface="Roboto"/>
                <a:sym typeface="Roboto"/>
              </a:rPr>
              <a:t>PROJE AMACI</a:t>
            </a:r>
          </a:p>
          <a:p>
            <a:pPr algn="l">
              <a:lnSpc>
                <a:spcPts val="3919"/>
              </a:lnSpc>
            </a:pPr>
            <a:endParaRPr lang="en-US" sz="2799">
              <a:solidFill>
                <a:srgbClr val="000000"/>
              </a:solidFill>
              <a:latin typeface="Roboto"/>
              <a:ea typeface="Roboto"/>
              <a:cs typeface="Roboto"/>
              <a:sym typeface="Roboto"/>
            </a:endParaRPr>
          </a:p>
          <a:p>
            <a:pPr marL="604518" lvl="1" indent="-302259" algn="l">
              <a:lnSpc>
                <a:spcPts val="3919"/>
              </a:lnSpc>
              <a:buFont typeface="Arial"/>
              <a:buChar char="•"/>
            </a:pPr>
            <a:r>
              <a:rPr lang="en-US" sz="2799">
                <a:solidFill>
                  <a:srgbClr val="000000"/>
                </a:solidFill>
                <a:latin typeface="Roboto"/>
                <a:ea typeface="Roboto"/>
                <a:cs typeface="Roboto"/>
                <a:sym typeface="Roboto"/>
              </a:rPr>
              <a:t>HEDEFLER</a:t>
            </a:r>
          </a:p>
          <a:p>
            <a:pPr algn="l">
              <a:lnSpc>
                <a:spcPts val="3919"/>
              </a:lnSpc>
            </a:pPr>
            <a:endParaRPr lang="en-US" sz="2799">
              <a:solidFill>
                <a:srgbClr val="000000"/>
              </a:solidFill>
              <a:latin typeface="Roboto"/>
              <a:ea typeface="Roboto"/>
              <a:cs typeface="Roboto"/>
              <a:sym typeface="Roboto"/>
            </a:endParaRPr>
          </a:p>
          <a:p>
            <a:pPr marL="604518" lvl="1" indent="-302259" algn="l">
              <a:lnSpc>
                <a:spcPts val="3919"/>
              </a:lnSpc>
              <a:buFont typeface="Arial"/>
              <a:buChar char="•"/>
            </a:pPr>
            <a:r>
              <a:rPr lang="en-US" sz="2799">
                <a:solidFill>
                  <a:srgbClr val="000000"/>
                </a:solidFill>
                <a:latin typeface="Roboto"/>
                <a:ea typeface="Roboto"/>
                <a:cs typeface="Roboto"/>
                <a:sym typeface="Roboto"/>
              </a:rPr>
              <a:t>KULLANILACAK TEKNOLOJİLER</a:t>
            </a:r>
          </a:p>
          <a:p>
            <a:pPr algn="l">
              <a:lnSpc>
                <a:spcPts val="3919"/>
              </a:lnSpc>
            </a:pPr>
            <a:endParaRPr lang="en-US" sz="2799">
              <a:solidFill>
                <a:srgbClr val="000000"/>
              </a:solidFill>
              <a:latin typeface="Roboto"/>
              <a:ea typeface="Roboto"/>
              <a:cs typeface="Roboto"/>
              <a:sym typeface="Roboto"/>
            </a:endParaRPr>
          </a:p>
          <a:p>
            <a:pPr algn="l">
              <a:lnSpc>
                <a:spcPts val="3919"/>
              </a:lnSpc>
            </a:pPr>
            <a:endParaRPr lang="en-US" sz="2799">
              <a:solidFill>
                <a:srgbClr val="000000"/>
              </a:solidFill>
              <a:latin typeface="Roboto"/>
              <a:ea typeface="Roboto"/>
              <a:cs typeface="Roboto"/>
              <a:sym typeface="Roboto"/>
            </a:endParaRPr>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grpSp>
        <p:nvGrpSpPr>
          <p:cNvPr id="4" name="Group 4"/>
          <p:cNvGrpSpPr/>
          <p:nvPr/>
        </p:nvGrpSpPr>
        <p:grpSpPr>
          <a:xfrm>
            <a:off x="-257457" y="0"/>
            <a:ext cx="18802914" cy="1028700"/>
            <a:chOff x="0" y="0"/>
            <a:chExt cx="4952208" cy="270933"/>
          </a:xfrm>
        </p:grpSpPr>
        <p:sp>
          <p:nvSpPr>
            <p:cNvPr id="5" name="Freeform 5"/>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6" name="TextBox 6"/>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0" y="9820130"/>
            <a:ext cx="18288000" cy="466870"/>
            <a:chOff x="0" y="0"/>
            <a:chExt cx="4816593" cy="122962"/>
          </a:xfrm>
        </p:grpSpPr>
        <p:sp>
          <p:nvSpPr>
            <p:cNvPr id="8" name="Freeform 8"/>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9" name="TextBox 9"/>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TextBox 11"/>
          <p:cNvSpPr txBox="1"/>
          <p:nvPr/>
        </p:nvSpPr>
        <p:spPr>
          <a:xfrm>
            <a:off x="1069316" y="144780"/>
            <a:ext cx="5031073"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İÇERİK</a:t>
            </a:r>
          </a:p>
        </p:txBody>
      </p:sp>
      <p:sp>
        <p:nvSpPr>
          <p:cNvPr id="12" name="TextBox 12"/>
          <p:cNvSpPr txBox="1"/>
          <p:nvPr/>
        </p:nvSpPr>
        <p:spPr>
          <a:xfrm>
            <a:off x="7896140" y="1432057"/>
            <a:ext cx="7358083" cy="6443980"/>
          </a:xfrm>
          <a:prstGeom prst="rect">
            <a:avLst/>
          </a:prstGeom>
        </p:spPr>
        <p:txBody>
          <a:bodyPr lIns="0" tIns="0" rIns="0" bIns="0" rtlCol="0" anchor="t">
            <a:spAutoFit/>
          </a:bodyPr>
          <a:lstStyle/>
          <a:p>
            <a:pPr algn="l">
              <a:lnSpc>
                <a:spcPts val="3919"/>
              </a:lnSpc>
            </a:pPr>
            <a:endParaRPr/>
          </a:p>
          <a:p>
            <a:pPr marL="604519" lvl="1" indent="-302260" algn="l">
              <a:lnSpc>
                <a:spcPts val="3919"/>
              </a:lnSpc>
              <a:buFont typeface="Arial"/>
              <a:buChar char="•"/>
            </a:pPr>
            <a:r>
              <a:rPr lang="en-US" sz="2799">
                <a:solidFill>
                  <a:srgbClr val="000000"/>
                </a:solidFill>
                <a:latin typeface="Roboto"/>
                <a:ea typeface="Roboto"/>
                <a:cs typeface="Roboto"/>
                <a:sym typeface="Roboto"/>
              </a:rPr>
              <a:t>METADOLOJİ VE YÖNTEM</a:t>
            </a:r>
          </a:p>
          <a:p>
            <a:pPr marL="1209039" lvl="2" indent="-403013" algn="l">
              <a:lnSpc>
                <a:spcPts val="3919"/>
              </a:lnSpc>
              <a:buFont typeface="Arial"/>
              <a:buChar char="⚬"/>
            </a:pPr>
            <a:r>
              <a:rPr lang="en-US" sz="2799">
                <a:solidFill>
                  <a:srgbClr val="000000"/>
                </a:solidFill>
                <a:latin typeface="Roboto"/>
                <a:ea typeface="Roboto"/>
                <a:cs typeface="Roboto"/>
                <a:sym typeface="Roboto"/>
              </a:rPr>
              <a:t>Kedi Köpek Sınıflandırması</a:t>
            </a:r>
          </a:p>
          <a:p>
            <a:pPr marL="1209039" lvl="2" indent="-403013" algn="l">
              <a:lnSpc>
                <a:spcPts val="3919"/>
              </a:lnSpc>
              <a:buFont typeface="Arial"/>
              <a:buChar char="⚬"/>
            </a:pPr>
            <a:r>
              <a:rPr lang="en-US" sz="2799">
                <a:solidFill>
                  <a:srgbClr val="000000"/>
                </a:solidFill>
                <a:latin typeface="Roboto"/>
                <a:ea typeface="Roboto"/>
                <a:cs typeface="Roboto"/>
                <a:sym typeface="Roboto"/>
              </a:rPr>
              <a:t>Transfer Öğrenme</a:t>
            </a:r>
          </a:p>
          <a:p>
            <a:pPr marL="1209039" lvl="2" indent="-403013" algn="l">
              <a:lnSpc>
                <a:spcPts val="3919"/>
              </a:lnSpc>
              <a:buFont typeface="Arial"/>
              <a:buChar char="⚬"/>
            </a:pPr>
            <a:r>
              <a:rPr lang="en-US" sz="2799">
                <a:solidFill>
                  <a:srgbClr val="000000"/>
                </a:solidFill>
                <a:latin typeface="Roboto"/>
                <a:ea typeface="Roboto"/>
                <a:cs typeface="Roboto"/>
                <a:sym typeface="Roboto"/>
              </a:rPr>
              <a:t>Bilgi Damıtma</a:t>
            </a:r>
          </a:p>
          <a:p>
            <a:pPr marL="1209039" lvl="2" indent="-403013" algn="l">
              <a:lnSpc>
                <a:spcPts val="3919"/>
              </a:lnSpc>
              <a:buFont typeface="Arial"/>
              <a:buChar char="⚬"/>
            </a:pPr>
            <a:r>
              <a:rPr lang="en-US" sz="2799">
                <a:solidFill>
                  <a:srgbClr val="000000"/>
                </a:solidFill>
                <a:latin typeface="Roboto"/>
                <a:ea typeface="Roboto"/>
                <a:cs typeface="Roboto"/>
                <a:sym typeface="Roboto"/>
              </a:rPr>
              <a:t>Yöntemlerin Performans Karşılaştırması</a:t>
            </a:r>
          </a:p>
          <a:p>
            <a:pPr algn="l">
              <a:lnSpc>
                <a:spcPts val="3919"/>
              </a:lnSpc>
            </a:pPr>
            <a:endParaRPr lang="en-US" sz="2799">
              <a:solidFill>
                <a:srgbClr val="000000"/>
              </a:solidFill>
              <a:latin typeface="Roboto"/>
              <a:ea typeface="Roboto"/>
              <a:cs typeface="Roboto"/>
              <a:sym typeface="Roboto"/>
            </a:endParaRPr>
          </a:p>
          <a:p>
            <a:pPr marL="604519" lvl="1" indent="-302260" algn="l">
              <a:lnSpc>
                <a:spcPts val="3919"/>
              </a:lnSpc>
              <a:buFont typeface="Arial"/>
              <a:buChar char="•"/>
            </a:pPr>
            <a:r>
              <a:rPr lang="en-US" sz="2799">
                <a:solidFill>
                  <a:srgbClr val="000000"/>
                </a:solidFill>
                <a:latin typeface="Roboto"/>
                <a:ea typeface="Roboto"/>
                <a:cs typeface="Roboto"/>
                <a:sym typeface="Roboto"/>
              </a:rPr>
              <a:t>GELECEK ÇALIŞMALAR</a:t>
            </a:r>
          </a:p>
          <a:p>
            <a:pPr algn="l">
              <a:lnSpc>
                <a:spcPts val="3919"/>
              </a:lnSpc>
            </a:pPr>
            <a:endParaRPr lang="en-US" sz="2799">
              <a:solidFill>
                <a:srgbClr val="000000"/>
              </a:solidFill>
              <a:latin typeface="Roboto"/>
              <a:ea typeface="Roboto"/>
              <a:cs typeface="Roboto"/>
              <a:sym typeface="Roboto"/>
            </a:endParaRPr>
          </a:p>
          <a:p>
            <a:pPr marL="604519" lvl="1" indent="-302260" algn="l">
              <a:lnSpc>
                <a:spcPts val="3919"/>
              </a:lnSpc>
              <a:buFont typeface="Arial"/>
              <a:buChar char="•"/>
            </a:pPr>
            <a:r>
              <a:rPr lang="en-US" sz="2799">
                <a:solidFill>
                  <a:srgbClr val="000000"/>
                </a:solidFill>
                <a:latin typeface="Roboto"/>
                <a:ea typeface="Roboto"/>
                <a:cs typeface="Roboto"/>
                <a:sym typeface="Roboto"/>
              </a:rPr>
              <a:t>SONUÇ</a:t>
            </a:r>
          </a:p>
          <a:p>
            <a:pPr algn="l">
              <a:lnSpc>
                <a:spcPts val="3919"/>
              </a:lnSpc>
            </a:pPr>
            <a:endParaRPr lang="en-US" sz="2799">
              <a:solidFill>
                <a:srgbClr val="000000"/>
              </a:solidFill>
              <a:latin typeface="Roboto"/>
              <a:ea typeface="Roboto"/>
              <a:cs typeface="Roboto"/>
              <a:sym typeface="Roboto"/>
            </a:endParaRPr>
          </a:p>
          <a:p>
            <a:pPr marL="604519" lvl="1" indent="-302260" algn="l">
              <a:lnSpc>
                <a:spcPts val="3919"/>
              </a:lnSpc>
              <a:buFont typeface="Arial"/>
              <a:buChar char="•"/>
            </a:pPr>
            <a:r>
              <a:rPr lang="en-US" sz="2799">
                <a:solidFill>
                  <a:srgbClr val="000000"/>
                </a:solidFill>
                <a:latin typeface="Roboto"/>
                <a:ea typeface="Roboto"/>
                <a:cs typeface="Roboto"/>
                <a:sym typeface="Roboto"/>
              </a:rPr>
              <a:t>TEŞEKKÜR VE SORULAR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grpSp>
        <p:nvGrpSpPr>
          <p:cNvPr id="7" name="Group 7"/>
          <p:cNvGrpSpPr/>
          <p:nvPr/>
        </p:nvGrpSpPr>
        <p:grpSpPr>
          <a:xfrm>
            <a:off x="-257457" y="0"/>
            <a:ext cx="18802914" cy="1028700"/>
            <a:chOff x="0" y="0"/>
            <a:chExt cx="4952208" cy="270933"/>
          </a:xfrm>
        </p:grpSpPr>
        <p:sp>
          <p:nvSpPr>
            <p:cNvPr id="8" name="Freeform 8"/>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9" name="TextBox 9"/>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69316" y="144780"/>
            <a:ext cx="5031073"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MOTİVASYON</a:t>
            </a:r>
          </a:p>
        </p:txBody>
      </p:sp>
      <p:sp>
        <p:nvSpPr>
          <p:cNvPr id="11" name="TextBox 11"/>
          <p:cNvSpPr txBox="1"/>
          <p:nvPr/>
        </p:nvSpPr>
        <p:spPr>
          <a:xfrm>
            <a:off x="3144917" y="3260044"/>
            <a:ext cx="11998166" cy="1253490"/>
          </a:xfrm>
          <a:prstGeom prst="rect">
            <a:avLst/>
          </a:prstGeom>
        </p:spPr>
        <p:txBody>
          <a:bodyPr lIns="0" tIns="0" rIns="0" bIns="0" rtlCol="0" anchor="t">
            <a:spAutoFit/>
          </a:bodyPr>
          <a:lstStyle/>
          <a:p>
            <a:pPr algn="ctr">
              <a:lnSpc>
                <a:spcPts val="3359"/>
              </a:lnSpc>
            </a:pPr>
            <a:r>
              <a:rPr lang="en-US" sz="2399">
                <a:solidFill>
                  <a:srgbClr val="000000"/>
                </a:solidFill>
                <a:latin typeface="Roboto"/>
                <a:ea typeface="Roboto"/>
                <a:cs typeface="Roboto"/>
                <a:sym typeface="Roboto"/>
              </a:rPr>
              <a:t>Günümüzde, mobil cihazlar, gömülü sistemler ve gerçek zamanlı uygulamalar gibi kaynak</a:t>
            </a:r>
          </a:p>
          <a:p>
            <a:pPr algn="ctr">
              <a:lnSpc>
                <a:spcPts val="3359"/>
              </a:lnSpc>
            </a:pPr>
            <a:r>
              <a:rPr lang="en-US" sz="2399">
                <a:solidFill>
                  <a:srgbClr val="000000"/>
                </a:solidFill>
                <a:latin typeface="Roboto"/>
                <a:ea typeface="Roboto"/>
                <a:cs typeface="Roboto"/>
                <a:sym typeface="Roboto"/>
              </a:rPr>
              <a:t>kısıtlı ortamlar, daha hızlı ve hafif modellerin kullanımını zorunlu kılmaktadır. Büyük ve</a:t>
            </a:r>
          </a:p>
          <a:p>
            <a:pPr algn="ctr">
              <a:lnSpc>
                <a:spcPts val="3359"/>
              </a:lnSpc>
              <a:spcBef>
                <a:spcPct val="0"/>
              </a:spcBef>
            </a:pPr>
            <a:r>
              <a:rPr lang="en-US" sz="2399">
                <a:solidFill>
                  <a:srgbClr val="000000"/>
                </a:solidFill>
                <a:latin typeface="Roboto"/>
                <a:ea typeface="Roboto"/>
                <a:cs typeface="Roboto"/>
                <a:sym typeface="Roboto"/>
              </a:rPr>
              <a:t>karmaşık modellerin bu tür ortamlarda uygulanabilirliği sınırlıdır. </a:t>
            </a:r>
          </a:p>
        </p:txBody>
      </p:sp>
      <p:sp>
        <p:nvSpPr>
          <p:cNvPr id="12" name="TextBox 12"/>
          <p:cNvSpPr txBox="1"/>
          <p:nvPr/>
        </p:nvSpPr>
        <p:spPr>
          <a:xfrm>
            <a:off x="2394569" y="5223556"/>
            <a:ext cx="13498863" cy="1672590"/>
          </a:xfrm>
          <a:prstGeom prst="rect">
            <a:avLst/>
          </a:prstGeom>
        </p:spPr>
        <p:txBody>
          <a:bodyPr lIns="0" tIns="0" rIns="0" bIns="0" rtlCol="0" anchor="t">
            <a:spAutoFit/>
          </a:bodyPr>
          <a:lstStyle/>
          <a:p>
            <a:pPr algn="ctr">
              <a:lnSpc>
                <a:spcPts val="3359"/>
              </a:lnSpc>
              <a:spcBef>
                <a:spcPct val="0"/>
              </a:spcBef>
            </a:pPr>
            <a:r>
              <a:rPr lang="en-US" sz="2399">
                <a:solidFill>
                  <a:srgbClr val="000000"/>
                </a:solidFill>
                <a:latin typeface="Roboto"/>
                <a:ea typeface="Roboto"/>
                <a:cs typeface="Roboto"/>
                <a:sym typeface="Roboto"/>
              </a:rPr>
              <a:t>Etiketli veri toplama süreci zaman alıcı, maliyetli ve çoğu zaman zorlu bir süreçtir. Özellikle, medikal görüntüleme, doğal dil işleme veya özel uygulama alanları gibi veri kıtlığının olduğu durumlarda sıfırdan bir model eğitmek pratik değildir. Ayrıca, sınırlı veriyle eğitilen modeller genellikle düşük performans sergilemektedir.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grpSp>
        <p:nvGrpSpPr>
          <p:cNvPr id="7" name="Group 7"/>
          <p:cNvGrpSpPr/>
          <p:nvPr/>
        </p:nvGrpSpPr>
        <p:grpSpPr>
          <a:xfrm>
            <a:off x="-257457" y="0"/>
            <a:ext cx="18802914" cy="1028700"/>
            <a:chOff x="0" y="0"/>
            <a:chExt cx="4952208" cy="270933"/>
          </a:xfrm>
        </p:grpSpPr>
        <p:sp>
          <p:nvSpPr>
            <p:cNvPr id="8" name="Freeform 8"/>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9" name="TextBox 9"/>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69316" y="144780"/>
            <a:ext cx="5031073"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PROBLEM TANIMI</a:t>
            </a:r>
          </a:p>
        </p:txBody>
      </p:sp>
      <p:sp>
        <p:nvSpPr>
          <p:cNvPr id="11" name="TextBox 11"/>
          <p:cNvSpPr txBox="1"/>
          <p:nvPr/>
        </p:nvSpPr>
        <p:spPr>
          <a:xfrm>
            <a:off x="2199042" y="3649980"/>
            <a:ext cx="13889917" cy="2929890"/>
          </a:xfrm>
          <a:prstGeom prst="rect">
            <a:avLst/>
          </a:prstGeom>
        </p:spPr>
        <p:txBody>
          <a:bodyPr lIns="0" tIns="0" rIns="0" bIns="0" rtlCol="0" anchor="t">
            <a:spAutoFit/>
          </a:bodyPr>
          <a:lstStyle/>
          <a:p>
            <a:pPr algn="ctr">
              <a:lnSpc>
                <a:spcPts val="3359"/>
              </a:lnSpc>
            </a:pPr>
            <a:r>
              <a:rPr lang="en-US" sz="2400">
                <a:solidFill>
                  <a:srgbClr val="000000"/>
                </a:solidFill>
                <a:latin typeface="Roboto"/>
                <a:ea typeface="Roboto"/>
                <a:cs typeface="Roboto"/>
                <a:sym typeface="Roboto"/>
              </a:rPr>
              <a:t>Derin öğrenme modelleri, çoğu zaman karmaşık yapıları ve yüksek hesaplama maliyetleri</a:t>
            </a:r>
          </a:p>
          <a:p>
            <a:pPr algn="ctr">
              <a:lnSpc>
                <a:spcPts val="3359"/>
              </a:lnSpc>
            </a:pPr>
            <a:r>
              <a:rPr lang="en-US" sz="2400">
                <a:solidFill>
                  <a:srgbClr val="000000"/>
                </a:solidFill>
                <a:latin typeface="Roboto"/>
                <a:ea typeface="Roboto"/>
                <a:cs typeface="Roboto"/>
                <a:sym typeface="Roboto"/>
              </a:rPr>
              <a:t>nedeniyle mobil cihazlar ve gömülü sistemler gibi kaynakları sınırlı ortamlarda kullanılması</a:t>
            </a:r>
          </a:p>
          <a:p>
            <a:pPr algn="ctr">
              <a:lnSpc>
                <a:spcPts val="3359"/>
              </a:lnSpc>
            </a:pPr>
            <a:r>
              <a:rPr lang="en-US" sz="2400">
                <a:solidFill>
                  <a:srgbClr val="000000"/>
                </a:solidFill>
                <a:latin typeface="Roboto"/>
                <a:ea typeface="Roboto"/>
                <a:cs typeface="Roboto"/>
                <a:sym typeface="Roboto"/>
              </a:rPr>
              <a:t>zordur. Bu ortamlarda, büyük ve karmaşık modellerin yüksek hesaplama maliyeti ve büyük bellek gereksinimi nedeniyle kullanılması pratik değildir. Bu durum, daha küçük, daha hızlı ve daha az enerji tüketen modellerin geliştirilmesi ihtiyacını ortaya çıkarmıştır. Bu projede, bilgi damıtma ve transfer öğrenme yöntemleri kullanılarak, sınıflandırma</a:t>
            </a:r>
          </a:p>
          <a:p>
            <a:pPr algn="ctr">
              <a:lnSpc>
                <a:spcPts val="3359"/>
              </a:lnSpc>
              <a:spcBef>
                <a:spcPct val="0"/>
              </a:spcBef>
            </a:pPr>
            <a:r>
              <a:rPr lang="en-US" sz="2400">
                <a:solidFill>
                  <a:srgbClr val="000000"/>
                </a:solidFill>
                <a:latin typeface="Roboto"/>
                <a:ea typeface="Roboto"/>
                <a:cs typeface="Roboto"/>
                <a:sym typeface="Roboto"/>
              </a:rPr>
              <a:t>problemlerine daha hafif, verimli ve etkili çözümler sunulması hedeflenmektedir.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64497" y="2846099"/>
            <a:ext cx="4594803" cy="4594803"/>
          </a:xfrm>
          <a:custGeom>
            <a:avLst/>
            <a:gdLst/>
            <a:ahLst/>
            <a:cxnLst/>
            <a:rect l="l" t="t" r="r" b="b"/>
            <a:pathLst>
              <a:path w="4594803" h="4594803">
                <a:moveTo>
                  <a:pt x="0" y="0"/>
                </a:moveTo>
                <a:lnTo>
                  <a:pt x="4594803" y="0"/>
                </a:lnTo>
                <a:lnTo>
                  <a:pt x="4594803" y="4594802"/>
                </a:lnTo>
                <a:lnTo>
                  <a:pt x="0" y="4594802"/>
                </a:lnTo>
                <a:lnTo>
                  <a:pt x="0" y="0"/>
                </a:lnTo>
                <a:close/>
              </a:path>
            </a:pathLst>
          </a:custGeom>
          <a:blipFill>
            <a:blip r:embed="rId2"/>
            <a:stretch>
              <a:fillRect/>
            </a:stretch>
          </a:blipFill>
        </p:spPr>
      </p:sp>
      <p:sp>
        <p:nvSpPr>
          <p:cNvPr id="3" name="TextBox 3"/>
          <p:cNvSpPr txBox="1"/>
          <p:nvPr/>
        </p:nvSpPr>
        <p:spPr>
          <a:xfrm>
            <a:off x="1028700" y="3230880"/>
            <a:ext cx="10488147" cy="37680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Roboto"/>
                <a:ea typeface="Roboto"/>
                <a:cs typeface="Roboto"/>
                <a:sym typeface="Roboto"/>
              </a:rPr>
              <a:t>Yeni bir model sıfırdan eğitmek yerine, mevcut bilgileri kullanarak daha hızlı ve verimli bir eğitim süreci sağlamak.</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a:solidFill>
                  <a:srgbClr val="000000"/>
                </a:solidFill>
                <a:latin typeface="Roboto"/>
                <a:ea typeface="Roboto"/>
                <a:cs typeface="Roboto"/>
                <a:sym typeface="Roboto"/>
              </a:rPr>
              <a:t>Büyük modellerin performansını küçük modellere aktararak hesaplama maliyetini düşürmek</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a:solidFill>
                  <a:srgbClr val="000000"/>
                </a:solidFill>
                <a:latin typeface="Roboto"/>
                <a:ea typeface="Roboto"/>
                <a:cs typeface="Roboto"/>
                <a:sym typeface="Roboto"/>
              </a:rPr>
              <a:t>Sınıflandırma problemleri için Bilgi Damıtma ve Transfer Öğrenme yöntemlerini karşılaştırarak, her iki yaklaşımın performans, verimlilik ve uygulama alanları açısından değerlendirilmesini sağlamak</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grpSp>
        <p:nvGrpSpPr>
          <p:cNvPr id="5" name="Group 5"/>
          <p:cNvGrpSpPr/>
          <p:nvPr/>
        </p:nvGrpSpPr>
        <p:grpSpPr>
          <a:xfrm>
            <a:off x="0" y="9820130"/>
            <a:ext cx="18288000" cy="466870"/>
            <a:chOff x="0" y="0"/>
            <a:chExt cx="4816593" cy="122962"/>
          </a:xfrm>
        </p:grpSpPr>
        <p:sp>
          <p:nvSpPr>
            <p:cNvPr id="6" name="Freeform 6"/>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7" name="TextBox 7"/>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9" name="Group 9"/>
          <p:cNvGrpSpPr/>
          <p:nvPr/>
        </p:nvGrpSpPr>
        <p:grpSpPr>
          <a:xfrm>
            <a:off x="-257457" y="0"/>
            <a:ext cx="18802914" cy="1028700"/>
            <a:chOff x="0" y="0"/>
            <a:chExt cx="4952208" cy="270933"/>
          </a:xfrm>
        </p:grpSpPr>
        <p:sp>
          <p:nvSpPr>
            <p:cNvPr id="10" name="Freeform 10"/>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11" name="TextBox 11"/>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69316" y="144780"/>
            <a:ext cx="5031073"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PROJE AMACI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913756" y="2284654"/>
            <a:ext cx="5717692" cy="5717692"/>
          </a:xfrm>
          <a:custGeom>
            <a:avLst/>
            <a:gdLst/>
            <a:ahLst/>
            <a:cxnLst/>
            <a:rect l="l" t="t" r="r" b="b"/>
            <a:pathLst>
              <a:path w="5717692" h="5717692">
                <a:moveTo>
                  <a:pt x="0" y="0"/>
                </a:moveTo>
                <a:lnTo>
                  <a:pt x="5717692" y="0"/>
                </a:lnTo>
                <a:lnTo>
                  <a:pt x="5717692" y="5717692"/>
                </a:lnTo>
                <a:lnTo>
                  <a:pt x="0" y="5717692"/>
                </a:lnTo>
                <a:lnTo>
                  <a:pt x="0" y="0"/>
                </a:lnTo>
                <a:close/>
              </a:path>
            </a:pathLst>
          </a:custGeom>
          <a:blipFill>
            <a:blip r:embed="rId2"/>
            <a:stretch>
              <a:fillRect/>
            </a:stretch>
          </a:blipFill>
        </p:spPr>
      </p:sp>
      <p:sp>
        <p:nvSpPr>
          <p:cNvPr id="3" name="TextBox 3"/>
          <p:cNvSpPr txBox="1"/>
          <p:nvPr/>
        </p:nvSpPr>
        <p:spPr>
          <a:xfrm>
            <a:off x="1028700" y="3230880"/>
            <a:ext cx="6248270" cy="37680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Roboto"/>
                <a:ea typeface="Roboto"/>
                <a:cs typeface="Roboto"/>
                <a:sym typeface="Roboto"/>
              </a:rPr>
              <a:t>Literatür Taraması</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a:solidFill>
                  <a:srgbClr val="000000"/>
                </a:solidFill>
                <a:latin typeface="Roboto"/>
                <a:ea typeface="Roboto"/>
                <a:cs typeface="Roboto"/>
                <a:sym typeface="Roboto"/>
              </a:rPr>
              <a:t>Model Geliştirme ve Uygulama</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a:solidFill>
                  <a:srgbClr val="000000"/>
                </a:solidFill>
                <a:latin typeface="Roboto"/>
                <a:ea typeface="Roboto"/>
                <a:cs typeface="Roboto"/>
                <a:sym typeface="Roboto"/>
              </a:rPr>
              <a:t>Performans Karşılaştırması</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a:solidFill>
                  <a:srgbClr val="000000"/>
                </a:solidFill>
                <a:latin typeface="Roboto"/>
                <a:ea typeface="Roboto"/>
                <a:cs typeface="Roboto"/>
                <a:sym typeface="Roboto"/>
              </a:rPr>
              <a:t>Uygulama Alanlarının Değerlendirilmesi</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a:solidFill>
                  <a:srgbClr val="000000"/>
                </a:solidFill>
                <a:latin typeface="Roboto"/>
                <a:ea typeface="Roboto"/>
                <a:cs typeface="Roboto"/>
                <a:sym typeface="Roboto"/>
              </a:rPr>
              <a:t>Sonuçların Yorumlanması</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grpSp>
        <p:nvGrpSpPr>
          <p:cNvPr id="5" name="Group 5"/>
          <p:cNvGrpSpPr/>
          <p:nvPr/>
        </p:nvGrpSpPr>
        <p:grpSpPr>
          <a:xfrm>
            <a:off x="0" y="9820130"/>
            <a:ext cx="18288000" cy="466870"/>
            <a:chOff x="0" y="0"/>
            <a:chExt cx="4816593" cy="122962"/>
          </a:xfrm>
        </p:grpSpPr>
        <p:sp>
          <p:nvSpPr>
            <p:cNvPr id="6" name="Freeform 6"/>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7" name="TextBox 7"/>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9" name="Group 9"/>
          <p:cNvGrpSpPr/>
          <p:nvPr/>
        </p:nvGrpSpPr>
        <p:grpSpPr>
          <a:xfrm>
            <a:off x="-257457" y="0"/>
            <a:ext cx="18802914" cy="1028700"/>
            <a:chOff x="0" y="0"/>
            <a:chExt cx="4952208" cy="270933"/>
          </a:xfrm>
        </p:grpSpPr>
        <p:sp>
          <p:nvSpPr>
            <p:cNvPr id="10" name="Freeform 10"/>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11" name="TextBox 11"/>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69316" y="144780"/>
            <a:ext cx="5031073"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HEDEFLER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47750" y="2811780"/>
            <a:ext cx="9461225" cy="4606290"/>
          </a:xfrm>
          <a:prstGeom prst="rect">
            <a:avLst/>
          </a:prstGeom>
        </p:spPr>
        <p:txBody>
          <a:bodyPr lIns="0" tIns="0" rIns="0" bIns="0" rtlCol="0" anchor="t">
            <a:spAutoFit/>
          </a:bodyPr>
          <a:lstStyle/>
          <a:p>
            <a:pPr marL="518160" lvl="1" indent="-259080" algn="l">
              <a:lnSpc>
                <a:spcPts val="3359"/>
              </a:lnSpc>
              <a:buFont typeface="Arial"/>
              <a:buChar char="•"/>
            </a:pPr>
            <a:r>
              <a:rPr lang="en-US" sz="2400" b="1">
                <a:solidFill>
                  <a:srgbClr val="000000"/>
                </a:solidFill>
                <a:latin typeface="Roboto Bold"/>
                <a:ea typeface="Roboto Bold"/>
                <a:cs typeface="Roboto Bold"/>
                <a:sym typeface="Roboto Bold"/>
              </a:rPr>
              <a:t>Programlama Dilleri: </a:t>
            </a:r>
            <a:r>
              <a:rPr lang="en-US" sz="2400">
                <a:solidFill>
                  <a:srgbClr val="000000"/>
                </a:solidFill>
                <a:latin typeface="Roboto"/>
                <a:ea typeface="Roboto"/>
                <a:cs typeface="Roboto"/>
                <a:sym typeface="Roboto"/>
              </a:rPr>
              <a:t>Python (PyTorch v2.0 or later) </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b="1">
                <a:solidFill>
                  <a:srgbClr val="000000"/>
                </a:solidFill>
                <a:latin typeface="Roboto Bold"/>
                <a:ea typeface="Roboto Bold"/>
                <a:cs typeface="Roboto Bold"/>
                <a:sym typeface="Roboto Bold"/>
              </a:rPr>
              <a:t>Görsel Analiz Araçları:</a:t>
            </a:r>
            <a:r>
              <a:rPr lang="en-US" sz="2400">
                <a:solidFill>
                  <a:srgbClr val="000000"/>
                </a:solidFill>
                <a:latin typeface="Roboto"/>
                <a:ea typeface="Roboto"/>
                <a:cs typeface="Roboto"/>
                <a:sym typeface="Roboto"/>
              </a:rPr>
              <a:t> Matplotlib, Seaborn </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b="1">
                <a:solidFill>
                  <a:srgbClr val="000000"/>
                </a:solidFill>
                <a:latin typeface="Roboto Bold"/>
                <a:ea typeface="Roboto Bold"/>
                <a:cs typeface="Roboto Bold"/>
                <a:sym typeface="Roboto Bold"/>
              </a:rPr>
              <a:t>Hesaplama Ortamları: </a:t>
            </a:r>
            <a:r>
              <a:rPr lang="en-US" sz="2400">
                <a:solidFill>
                  <a:srgbClr val="000000"/>
                </a:solidFill>
                <a:latin typeface="Roboto"/>
                <a:ea typeface="Roboto"/>
                <a:cs typeface="Roboto"/>
                <a:sym typeface="Roboto"/>
              </a:rPr>
              <a:t>Google Colab, CUDA uyumlu GPU kullanımı</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b="1">
                <a:solidFill>
                  <a:srgbClr val="000000"/>
                </a:solidFill>
                <a:latin typeface="Roboto Bold"/>
                <a:ea typeface="Roboto Bold"/>
                <a:cs typeface="Roboto Bold"/>
                <a:sym typeface="Roboto Bold"/>
              </a:rPr>
              <a:t>Veri Seti:</a:t>
            </a:r>
            <a:r>
              <a:rPr lang="en-US" sz="2400">
                <a:solidFill>
                  <a:srgbClr val="000000"/>
                </a:solidFill>
                <a:latin typeface="Roboto"/>
                <a:ea typeface="Roboto"/>
                <a:cs typeface="Roboto"/>
                <a:sym typeface="Roboto"/>
              </a:rPr>
              <a:t> Cat-Dog Veri Seti, ImageNet, CIFAR-10  </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b="1">
                <a:solidFill>
                  <a:srgbClr val="000000"/>
                </a:solidFill>
                <a:latin typeface="Roboto Bold"/>
                <a:ea typeface="Roboto Bold"/>
                <a:cs typeface="Roboto Bold"/>
                <a:sym typeface="Roboto Bold"/>
              </a:rPr>
              <a:t>Model Mimari:</a:t>
            </a:r>
            <a:r>
              <a:rPr lang="en-US" sz="2400">
                <a:solidFill>
                  <a:srgbClr val="000000"/>
                </a:solidFill>
                <a:latin typeface="Roboto"/>
                <a:ea typeface="Roboto"/>
                <a:cs typeface="Roboto"/>
                <a:sym typeface="Roboto"/>
              </a:rPr>
              <a:t> ResNet-18, MobileNetV3, DenseNet </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b="1">
                <a:solidFill>
                  <a:srgbClr val="000000"/>
                </a:solidFill>
                <a:latin typeface="Roboto Bold"/>
                <a:ea typeface="Roboto Bold"/>
                <a:cs typeface="Roboto Bold"/>
                <a:sym typeface="Roboto Bold"/>
              </a:rPr>
              <a:t>Performans Analizi:</a:t>
            </a:r>
            <a:r>
              <a:rPr lang="en-US" sz="2400">
                <a:solidFill>
                  <a:srgbClr val="000000"/>
                </a:solidFill>
                <a:latin typeface="Roboto"/>
                <a:ea typeface="Roboto"/>
                <a:cs typeface="Roboto"/>
                <a:sym typeface="Roboto"/>
              </a:rPr>
              <a:t> Scikit-learn (confusion matrix analizi)</a:t>
            </a:r>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grpSp>
        <p:nvGrpSpPr>
          <p:cNvPr id="4" name="Group 4"/>
          <p:cNvGrpSpPr/>
          <p:nvPr/>
        </p:nvGrpSpPr>
        <p:grpSpPr>
          <a:xfrm>
            <a:off x="0" y="9820130"/>
            <a:ext cx="18288000" cy="466870"/>
            <a:chOff x="0" y="0"/>
            <a:chExt cx="4816593" cy="122962"/>
          </a:xfrm>
        </p:grpSpPr>
        <p:sp>
          <p:nvSpPr>
            <p:cNvPr id="5" name="Freeform 5"/>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6" name="TextBox 6"/>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8" name="Group 8"/>
          <p:cNvGrpSpPr/>
          <p:nvPr/>
        </p:nvGrpSpPr>
        <p:grpSpPr>
          <a:xfrm>
            <a:off x="-257457" y="0"/>
            <a:ext cx="18802914" cy="1028700"/>
            <a:chOff x="0" y="0"/>
            <a:chExt cx="4952208" cy="270933"/>
          </a:xfrm>
        </p:grpSpPr>
        <p:sp>
          <p:nvSpPr>
            <p:cNvPr id="9" name="Freeform 9"/>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10" name="TextBox 10"/>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69316" y="144780"/>
            <a:ext cx="10416111"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KULLANILACAK TEKNOLOJİLER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9893289" y="1985565"/>
            <a:ext cx="6470312" cy="6315870"/>
          </a:xfrm>
          <a:custGeom>
            <a:avLst/>
            <a:gdLst/>
            <a:ahLst/>
            <a:cxnLst/>
            <a:rect l="l" t="t" r="r" b="b"/>
            <a:pathLst>
              <a:path w="6470312" h="6315870">
                <a:moveTo>
                  <a:pt x="0" y="0"/>
                </a:moveTo>
                <a:lnTo>
                  <a:pt x="6470312" y="0"/>
                </a:lnTo>
                <a:lnTo>
                  <a:pt x="6470312" y="6315870"/>
                </a:lnTo>
                <a:lnTo>
                  <a:pt x="0" y="6315870"/>
                </a:lnTo>
                <a:lnTo>
                  <a:pt x="0" y="0"/>
                </a:lnTo>
                <a:close/>
              </a:path>
            </a:pathLst>
          </a:custGeom>
          <a:blipFill>
            <a:blip r:embed="rId2"/>
            <a:stretch>
              <a:fillRect/>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TextBox 11"/>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KULLANILACAK TEKNOLOJİLER</a:t>
            </a:r>
          </a:p>
        </p:txBody>
      </p:sp>
      <p:sp>
        <p:nvSpPr>
          <p:cNvPr id="12" name="TextBox 12"/>
          <p:cNvSpPr txBox="1"/>
          <p:nvPr/>
        </p:nvSpPr>
        <p:spPr>
          <a:xfrm>
            <a:off x="1028700" y="2048035"/>
            <a:ext cx="1943100" cy="436017"/>
          </a:xfrm>
          <a:prstGeom prst="rect">
            <a:avLst/>
          </a:prstGeom>
        </p:spPr>
        <p:txBody>
          <a:bodyPr wrap="square" lIns="0" tIns="0" rIns="0" bIns="0" rtlCol="0" anchor="t">
            <a:spAutoFit/>
          </a:bodyPr>
          <a:lstStyle/>
          <a:p>
            <a:pPr algn="l">
              <a:lnSpc>
                <a:spcPts val="3359"/>
              </a:lnSpc>
            </a:pPr>
            <a:r>
              <a:rPr lang="en-US" sz="2400" b="1" u="sng" dirty="0">
                <a:solidFill>
                  <a:srgbClr val="000000"/>
                </a:solidFill>
                <a:latin typeface="Roboto Bold"/>
                <a:ea typeface="Roboto Bold"/>
                <a:cs typeface="Roboto Bold"/>
                <a:sym typeface="Roboto Bold"/>
              </a:rPr>
              <a:t>ImageNet</a:t>
            </a:r>
          </a:p>
        </p:txBody>
      </p:sp>
      <p:sp>
        <p:nvSpPr>
          <p:cNvPr id="13" name="TextBox 13"/>
          <p:cNvSpPr txBox="1"/>
          <p:nvPr/>
        </p:nvSpPr>
        <p:spPr>
          <a:xfrm>
            <a:off x="1028700" y="3051810"/>
            <a:ext cx="6739031" cy="20916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Roboto"/>
                <a:ea typeface="Roboto"/>
                <a:cs typeface="Roboto"/>
                <a:sym typeface="Roboto"/>
              </a:rPr>
              <a:t>ImageNet veri kümesi,  14.197.122 adet açıklamalı resim içermektedir.</a:t>
            </a:r>
          </a:p>
          <a:p>
            <a:pPr algn="l">
              <a:lnSpc>
                <a:spcPts val="3359"/>
              </a:lnSpc>
            </a:pPr>
            <a:endParaRPr lang="en-US" sz="2400">
              <a:solidFill>
                <a:srgbClr val="000000"/>
              </a:solidFill>
              <a:latin typeface="Roboto"/>
              <a:ea typeface="Roboto"/>
              <a:cs typeface="Roboto"/>
              <a:sym typeface="Roboto"/>
            </a:endParaRPr>
          </a:p>
          <a:p>
            <a:pPr marL="518160" lvl="1" indent="-259080" algn="l">
              <a:lnSpc>
                <a:spcPts val="3359"/>
              </a:lnSpc>
              <a:buFont typeface="Arial"/>
              <a:buChar char="•"/>
            </a:pPr>
            <a:r>
              <a:rPr lang="en-US" sz="2400">
                <a:solidFill>
                  <a:srgbClr val="000000"/>
                </a:solidFill>
                <a:latin typeface="Roboto"/>
                <a:ea typeface="Roboto"/>
                <a:cs typeface="Roboto"/>
                <a:sym typeface="Roboto"/>
              </a:rPr>
              <a:t>Bir kategoride, birkaç yüz resimden oluşan 20.000'den fazla kategori içerir.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67621" y="4245280"/>
            <a:ext cx="2719837" cy="2719837"/>
          </a:xfrm>
          <a:custGeom>
            <a:avLst/>
            <a:gdLst/>
            <a:ahLst/>
            <a:cxnLst/>
            <a:rect l="l" t="t" r="r" b="b"/>
            <a:pathLst>
              <a:path w="2719837" h="2719837">
                <a:moveTo>
                  <a:pt x="0" y="0"/>
                </a:moveTo>
                <a:lnTo>
                  <a:pt x="2719837" y="0"/>
                </a:lnTo>
                <a:lnTo>
                  <a:pt x="2719837" y="2719837"/>
                </a:lnTo>
                <a:lnTo>
                  <a:pt x="0" y="2719837"/>
                </a:lnTo>
                <a:lnTo>
                  <a:pt x="0" y="0"/>
                </a:lnTo>
                <a:close/>
              </a:path>
            </a:pathLst>
          </a:custGeom>
          <a:blipFill>
            <a:blip r:embed="rId2"/>
            <a:stretch>
              <a:fillRect/>
            </a:stretch>
          </a:blipFill>
        </p:spPr>
      </p:sp>
      <p:sp>
        <p:nvSpPr>
          <p:cNvPr id="3" name="Freeform 3"/>
          <p:cNvSpPr/>
          <p:nvPr/>
        </p:nvSpPr>
        <p:spPr>
          <a:xfrm>
            <a:off x="9900859" y="4342676"/>
            <a:ext cx="2719837" cy="2719837"/>
          </a:xfrm>
          <a:custGeom>
            <a:avLst/>
            <a:gdLst/>
            <a:ahLst/>
            <a:cxnLst/>
            <a:rect l="l" t="t" r="r" b="b"/>
            <a:pathLst>
              <a:path w="2719837" h="2719837">
                <a:moveTo>
                  <a:pt x="0" y="0"/>
                </a:moveTo>
                <a:lnTo>
                  <a:pt x="2719837" y="0"/>
                </a:lnTo>
                <a:lnTo>
                  <a:pt x="2719837" y="2719837"/>
                </a:lnTo>
                <a:lnTo>
                  <a:pt x="0" y="2719837"/>
                </a:lnTo>
                <a:lnTo>
                  <a:pt x="0" y="0"/>
                </a:lnTo>
                <a:close/>
              </a:path>
            </a:pathLst>
          </a:custGeom>
          <a:blipFill>
            <a:blip r:embed="rId3"/>
            <a:stretch>
              <a:fillRect/>
            </a:stretch>
          </a:blipFill>
        </p:spPr>
      </p:sp>
      <p:sp>
        <p:nvSpPr>
          <p:cNvPr id="4" name="Freeform 4"/>
          <p:cNvSpPr/>
          <p:nvPr/>
        </p:nvSpPr>
        <p:spPr>
          <a:xfrm>
            <a:off x="5825201" y="4245280"/>
            <a:ext cx="2719837" cy="2719837"/>
          </a:xfrm>
          <a:custGeom>
            <a:avLst/>
            <a:gdLst/>
            <a:ahLst/>
            <a:cxnLst/>
            <a:rect l="l" t="t" r="r" b="b"/>
            <a:pathLst>
              <a:path w="2719837" h="2719837">
                <a:moveTo>
                  <a:pt x="0" y="0"/>
                </a:moveTo>
                <a:lnTo>
                  <a:pt x="2719837" y="0"/>
                </a:lnTo>
                <a:lnTo>
                  <a:pt x="2719837" y="2719837"/>
                </a:lnTo>
                <a:lnTo>
                  <a:pt x="0" y="2719837"/>
                </a:lnTo>
                <a:lnTo>
                  <a:pt x="0" y="0"/>
                </a:lnTo>
                <a:close/>
              </a:path>
            </a:pathLst>
          </a:custGeom>
          <a:blipFill>
            <a:blip r:embed="rId4"/>
            <a:stretch>
              <a:fillRect/>
            </a:stretch>
          </a:blipFill>
        </p:spPr>
      </p:sp>
      <p:grpSp>
        <p:nvGrpSpPr>
          <p:cNvPr id="5" name="Group 5"/>
          <p:cNvGrpSpPr/>
          <p:nvPr/>
        </p:nvGrpSpPr>
        <p:grpSpPr>
          <a:xfrm>
            <a:off x="0" y="9820130"/>
            <a:ext cx="18288000" cy="466870"/>
            <a:chOff x="0" y="0"/>
            <a:chExt cx="4816593" cy="122962"/>
          </a:xfrm>
        </p:grpSpPr>
        <p:sp>
          <p:nvSpPr>
            <p:cNvPr id="6" name="Freeform 6"/>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7" name="TextBox 7"/>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7457" y="0"/>
            <a:ext cx="18802914" cy="1028700"/>
            <a:chOff x="0" y="0"/>
            <a:chExt cx="4952208" cy="270933"/>
          </a:xfrm>
        </p:grpSpPr>
        <p:sp>
          <p:nvSpPr>
            <p:cNvPr id="9" name="Freeform 9"/>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10" name="TextBox 10"/>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4347637" y="4440072"/>
            <a:ext cx="2525045" cy="2525045"/>
          </a:xfrm>
          <a:custGeom>
            <a:avLst/>
            <a:gdLst/>
            <a:ahLst/>
            <a:cxnLst/>
            <a:rect l="l" t="t" r="r" b="b"/>
            <a:pathLst>
              <a:path w="2525045" h="2525045">
                <a:moveTo>
                  <a:pt x="0" y="0"/>
                </a:moveTo>
                <a:lnTo>
                  <a:pt x="2525045" y="0"/>
                </a:lnTo>
                <a:lnTo>
                  <a:pt x="2525045" y="2525045"/>
                </a:lnTo>
                <a:lnTo>
                  <a:pt x="0" y="2525045"/>
                </a:lnTo>
                <a:lnTo>
                  <a:pt x="0" y="0"/>
                </a:lnTo>
                <a:close/>
              </a:path>
            </a:pathLst>
          </a:custGeom>
          <a:blipFill>
            <a:blip r:embed="rId5"/>
            <a:stretch>
              <a:fillRect/>
            </a:stretch>
          </a:blipFill>
        </p:spPr>
      </p:sp>
      <p:sp>
        <p:nvSpPr>
          <p:cNvPr id="12" name="TextBox 1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id="13" name="TextBox 13"/>
          <p:cNvSpPr txBox="1"/>
          <p:nvPr/>
        </p:nvSpPr>
        <p:spPr>
          <a:xfrm>
            <a:off x="915152" y="2894889"/>
            <a:ext cx="2811792" cy="834318"/>
          </a:xfrm>
          <a:prstGeom prst="rect">
            <a:avLst/>
          </a:prstGeom>
        </p:spPr>
        <p:txBody>
          <a:bodyPr lIns="0" tIns="0" rIns="0" bIns="0" rtlCol="0" anchor="t">
            <a:spAutoFit/>
          </a:bodyPr>
          <a:lstStyle/>
          <a:p>
            <a:pPr algn="ctr">
              <a:lnSpc>
                <a:spcPts val="3363"/>
              </a:lnSpc>
            </a:pPr>
            <a:r>
              <a:rPr lang="en-US" sz="2402">
                <a:solidFill>
                  <a:srgbClr val="000000"/>
                </a:solidFill>
                <a:latin typeface="Roboto"/>
                <a:ea typeface="Roboto"/>
                <a:cs typeface="Roboto"/>
                <a:sym typeface="Roboto"/>
              </a:rPr>
              <a:t>Kedi-Köpek Sınıflandırması</a:t>
            </a:r>
          </a:p>
        </p:txBody>
      </p:sp>
      <p:sp>
        <p:nvSpPr>
          <p:cNvPr id="14" name="TextBox 14"/>
          <p:cNvSpPr txBox="1"/>
          <p:nvPr/>
        </p:nvSpPr>
        <p:spPr>
          <a:xfrm>
            <a:off x="5459251" y="3104439"/>
            <a:ext cx="3085787" cy="415218"/>
          </a:xfrm>
          <a:prstGeom prst="rect">
            <a:avLst/>
          </a:prstGeom>
        </p:spPr>
        <p:txBody>
          <a:bodyPr lIns="0" tIns="0" rIns="0" bIns="0" rtlCol="0" anchor="t">
            <a:spAutoFit/>
          </a:bodyPr>
          <a:lstStyle/>
          <a:p>
            <a:pPr algn="ctr">
              <a:lnSpc>
                <a:spcPts val="3363"/>
              </a:lnSpc>
            </a:pPr>
            <a:r>
              <a:rPr lang="en-US" sz="2402">
                <a:solidFill>
                  <a:srgbClr val="000000"/>
                </a:solidFill>
                <a:latin typeface="Roboto"/>
                <a:ea typeface="Roboto"/>
                <a:cs typeface="Roboto"/>
                <a:sym typeface="Roboto"/>
              </a:rPr>
              <a:t>Transfer Öğrenme</a:t>
            </a:r>
          </a:p>
        </p:txBody>
      </p:sp>
      <p:sp>
        <p:nvSpPr>
          <p:cNvPr id="15" name="TextBox 15"/>
          <p:cNvSpPr txBox="1"/>
          <p:nvPr/>
        </p:nvSpPr>
        <p:spPr>
          <a:xfrm>
            <a:off x="9921152" y="3104439"/>
            <a:ext cx="2344225" cy="415218"/>
          </a:xfrm>
          <a:prstGeom prst="rect">
            <a:avLst/>
          </a:prstGeom>
        </p:spPr>
        <p:txBody>
          <a:bodyPr lIns="0" tIns="0" rIns="0" bIns="0" rtlCol="0" anchor="t">
            <a:spAutoFit/>
          </a:bodyPr>
          <a:lstStyle/>
          <a:p>
            <a:pPr algn="ctr">
              <a:lnSpc>
                <a:spcPts val="3363"/>
              </a:lnSpc>
            </a:pPr>
            <a:r>
              <a:rPr lang="en-US" sz="2402">
                <a:solidFill>
                  <a:srgbClr val="000000"/>
                </a:solidFill>
                <a:latin typeface="Roboto"/>
                <a:ea typeface="Roboto"/>
                <a:cs typeface="Roboto"/>
                <a:sym typeface="Roboto"/>
              </a:rPr>
              <a:t>Bilgi Damıtma</a:t>
            </a:r>
          </a:p>
        </p:txBody>
      </p:sp>
      <p:sp>
        <p:nvSpPr>
          <p:cNvPr id="16" name="TextBox 16"/>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7" name="TextBox 17"/>
          <p:cNvSpPr txBox="1"/>
          <p:nvPr/>
        </p:nvSpPr>
        <p:spPr>
          <a:xfrm>
            <a:off x="1069316" y="144780"/>
            <a:ext cx="7817227"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METODOLOJİ VE YÖNTEM</a:t>
            </a:r>
          </a:p>
        </p:txBody>
      </p:sp>
      <p:sp>
        <p:nvSpPr>
          <p:cNvPr id="18" name="TextBox 18"/>
          <p:cNvSpPr txBox="1"/>
          <p:nvPr/>
        </p:nvSpPr>
        <p:spPr>
          <a:xfrm>
            <a:off x="13384801" y="2894889"/>
            <a:ext cx="4037733" cy="834318"/>
          </a:xfrm>
          <a:prstGeom prst="rect">
            <a:avLst/>
          </a:prstGeom>
        </p:spPr>
        <p:txBody>
          <a:bodyPr lIns="0" tIns="0" rIns="0" bIns="0" rtlCol="0" anchor="t">
            <a:spAutoFit/>
          </a:bodyPr>
          <a:lstStyle/>
          <a:p>
            <a:pPr algn="ctr">
              <a:lnSpc>
                <a:spcPts val="3363"/>
              </a:lnSpc>
            </a:pPr>
            <a:r>
              <a:rPr lang="en-US" sz="2402">
                <a:solidFill>
                  <a:srgbClr val="000000"/>
                </a:solidFill>
                <a:latin typeface="Roboto"/>
                <a:ea typeface="Roboto"/>
                <a:cs typeface="Roboto"/>
                <a:sym typeface="Roboto"/>
              </a:rPr>
              <a:t>Yöntemlerin Performans Karşılaştırması</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2281841" y="5674333"/>
            <a:ext cx="3480948" cy="2329933"/>
          </a:xfrm>
          <a:custGeom>
            <a:avLst/>
            <a:gdLst/>
            <a:ahLst/>
            <a:cxnLst/>
            <a:rect l="l" t="t" r="r" b="b"/>
            <a:pathLst>
              <a:path w="3480948" h="2329933">
                <a:moveTo>
                  <a:pt x="0" y="0"/>
                </a:moveTo>
                <a:lnTo>
                  <a:pt x="3480948" y="0"/>
                </a:lnTo>
                <a:lnTo>
                  <a:pt x="3480948" y="2329933"/>
                </a:lnTo>
                <a:lnTo>
                  <a:pt x="0" y="2329933"/>
                </a:lnTo>
                <a:lnTo>
                  <a:pt x="0" y="0"/>
                </a:lnTo>
                <a:close/>
              </a:path>
            </a:pathLst>
          </a:custGeom>
          <a:blipFill>
            <a:blip r:embed="rId2"/>
            <a:stretch>
              <a:fillRect/>
            </a:stretch>
          </a:blipFill>
        </p:spPr>
      </p:sp>
      <p:sp>
        <p:nvSpPr>
          <p:cNvPr id="9" name="Freeform 9"/>
          <p:cNvSpPr/>
          <p:nvPr/>
        </p:nvSpPr>
        <p:spPr>
          <a:xfrm>
            <a:off x="10231610" y="2600669"/>
            <a:ext cx="1816499" cy="2952550"/>
          </a:xfrm>
          <a:custGeom>
            <a:avLst/>
            <a:gdLst/>
            <a:ahLst/>
            <a:cxnLst/>
            <a:rect l="l" t="t" r="r" b="b"/>
            <a:pathLst>
              <a:path w="1816499" h="2952550">
                <a:moveTo>
                  <a:pt x="0" y="0"/>
                </a:moveTo>
                <a:lnTo>
                  <a:pt x="1816498" y="0"/>
                </a:lnTo>
                <a:lnTo>
                  <a:pt x="1816498" y="2952550"/>
                </a:lnTo>
                <a:lnTo>
                  <a:pt x="0" y="2952550"/>
                </a:lnTo>
                <a:lnTo>
                  <a:pt x="0" y="0"/>
                </a:lnTo>
                <a:close/>
              </a:path>
            </a:pathLst>
          </a:custGeom>
          <a:blipFill>
            <a:blip r:embed="rId3"/>
            <a:stretch>
              <a:fillRect/>
            </a:stretch>
          </a:blipFill>
        </p:spPr>
      </p:sp>
      <p:sp>
        <p:nvSpPr>
          <p:cNvPr id="10" name="Freeform 10"/>
          <p:cNvSpPr/>
          <p:nvPr/>
        </p:nvSpPr>
        <p:spPr>
          <a:xfrm>
            <a:off x="13907964" y="1455515"/>
            <a:ext cx="3165977" cy="2621429"/>
          </a:xfrm>
          <a:custGeom>
            <a:avLst/>
            <a:gdLst/>
            <a:ahLst/>
            <a:cxnLst/>
            <a:rect l="l" t="t" r="r" b="b"/>
            <a:pathLst>
              <a:path w="3165977" h="2621429">
                <a:moveTo>
                  <a:pt x="0" y="0"/>
                </a:moveTo>
                <a:lnTo>
                  <a:pt x="3165977" y="0"/>
                </a:lnTo>
                <a:lnTo>
                  <a:pt x="3165977" y="2621429"/>
                </a:lnTo>
                <a:lnTo>
                  <a:pt x="0" y="2621429"/>
                </a:lnTo>
                <a:lnTo>
                  <a:pt x="0" y="0"/>
                </a:lnTo>
                <a:close/>
              </a:path>
            </a:pathLst>
          </a:custGeom>
          <a:blipFill>
            <a:blip r:embed="rId4"/>
            <a:stretch>
              <a:fillRect/>
            </a:stretch>
          </a:blipFill>
        </p:spPr>
      </p:sp>
      <p:sp>
        <p:nvSpPr>
          <p:cNvPr id="11" name="Freeform 11"/>
          <p:cNvSpPr/>
          <p:nvPr/>
        </p:nvSpPr>
        <p:spPr>
          <a:xfrm>
            <a:off x="7995269" y="6839300"/>
            <a:ext cx="2699833" cy="2569813"/>
          </a:xfrm>
          <a:custGeom>
            <a:avLst/>
            <a:gdLst/>
            <a:ahLst/>
            <a:cxnLst/>
            <a:rect l="l" t="t" r="r" b="b"/>
            <a:pathLst>
              <a:path w="2699833" h="2569813">
                <a:moveTo>
                  <a:pt x="0" y="0"/>
                </a:moveTo>
                <a:lnTo>
                  <a:pt x="2699833" y="0"/>
                </a:lnTo>
                <a:lnTo>
                  <a:pt x="2699833" y="2569812"/>
                </a:lnTo>
                <a:lnTo>
                  <a:pt x="0" y="2569812"/>
                </a:lnTo>
                <a:lnTo>
                  <a:pt x="0" y="0"/>
                </a:lnTo>
                <a:close/>
              </a:path>
            </a:pathLst>
          </a:custGeom>
          <a:blipFill>
            <a:blip r:embed="rId5"/>
            <a:stretch>
              <a:fillRect/>
            </a:stretch>
          </a:blipFill>
        </p:spPr>
      </p:sp>
      <p:sp>
        <p:nvSpPr>
          <p:cNvPr id="12" name="Freeform 12"/>
          <p:cNvSpPr/>
          <p:nvPr/>
        </p:nvSpPr>
        <p:spPr>
          <a:xfrm>
            <a:off x="13190430" y="5178289"/>
            <a:ext cx="2934995" cy="3540495"/>
          </a:xfrm>
          <a:custGeom>
            <a:avLst/>
            <a:gdLst/>
            <a:ahLst/>
            <a:cxnLst/>
            <a:rect l="l" t="t" r="r" b="b"/>
            <a:pathLst>
              <a:path w="2934995" h="3540495">
                <a:moveTo>
                  <a:pt x="0" y="0"/>
                </a:moveTo>
                <a:lnTo>
                  <a:pt x="2934995" y="0"/>
                </a:lnTo>
                <a:lnTo>
                  <a:pt x="2934995" y="3540496"/>
                </a:lnTo>
                <a:lnTo>
                  <a:pt x="0" y="3540496"/>
                </a:lnTo>
                <a:lnTo>
                  <a:pt x="0" y="0"/>
                </a:lnTo>
                <a:close/>
              </a:path>
            </a:pathLst>
          </a:custGeom>
          <a:blipFill>
            <a:blip r:embed="rId6"/>
            <a:stretch>
              <a:fillRect/>
            </a:stretch>
          </a:blipFill>
        </p:spPr>
      </p:sp>
      <p:sp>
        <p:nvSpPr>
          <p:cNvPr id="13" name="TextBox 1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
        <p:nvSpPr>
          <p:cNvPr id="14" name="TextBox 14"/>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5" name="TextBox 15"/>
          <p:cNvSpPr txBox="1"/>
          <p:nvPr/>
        </p:nvSpPr>
        <p:spPr>
          <a:xfrm>
            <a:off x="1069316" y="144780"/>
            <a:ext cx="16478830"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KEDİ KÖPEK SINIFLANDIRMASI - Veri Seti</a:t>
            </a:r>
          </a:p>
        </p:txBody>
      </p:sp>
      <p:sp>
        <p:nvSpPr>
          <p:cNvPr id="16" name="TextBox 16"/>
          <p:cNvSpPr txBox="1"/>
          <p:nvPr/>
        </p:nvSpPr>
        <p:spPr>
          <a:xfrm>
            <a:off x="660460" y="2329884"/>
            <a:ext cx="7976874" cy="2929890"/>
          </a:xfrm>
          <a:prstGeom prst="rect">
            <a:avLst/>
          </a:prstGeom>
        </p:spPr>
        <p:txBody>
          <a:bodyPr lIns="0" tIns="0" rIns="0" bIns="0" rtlCol="0" anchor="t">
            <a:spAutoFit/>
          </a:bodyPr>
          <a:lstStyle/>
          <a:p>
            <a:pPr marL="518157" lvl="1" indent="-259078" algn="l">
              <a:lnSpc>
                <a:spcPts val="3359"/>
              </a:lnSpc>
              <a:buFont typeface="Arial"/>
              <a:buChar char="•"/>
            </a:pPr>
            <a:r>
              <a:rPr lang="en-US" sz="2399">
                <a:solidFill>
                  <a:srgbClr val="000000"/>
                </a:solidFill>
                <a:latin typeface="Roboto"/>
                <a:ea typeface="Roboto"/>
                <a:cs typeface="Roboto"/>
                <a:sym typeface="Roboto"/>
              </a:rPr>
              <a:t>Yapılan çalışmada kedi-köpek veri seti kullanılmıştır.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Her bir sınıf için training sette 4000, test sette ise 1000 resim bulunur.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Görüntü boyutları resim resim farklılık gösterir. </a:t>
            </a:r>
          </a:p>
          <a:p>
            <a:pPr algn="l">
              <a:lnSpc>
                <a:spcPts val="3359"/>
              </a:lnSpc>
            </a:pPr>
            <a:endParaRPr lang="en-US" sz="2399">
              <a:solidFill>
                <a:srgbClr val="00000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689518" y="2170860"/>
            <a:ext cx="8088817" cy="5945281"/>
          </a:xfrm>
          <a:custGeom>
            <a:avLst/>
            <a:gdLst/>
            <a:ahLst/>
            <a:cxnLst/>
            <a:rect l="l" t="t" r="r" b="b"/>
            <a:pathLst>
              <a:path w="8088817" h="5945281">
                <a:moveTo>
                  <a:pt x="0" y="0"/>
                </a:moveTo>
                <a:lnTo>
                  <a:pt x="8088817" y="0"/>
                </a:lnTo>
                <a:lnTo>
                  <a:pt x="8088817" y="5945280"/>
                </a:lnTo>
                <a:lnTo>
                  <a:pt x="0" y="5945280"/>
                </a:lnTo>
                <a:lnTo>
                  <a:pt x="0" y="0"/>
                </a:lnTo>
                <a:close/>
              </a:path>
            </a:pathLst>
          </a:custGeom>
          <a:blipFill>
            <a:blip r:embed="rId2"/>
            <a:stretch>
              <a:fillRect/>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TextBox 11"/>
          <p:cNvSpPr txBox="1"/>
          <p:nvPr/>
        </p:nvSpPr>
        <p:spPr>
          <a:xfrm>
            <a:off x="1069316" y="144780"/>
            <a:ext cx="13082635"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KEDİ KÖPEK SINIFLANDIRMASI - HIPERPARAMETRELER</a:t>
            </a:r>
          </a:p>
        </p:txBody>
      </p:sp>
      <p:sp>
        <p:nvSpPr>
          <p:cNvPr id="12" name="TextBox 12"/>
          <p:cNvSpPr txBox="1"/>
          <p:nvPr/>
        </p:nvSpPr>
        <p:spPr>
          <a:xfrm>
            <a:off x="10735718" y="3448266"/>
            <a:ext cx="4596871"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Yığın boyutu:</a:t>
            </a:r>
            <a:r>
              <a:rPr lang="en-US" sz="2400">
                <a:solidFill>
                  <a:srgbClr val="000000"/>
                </a:solidFill>
                <a:latin typeface="Roboto"/>
                <a:ea typeface="Roboto"/>
                <a:cs typeface="Roboto"/>
                <a:sym typeface="Roboto"/>
              </a:rPr>
              <a:t> 32</a:t>
            </a:r>
          </a:p>
        </p:txBody>
      </p:sp>
      <p:sp>
        <p:nvSpPr>
          <p:cNvPr id="13" name="TextBox 13"/>
          <p:cNvSpPr txBox="1"/>
          <p:nvPr/>
        </p:nvSpPr>
        <p:spPr>
          <a:xfrm>
            <a:off x="10695102" y="4242651"/>
            <a:ext cx="5301972"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Kayıp fonksiyonu: </a:t>
            </a:r>
            <a:r>
              <a:rPr lang="en-US" sz="2400">
                <a:solidFill>
                  <a:srgbClr val="000000"/>
                </a:solidFill>
                <a:latin typeface="Roboto"/>
                <a:ea typeface="Roboto"/>
                <a:cs typeface="Roboto"/>
                <a:sym typeface="Roboto"/>
              </a:rPr>
              <a:t>Çapraz Entropi kaybı</a:t>
            </a:r>
          </a:p>
        </p:txBody>
      </p:sp>
      <p:sp>
        <p:nvSpPr>
          <p:cNvPr id="14" name="TextBox 14"/>
          <p:cNvSpPr txBox="1"/>
          <p:nvPr/>
        </p:nvSpPr>
        <p:spPr>
          <a:xfrm>
            <a:off x="10695102" y="5038941"/>
            <a:ext cx="5301972"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Optimize edici: </a:t>
            </a:r>
            <a:r>
              <a:rPr lang="en-US" sz="2400">
                <a:solidFill>
                  <a:srgbClr val="000000"/>
                </a:solidFill>
                <a:latin typeface="Roboto"/>
                <a:ea typeface="Roboto"/>
                <a:cs typeface="Roboto"/>
                <a:sym typeface="Roboto"/>
              </a:rPr>
              <a:t>Adam</a:t>
            </a:r>
          </a:p>
        </p:txBody>
      </p:sp>
      <p:sp>
        <p:nvSpPr>
          <p:cNvPr id="15" name="TextBox 15"/>
          <p:cNvSpPr txBox="1"/>
          <p:nvPr/>
        </p:nvSpPr>
        <p:spPr>
          <a:xfrm>
            <a:off x="10695102" y="6631521"/>
            <a:ext cx="4162903"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Epoch sayısı: </a:t>
            </a:r>
            <a:r>
              <a:rPr lang="en-US" sz="2400">
                <a:solidFill>
                  <a:srgbClr val="000000"/>
                </a:solidFill>
                <a:latin typeface="Roboto"/>
                <a:ea typeface="Roboto"/>
                <a:cs typeface="Roboto"/>
                <a:sym typeface="Roboto"/>
              </a:rPr>
              <a:t>25, 100</a:t>
            </a:r>
          </a:p>
        </p:txBody>
      </p:sp>
      <p:sp>
        <p:nvSpPr>
          <p:cNvPr id="16" name="TextBox 16"/>
          <p:cNvSpPr txBox="1"/>
          <p:nvPr/>
        </p:nvSpPr>
        <p:spPr>
          <a:xfrm>
            <a:off x="10695102" y="5835231"/>
            <a:ext cx="5301972"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Öğrenme oranı:</a:t>
            </a:r>
            <a:r>
              <a:rPr lang="en-US" sz="2400">
                <a:solidFill>
                  <a:srgbClr val="000000"/>
                </a:solidFill>
                <a:latin typeface="Roboto"/>
                <a:ea typeface="Roboto"/>
                <a:cs typeface="Roboto"/>
                <a:sym typeface="Roboto"/>
              </a:rPr>
              <a:t> 0.001</a:t>
            </a:r>
          </a:p>
        </p:txBody>
      </p:sp>
      <p:sp>
        <p:nvSpPr>
          <p:cNvPr id="17" name="TextBox 17"/>
          <p:cNvSpPr txBox="1"/>
          <p:nvPr/>
        </p:nvSpPr>
        <p:spPr>
          <a:xfrm>
            <a:off x="10695102" y="2516950"/>
            <a:ext cx="5301972"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Görüntü boyutlandırma:</a:t>
            </a:r>
            <a:r>
              <a:rPr lang="en-US" sz="2400">
                <a:solidFill>
                  <a:srgbClr val="000000"/>
                </a:solidFill>
                <a:latin typeface="Roboto"/>
                <a:ea typeface="Roboto"/>
                <a:cs typeface="Roboto"/>
                <a:sym typeface="Roboto"/>
              </a:rPr>
              <a:t> (224, 224)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35839" y="1929969"/>
            <a:ext cx="13778222" cy="6988891"/>
          </a:xfrm>
          <a:custGeom>
            <a:avLst/>
            <a:gdLst/>
            <a:ahLst/>
            <a:cxnLst/>
            <a:rect l="l" t="t" r="r" b="b"/>
            <a:pathLst>
              <a:path w="13778222" h="6988891">
                <a:moveTo>
                  <a:pt x="0" y="0"/>
                </a:moveTo>
                <a:lnTo>
                  <a:pt x="13778222" y="0"/>
                </a:lnTo>
                <a:lnTo>
                  <a:pt x="13778222" y="6988891"/>
                </a:lnTo>
                <a:lnTo>
                  <a:pt x="0" y="6988891"/>
                </a:lnTo>
                <a:lnTo>
                  <a:pt x="0" y="0"/>
                </a:lnTo>
                <a:close/>
              </a:path>
            </a:pathLst>
          </a:custGeom>
          <a:blipFill>
            <a:blip r:embed="rId2"/>
            <a:stretch>
              <a:fillRect t="-3993"/>
            </a:stretch>
          </a:blipFill>
        </p:spPr>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grpSp>
        <p:nvGrpSpPr>
          <p:cNvPr id="4" name="Group 4"/>
          <p:cNvGrpSpPr/>
          <p:nvPr/>
        </p:nvGrpSpPr>
        <p:grpSpPr>
          <a:xfrm>
            <a:off x="0" y="9820130"/>
            <a:ext cx="18288000" cy="466870"/>
            <a:chOff x="0" y="0"/>
            <a:chExt cx="4816593" cy="122962"/>
          </a:xfrm>
        </p:grpSpPr>
        <p:sp>
          <p:nvSpPr>
            <p:cNvPr id="5" name="Freeform 5"/>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6" name="TextBox 6"/>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8" name="Group 8"/>
          <p:cNvGrpSpPr/>
          <p:nvPr/>
        </p:nvGrpSpPr>
        <p:grpSpPr>
          <a:xfrm>
            <a:off x="-257457" y="0"/>
            <a:ext cx="18802914" cy="1028700"/>
            <a:chOff x="0" y="0"/>
            <a:chExt cx="4952208" cy="270933"/>
          </a:xfrm>
        </p:grpSpPr>
        <p:sp>
          <p:nvSpPr>
            <p:cNvPr id="9" name="Freeform 9"/>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10" name="TextBox 10"/>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69316" y="144780"/>
            <a:ext cx="12722847"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KEDİ KÖPEK SINIFLANDIRMASI - Deneysel Çalışma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698169" y="4007791"/>
            <a:ext cx="6910533" cy="3576201"/>
          </a:xfrm>
          <a:custGeom>
            <a:avLst/>
            <a:gdLst/>
            <a:ahLst/>
            <a:cxnLst/>
            <a:rect l="l" t="t" r="r" b="b"/>
            <a:pathLst>
              <a:path w="6910533" h="3576201">
                <a:moveTo>
                  <a:pt x="0" y="0"/>
                </a:moveTo>
                <a:lnTo>
                  <a:pt x="6910533" y="0"/>
                </a:lnTo>
                <a:lnTo>
                  <a:pt x="6910533" y="3576201"/>
                </a:lnTo>
                <a:lnTo>
                  <a:pt x="0" y="3576201"/>
                </a:lnTo>
                <a:lnTo>
                  <a:pt x="0" y="0"/>
                </a:lnTo>
                <a:close/>
              </a:path>
            </a:pathLst>
          </a:custGeom>
          <a:blipFill>
            <a:blip r:embed="rId2"/>
            <a:stretch>
              <a:fillRect/>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TextBox 11"/>
          <p:cNvSpPr txBox="1"/>
          <p:nvPr/>
        </p:nvSpPr>
        <p:spPr>
          <a:xfrm>
            <a:off x="1069316" y="144780"/>
            <a:ext cx="1245586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KEDİ KÖPEK SINIFLANDIRMASI - Deneysel Çalışma</a:t>
            </a:r>
          </a:p>
        </p:txBody>
      </p:sp>
      <p:sp>
        <p:nvSpPr>
          <p:cNvPr id="12" name="TextBox 12"/>
          <p:cNvSpPr txBox="1"/>
          <p:nvPr/>
        </p:nvSpPr>
        <p:spPr>
          <a:xfrm>
            <a:off x="1959121" y="2143954"/>
            <a:ext cx="6388628" cy="83439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Roboto"/>
                <a:ea typeface="Roboto"/>
                <a:cs typeface="Roboto"/>
                <a:sym typeface="Roboto"/>
              </a:rPr>
              <a:t>Epoch: 25 | train_loss: 0.2405 | train_acc: 0.8996 | test_loss: 0.3035 | test_acc: 0.8813</a:t>
            </a:r>
          </a:p>
        </p:txBody>
      </p:sp>
      <p:sp>
        <p:nvSpPr>
          <p:cNvPr id="13" name="TextBox 13"/>
          <p:cNvSpPr txBox="1"/>
          <p:nvPr/>
        </p:nvSpPr>
        <p:spPr>
          <a:xfrm>
            <a:off x="13322280" y="8156718"/>
            <a:ext cx="3267551" cy="415290"/>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Roboto"/>
                <a:ea typeface="Roboto"/>
                <a:cs typeface="Roboto"/>
                <a:sym typeface="Roboto"/>
              </a:rPr>
              <a:t>Total params: 1,753,602</a:t>
            </a:r>
          </a:p>
        </p:txBody>
      </p:sp>
      <p:sp>
        <p:nvSpPr>
          <p:cNvPr id="14" name="Freeform 14"/>
          <p:cNvSpPr/>
          <p:nvPr/>
        </p:nvSpPr>
        <p:spPr>
          <a:xfrm>
            <a:off x="9508245" y="4007791"/>
            <a:ext cx="7081586" cy="3576201"/>
          </a:xfrm>
          <a:custGeom>
            <a:avLst/>
            <a:gdLst/>
            <a:ahLst/>
            <a:cxnLst/>
            <a:rect l="l" t="t" r="r" b="b"/>
            <a:pathLst>
              <a:path w="7081586" h="3576201">
                <a:moveTo>
                  <a:pt x="0" y="0"/>
                </a:moveTo>
                <a:lnTo>
                  <a:pt x="7081586" y="0"/>
                </a:lnTo>
                <a:lnTo>
                  <a:pt x="7081586" y="3576201"/>
                </a:lnTo>
                <a:lnTo>
                  <a:pt x="0" y="3576201"/>
                </a:lnTo>
                <a:lnTo>
                  <a:pt x="0" y="0"/>
                </a:lnTo>
                <a:close/>
              </a:path>
            </a:pathLst>
          </a:custGeom>
          <a:blipFill>
            <a:blip r:embed="rId3"/>
            <a:stretch>
              <a:fillRect/>
            </a:stretch>
          </a:blipFill>
        </p:spPr>
      </p:sp>
      <p:sp>
        <p:nvSpPr>
          <p:cNvPr id="15" name="TextBox 15"/>
          <p:cNvSpPr txBox="1"/>
          <p:nvPr/>
        </p:nvSpPr>
        <p:spPr>
          <a:xfrm>
            <a:off x="9770051" y="1755334"/>
            <a:ext cx="6557976" cy="834390"/>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Roboto"/>
                <a:ea typeface="Roboto"/>
                <a:cs typeface="Roboto"/>
                <a:sym typeface="Roboto"/>
              </a:rPr>
              <a:t>Epoch: 64 | train_loss: 0.0559 | train_acc: 0.9791 | test_loss: 0.2887 | test_acc: 0.9265</a:t>
            </a:r>
          </a:p>
        </p:txBody>
      </p:sp>
      <p:sp>
        <p:nvSpPr>
          <p:cNvPr id="16" name="TextBox 16"/>
          <p:cNvSpPr txBox="1"/>
          <p:nvPr/>
        </p:nvSpPr>
        <p:spPr>
          <a:xfrm>
            <a:off x="9770051" y="2831577"/>
            <a:ext cx="6557976" cy="834390"/>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Roboto"/>
                <a:ea typeface="Roboto"/>
                <a:cs typeface="Roboto"/>
                <a:sym typeface="Roboto"/>
              </a:rPr>
              <a:t>Epoch: 100 | train_loss: 0.0466 | train_acc: 0.9847 | test_loss: 0.4205 | test_acc: 0.9177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593703" y="1501221"/>
            <a:ext cx="14585679" cy="7757079"/>
          </a:xfrm>
          <a:custGeom>
            <a:avLst/>
            <a:gdLst/>
            <a:ahLst/>
            <a:cxnLst/>
            <a:rect l="l" t="t" r="r" b="b"/>
            <a:pathLst>
              <a:path w="14585679" h="7757079">
                <a:moveTo>
                  <a:pt x="0" y="0"/>
                </a:moveTo>
                <a:lnTo>
                  <a:pt x="14585679" y="0"/>
                </a:lnTo>
                <a:lnTo>
                  <a:pt x="14585679" y="7757079"/>
                </a:lnTo>
                <a:lnTo>
                  <a:pt x="0" y="7757079"/>
                </a:lnTo>
                <a:lnTo>
                  <a:pt x="0" y="0"/>
                </a:lnTo>
                <a:close/>
              </a:path>
            </a:pathLst>
          </a:custGeom>
          <a:blipFill>
            <a:blip r:embed="rId2"/>
            <a:stretch>
              <a:fillRect l="-4237" t="-9924" b="-4980"/>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TextBox 11"/>
          <p:cNvSpPr txBox="1"/>
          <p:nvPr/>
        </p:nvSpPr>
        <p:spPr>
          <a:xfrm>
            <a:off x="1069316" y="144780"/>
            <a:ext cx="13990037"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2281841" y="5674333"/>
            <a:ext cx="3480948" cy="2329933"/>
          </a:xfrm>
          <a:custGeom>
            <a:avLst/>
            <a:gdLst/>
            <a:ahLst/>
            <a:cxnLst/>
            <a:rect l="l" t="t" r="r" b="b"/>
            <a:pathLst>
              <a:path w="3480948" h="2329933">
                <a:moveTo>
                  <a:pt x="0" y="0"/>
                </a:moveTo>
                <a:lnTo>
                  <a:pt x="3480948" y="0"/>
                </a:lnTo>
                <a:lnTo>
                  <a:pt x="3480948" y="2329933"/>
                </a:lnTo>
                <a:lnTo>
                  <a:pt x="0" y="2329933"/>
                </a:lnTo>
                <a:lnTo>
                  <a:pt x="0" y="0"/>
                </a:lnTo>
                <a:close/>
              </a:path>
            </a:pathLst>
          </a:custGeom>
          <a:blipFill>
            <a:blip r:embed="rId2"/>
            <a:stretch>
              <a:fillRect/>
            </a:stretch>
          </a:blipFill>
        </p:spPr>
      </p:sp>
      <p:sp>
        <p:nvSpPr>
          <p:cNvPr id="9" name="Freeform 9"/>
          <p:cNvSpPr/>
          <p:nvPr/>
        </p:nvSpPr>
        <p:spPr>
          <a:xfrm>
            <a:off x="10231610" y="2600669"/>
            <a:ext cx="1816499" cy="2952550"/>
          </a:xfrm>
          <a:custGeom>
            <a:avLst/>
            <a:gdLst/>
            <a:ahLst/>
            <a:cxnLst/>
            <a:rect l="l" t="t" r="r" b="b"/>
            <a:pathLst>
              <a:path w="1816499" h="2952550">
                <a:moveTo>
                  <a:pt x="0" y="0"/>
                </a:moveTo>
                <a:lnTo>
                  <a:pt x="1816498" y="0"/>
                </a:lnTo>
                <a:lnTo>
                  <a:pt x="1816498" y="2952550"/>
                </a:lnTo>
                <a:lnTo>
                  <a:pt x="0" y="2952550"/>
                </a:lnTo>
                <a:lnTo>
                  <a:pt x="0" y="0"/>
                </a:lnTo>
                <a:close/>
              </a:path>
            </a:pathLst>
          </a:custGeom>
          <a:blipFill>
            <a:blip r:embed="rId3"/>
            <a:stretch>
              <a:fillRect/>
            </a:stretch>
          </a:blipFill>
        </p:spPr>
      </p:sp>
      <p:sp>
        <p:nvSpPr>
          <p:cNvPr id="10" name="Freeform 10"/>
          <p:cNvSpPr/>
          <p:nvPr/>
        </p:nvSpPr>
        <p:spPr>
          <a:xfrm>
            <a:off x="13907964" y="1455515"/>
            <a:ext cx="3165977" cy="2621429"/>
          </a:xfrm>
          <a:custGeom>
            <a:avLst/>
            <a:gdLst/>
            <a:ahLst/>
            <a:cxnLst/>
            <a:rect l="l" t="t" r="r" b="b"/>
            <a:pathLst>
              <a:path w="3165977" h="2621429">
                <a:moveTo>
                  <a:pt x="0" y="0"/>
                </a:moveTo>
                <a:lnTo>
                  <a:pt x="3165977" y="0"/>
                </a:lnTo>
                <a:lnTo>
                  <a:pt x="3165977" y="2621429"/>
                </a:lnTo>
                <a:lnTo>
                  <a:pt x="0" y="2621429"/>
                </a:lnTo>
                <a:lnTo>
                  <a:pt x="0" y="0"/>
                </a:lnTo>
                <a:close/>
              </a:path>
            </a:pathLst>
          </a:custGeom>
          <a:blipFill>
            <a:blip r:embed="rId4"/>
            <a:stretch>
              <a:fillRect/>
            </a:stretch>
          </a:blipFill>
        </p:spPr>
      </p:sp>
      <p:sp>
        <p:nvSpPr>
          <p:cNvPr id="11" name="Freeform 11"/>
          <p:cNvSpPr/>
          <p:nvPr/>
        </p:nvSpPr>
        <p:spPr>
          <a:xfrm>
            <a:off x="7995269" y="6839300"/>
            <a:ext cx="2699833" cy="2569813"/>
          </a:xfrm>
          <a:custGeom>
            <a:avLst/>
            <a:gdLst/>
            <a:ahLst/>
            <a:cxnLst/>
            <a:rect l="l" t="t" r="r" b="b"/>
            <a:pathLst>
              <a:path w="2699833" h="2569813">
                <a:moveTo>
                  <a:pt x="0" y="0"/>
                </a:moveTo>
                <a:lnTo>
                  <a:pt x="2699833" y="0"/>
                </a:lnTo>
                <a:lnTo>
                  <a:pt x="2699833" y="2569812"/>
                </a:lnTo>
                <a:lnTo>
                  <a:pt x="0" y="2569812"/>
                </a:lnTo>
                <a:lnTo>
                  <a:pt x="0" y="0"/>
                </a:lnTo>
                <a:close/>
              </a:path>
            </a:pathLst>
          </a:custGeom>
          <a:blipFill>
            <a:blip r:embed="rId5"/>
            <a:stretch>
              <a:fillRect/>
            </a:stretch>
          </a:blipFill>
        </p:spPr>
      </p:sp>
      <p:sp>
        <p:nvSpPr>
          <p:cNvPr id="12" name="Freeform 12"/>
          <p:cNvSpPr/>
          <p:nvPr/>
        </p:nvSpPr>
        <p:spPr>
          <a:xfrm>
            <a:off x="13190430" y="5178289"/>
            <a:ext cx="2934995" cy="3540495"/>
          </a:xfrm>
          <a:custGeom>
            <a:avLst/>
            <a:gdLst/>
            <a:ahLst/>
            <a:cxnLst/>
            <a:rect l="l" t="t" r="r" b="b"/>
            <a:pathLst>
              <a:path w="2934995" h="3540495">
                <a:moveTo>
                  <a:pt x="0" y="0"/>
                </a:moveTo>
                <a:lnTo>
                  <a:pt x="2934995" y="0"/>
                </a:lnTo>
                <a:lnTo>
                  <a:pt x="2934995" y="3540496"/>
                </a:lnTo>
                <a:lnTo>
                  <a:pt x="0" y="3540496"/>
                </a:lnTo>
                <a:lnTo>
                  <a:pt x="0" y="0"/>
                </a:lnTo>
                <a:close/>
              </a:path>
            </a:pathLst>
          </a:custGeom>
          <a:blipFill>
            <a:blip r:embed="rId6"/>
            <a:stretch>
              <a:fillRect/>
            </a:stretch>
          </a:blipFill>
        </p:spPr>
      </p:sp>
      <p:sp>
        <p:nvSpPr>
          <p:cNvPr id="13" name="TextBox 1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id="14" name="TextBox 14"/>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5" name="TextBox 15"/>
          <p:cNvSpPr txBox="1"/>
          <p:nvPr/>
        </p:nvSpPr>
        <p:spPr>
          <a:xfrm>
            <a:off x="1069316" y="144780"/>
            <a:ext cx="16478830"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Veri Kümesi</a:t>
            </a:r>
          </a:p>
        </p:txBody>
      </p:sp>
      <p:sp>
        <p:nvSpPr>
          <p:cNvPr id="16" name="TextBox 16"/>
          <p:cNvSpPr txBox="1"/>
          <p:nvPr/>
        </p:nvSpPr>
        <p:spPr>
          <a:xfrm>
            <a:off x="660460" y="2329884"/>
            <a:ext cx="7976874" cy="3768090"/>
          </a:xfrm>
          <a:prstGeom prst="rect">
            <a:avLst/>
          </a:prstGeom>
        </p:spPr>
        <p:txBody>
          <a:bodyPr lIns="0" tIns="0" rIns="0" bIns="0" rtlCol="0" anchor="t">
            <a:spAutoFit/>
          </a:bodyPr>
          <a:lstStyle/>
          <a:p>
            <a:pPr marL="518157" lvl="1" indent="-259078" algn="l">
              <a:lnSpc>
                <a:spcPts val="3359"/>
              </a:lnSpc>
              <a:buFont typeface="Arial"/>
              <a:buChar char="•"/>
            </a:pPr>
            <a:r>
              <a:rPr lang="en-US" sz="2399">
                <a:solidFill>
                  <a:srgbClr val="000000"/>
                </a:solidFill>
                <a:latin typeface="Roboto"/>
                <a:ea typeface="Roboto"/>
                <a:cs typeface="Roboto"/>
                <a:sym typeface="Roboto"/>
              </a:rPr>
              <a:t>Yapılan çalışmada kedi-köpek veri seti kullanılmıştır.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Her bir sınıf için training sette 4000, test sette ise 1000 resim bulunur.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Görüntü boyutları resim resim farklılık gösterir. </a:t>
            </a:r>
          </a:p>
          <a:p>
            <a:pPr algn="l">
              <a:lnSpc>
                <a:spcPts val="3359"/>
              </a:lnSpc>
            </a:pPr>
            <a:endParaRPr lang="en-US" sz="2399">
              <a:solidFill>
                <a:srgbClr val="000000"/>
              </a:solidFill>
              <a:latin typeface="Roboto"/>
              <a:ea typeface="Roboto"/>
              <a:cs typeface="Roboto"/>
              <a:sym typeface="Roboto"/>
            </a:endParaRPr>
          </a:p>
          <a:p>
            <a:pPr algn="l">
              <a:lnSpc>
                <a:spcPts val="3359"/>
              </a:lnSpc>
            </a:pPr>
            <a:endParaRPr lang="en-US" sz="2399">
              <a:solidFill>
                <a:srgbClr val="000000"/>
              </a:solidFill>
              <a:latin typeface="Roboto"/>
              <a:ea typeface="Roboto"/>
              <a:cs typeface="Roboto"/>
              <a:sym typeface="Roboto"/>
            </a:endParaRPr>
          </a:p>
          <a:p>
            <a:pPr algn="l">
              <a:lnSpc>
                <a:spcPts val="3359"/>
              </a:lnSpc>
            </a:pPr>
            <a:endParaRPr lang="en-US" sz="2399">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id="9" name="TextBox 9"/>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0" name="TextBox 10"/>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Hiperparametreler</a:t>
            </a:r>
          </a:p>
        </p:txBody>
      </p:sp>
      <p:sp>
        <p:nvSpPr>
          <p:cNvPr id="11" name="TextBox 11"/>
          <p:cNvSpPr txBox="1"/>
          <p:nvPr/>
        </p:nvSpPr>
        <p:spPr>
          <a:xfrm>
            <a:off x="1069316" y="2684296"/>
            <a:ext cx="6901705" cy="12534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Normalizasyon:</a:t>
            </a:r>
          </a:p>
          <a:p>
            <a:pPr marL="518160" lvl="1" indent="-259080" algn="l">
              <a:lnSpc>
                <a:spcPts val="3359"/>
              </a:lnSpc>
              <a:spcBef>
                <a:spcPct val="0"/>
              </a:spcBef>
              <a:buFont typeface="Arial"/>
              <a:buChar char="•"/>
            </a:pPr>
            <a:r>
              <a:rPr lang="en-US" sz="2400">
                <a:solidFill>
                  <a:srgbClr val="000000"/>
                </a:solidFill>
                <a:latin typeface="Roboto"/>
                <a:ea typeface="Roboto"/>
                <a:cs typeface="Roboto"/>
                <a:sym typeface="Roboto"/>
              </a:rPr>
              <a:t>Ortalama değerler: [0.485, 0.456, 0.406]</a:t>
            </a:r>
          </a:p>
          <a:p>
            <a:pPr marL="518160" lvl="1" indent="-259080" algn="l">
              <a:lnSpc>
                <a:spcPts val="3359"/>
              </a:lnSpc>
              <a:spcBef>
                <a:spcPct val="0"/>
              </a:spcBef>
              <a:buFont typeface="Arial"/>
              <a:buChar char="•"/>
            </a:pPr>
            <a:r>
              <a:rPr lang="en-US" sz="2400">
                <a:solidFill>
                  <a:srgbClr val="000000"/>
                </a:solidFill>
                <a:latin typeface="Roboto"/>
                <a:ea typeface="Roboto"/>
                <a:cs typeface="Roboto"/>
                <a:sym typeface="Roboto"/>
              </a:rPr>
              <a:t>Standart sapma değerleri: [0.229, 0.224, 0.225]</a:t>
            </a:r>
          </a:p>
        </p:txBody>
      </p:sp>
      <p:sp>
        <p:nvSpPr>
          <p:cNvPr id="12" name="TextBox 12"/>
          <p:cNvSpPr txBox="1"/>
          <p:nvPr/>
        </p:nvSpPr>
        <p:spPr>
          <a:xfrm>
            <a:off x="1109932" y="4318786"/>
            <a:ext cx="4596871"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Yığın boyutu:</a:t>
            </a:r>
            <a:r>
              <a:rPr lang="en-US" sz="2400">
                <a:solidFill>
                  <a:srgbClr val="000000"/>
                </a:solidFill>
                <a:latin typeface="Roboto"/>
                <a:ea typeface="Roboto"/>
                <a:cs typeface="Roboto"/>
                <a:sym typeface="Roboto"/>
              </a:rPr>
              <a:t> 32</a:t>
            </a:r>
          </a:p>
        </p:txBody>
      </p:sp>
      <p:sp>
        <p:nvSpPr>
          <p:cNvPr id="13" name="TextBox 13"/>
          <p:cNvSpPr txBox="1"/>
          <p:nvPr/>
        </p:nvSpPr>
        <p:spPr>
          <a:xfrm>
            <a:off x="1069316" y="5113171"/>
            <a:ext cx="6398284" cy="436017"/>
          </a:xfrm>
          <a:prstGeom prst="rect">
            <a:avLst/>
          </a:prstGeom>
        </p:spPr>
        <p:txBody>
          <a:bodyPr wrap="square" lIns="0" tIns="0" rIns="0" bIns="0" rtlCol="0" anchor="t">
            <a:spAutoFit/>
          </a:bodyPr>
          <a:lstStyle/>
          <a:p>
            <a:pPr algn="l">
              <a:lnSpc>
                <a:spcPts val="3359"/>
              </a:lnSpc>
              <a:spcBef>
                <a:spcPct val="0"/>
              </a:spcBef>
            </a:pPr>
            <a:r>
              <a:rPr lang="en-US" sz="2400" b="1" dirty="0" err="1">
                <a:solidFill>
                  <a:srgbClr val="000000"/>
                </a:solidFill>
                <a:latin typeface="Roboto Bold"/>
                <a:ea typeface="Roboto Bold"/>
                <a:cs typeface="Roboto Bold"/>
                <a:sym typeface="Roboto Bold"/>
              </a:rPr>
              <a:t>Kayıp</a:t>
            </a:r>
            <a:r>
              <a:rPr lang="en-US" sz="2400" b="1" dirty="0">
                <a:solidFill>
                  <a:srgbClr val="000000"/>
                </a:solidFill>
                <a:latin typeface="Roboto Bold"/>
                <a:ea typeface="Roboto Bold"/>
                <a:cs typeface="Roboto Bold"/>
                <a:sym typeface="Roboto Bold"/>
              </a:rPr>
              <a:t> </a:t>
            </a:r>
            <a:r>
              <a:rPr lang="en-US" sz="2400" b="1" dirty="0" err="1">
                <a:solidFill>
                  <a:srgbClr val="000000"/>
                </a:solidFill>
                <a:latin typeface="Roboto Bold"/>
                <a:ea typeface="Roboto Bold"/>
                <a:cs typeface="Roboto Bold"/>
                <a:sym typeface="Roboto Bold"/>
              </a:rPr>
              <a:t>fonksiyonu</a:t>
            </a:r>
            <a:r>
              <a:rPr lang="en-US" sz="2400" b="1" dirty="0">
                <a:solidFill>
                  <a:srgbClr val="000000"/>
                </a:solidFill>
                <a:latin typeface="Roboto Bold"/>
                <a:ea typeface="Roboto Bold"/>
                <a:cs typeface="Roboto Bold"/>
                <a:sym typeface="Roboto Bold"/>
              </a:rPr>
              <a:t>: </a:t>
            </a:r>
            <a:r>
              <a:rPr lang="en-US" sz="2400" dirty="0" err="1">
                <a:solidFill>
                  <a:srgbClr val="000000"/>
                </a:solidFill>
                <a:latin typeface="Roboto"/>
                <a:ea typeface="Roboto"/>
                <a:cs typeface="Roboto"/>
                <a:sym typeface="Roboto"/>
              </a:rPr>
              <a:t>Çapraz</a:t>
            </a:r>
            <a:r>
              <a:rPr lang="en-US" sz="2400" dirty="0">
                <a:solidFill>
                  <a:srgbClr val="000000"/>
                </a:solidFill>
                <a:latin typeface="Roboto"/>
                <a:ea typeface="Roboto"/>
                <a:cs typeface="Roboto"/>
                <a:sym typeface="Roboto"/>
              </a:rPr>
              <a:t> </a:t>
            </a:r>
            <a:r>
              <a:rPr lang="en-US" sz="2400" dirty="0" err="1">
                <a:solidFill>
                  <a:srgbClr val="000000"/>
                </a:solidFill>
                <a:latin typeface="Roboto"/>
                <a:ea typeface="Roboto"/>
                <a:cs typeface="Roboto"/>
                <a:sym typeface="Roboto"/>
              </a:rPr>
              <a:t>Entropi</a:t>
            </a:r>
            <a:r>
              <a:rPr lang="en-US" sz="2400" dirty="0">
                <a:solidFill>
                  <a:srgbClr val="000000"/>
                </a:solidFill>
                <a:latin typeface="Roboto"/>
                <a:ea typeface="Roboto"/>
                <a:cs typeface="Roboto"/>
                <a:sym typeface="Roboto"/>
              </a:rPr>
              <a:t> </a:t>
            </a:r>
            <a:r>
              <a:rPr lang="en-US" sz="2400" dirty="0" err="1">
                <a:solidFill>
                  <a:srgbClr val="000000"/>
                </a:solidFill>
                <a:latin typeface="Roboto"/>
                <a:ea typeface="Roboto"/>
                <a:cs typeface="Roboto"/>
                <a:sym typeface="Roboto"/>
              </a:rPr>
              <a:t>kaybı</a:t>
            </a:r>
            <a:endParaRPr lang="en-US" sz="2400" dirty="0">
              <a:solidFill>
                <a:srgbClr val="000000"/>
              </a:solidFill>
              <a:latin typeface="Roboto"/>
              <a:ea typeface="Roboto"/>
              <a:cs typeface="Roboto"/>
              <a:sym typeface="Roboto"/>
            </a:endParaRPr>
          </a:p>
        </p:txBody>
      </p:sp>
      <p:sp>
        <p:nvSpPr>
          <p:cNvPr id="14" name="TextBox 14"/>
          <p:cNvSpPr txBox="1"/>
          <p:nvPr/>
        </p:nvSpPr>
        <p:spPr>
          <a:xfrm>
            <a:off x="1069316" y="5909461"/>
            <a:ext cx="5301972"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Optimize edici: </a:t>
            </a:r>
            <a:r>
              <a:rPr lang="en-US" sz="2400">
                <a:solidFill>
                  <a:srgbClr val="000000"/>
                </a:solidFill>
                <a:latin typeface="Roboto"/>
                <a:ea typeface="Roboto"/>
                <a:cs typeface="Roboto"/>
                <a:sym typeface="Roboto"/>
              </a:rPr>
              <a:t>Adam</a:t>
            </a:r>
          </a:p>
        </p:txBody>
      </p:sp>
      <p:sp>
        <p:nvSpPr>
          <p:cNvPr id="15" name="TextBox 15"/>
          <p:cNvSpPr txBox="1"/>
          <p:nvPr/>
        </p:nvSpPr>
        <p:spPr>
          <a:xfrm>
            <a:off x="1069316" y="7502041"/>
            <a:ext cx="4162903"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Epoch sayısı: </a:t>
            </a:r>
            <a:r>
              <a:rPr lang="en-US" sz="2400">
                <a:solidFill>
                  <a:srgbClr val="000000"/>
                </a:solidFill>
                <a:latin typeface="Roboto"/>
                <a:ea typeface="Roboto"/>
                <a:cs typeface="Roboto"/>
                <a:sym typeface="Roboto"/>
              </a:rPr>
              <a:t>100, 500, 1000</a:t>
            </a:r>
          </a:p>
        </p:txBody>
      </p:sp>
      <p:sp>
        <p:nvSpPr>
          <p:cNvPr id="16" name="TextBox 16"/>
          <p:cNvSpPr txBox="1"/>
          <p:nvPr/>
        </p:nvSpPr>
        <p:spPr>
          <a:xfrm>
            <a:off x="1069316" y="6705751"/>
            <a:ext cx="5301972"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Öğrenme oranı:</a:t>
            </a:r>
            <a:r>
              <a:rPr lang="en-US" sz="2400">
                <a:solidFill>
                  <a:srgbClr val="000000"/>
                </a:solidFill>
                <a:latin typeface="Roboto"/>
                <a:ea typeface="Roboto"/>
                <a:cs typeface="Roboto"/>
                <a:sym typeface="Roboto"/>
              </a:rPr>
              <a:t> 0.001</a:t>
            </a:r>
          </a:p>
        </p:txBody>
      </p:sp>
      <p:sp>
        <p:nvSpPr>
          <p:cNvPr id="17" name="TextBox 17"/>
          <p:cNvSpPr txBox="1"/>
          <p:nvPr/>
        </p:nvSpPr>
        <p:spPr>
          <a:xfrm>
            <a:off x="1069316" y="1888006"/>
            <a:ext cx="5301972"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Görüntü boyutlandırma:</a:t>
            </a:r>
            <a:r>
              <a:rPr lang="en-US" sz="2400">
                <a:solidFill>
                  <a:srgbClr val="000000"/>
                </a:solidFill>
                <a:latin typeface="Roboto"/>
                <a:ea typeface="Roboto"/>
                <a:cs typeface="Roboto"/>
                <a:sym typeface="Roboto"/>
              </a:rPr>
              <a:t> (224, 224)</a:t>
            </a:r>
          </a:p>
        </p:txBody>
      </p:sp>
      <p:sp>
        <p:nvSpPr>
          <p:cNvPr id="18" name="Freeform 18"/>
          <p:cNvSpPr/>
          <p:nvPr/>
        </p:nvSpPr>
        <p:spPr>
          <a:xfrm>
            <a:off x="8266860" y="4375936"/>
            <a:ext cx="8356765" cy="4444365"/>
          </a:xfrm>
          <a:custGeom>
            <a:avLst/>
            <a:gdLst/>
            <a:ahLst/>
            <a:cxnLst/>
            <a:rect l="l" t="t" r="r" b="b"/>
            <a:pathLst>
              <a:path w="8356765" h="4444365">
                <a:moveTo>
                  <a:pt x="0" y="0"/>
                </a:moveTo>
                <a:lnTo>
                  <a:pt x="8356765" y="0"/>
                </a:lnTo>
                <a:lnTo>
                  <a:pt x="8356765" y="4444365"/>
                </a:lnTo>
                <a:lnTo>
                  <a:pt x="0" y="4444365"/>
                </a:lnTo>
                <a:lnTo>
                  <a:pt x="0" y="0"/>
                </a:lnTo>
                <a:close/>
              </a:path>
            </a:pathLst>
          </a:custGeom>
          <a:blipFill>
            <a:blip r:embed="rId2"/>
            <a:stretch>
              <a:fillRect l="-4237" t="-9924" b="-4980"/>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grpSp>
        <p:nvGrpSpPr>
          <p:cNvPr id="3" name="Group 3"/>
          <p:cNvGrpSpPr/>
          <p:nvPr/>
        </p:nvGrpSpPr>
        <p:grpSpPr>
          <a:xfrm>
            <a:off x="0" y="9820130"/>
            <a:ext cx="18288000" cy="466870"/>
            <a:chOff x="0" y="0"/>
            <a:chExt cx="4816593" cy="122962"/>
          </a:xfrm>
        </p:grpSpPr>
        <p:sp>
          <p:nvSpPr>
            <p:cNvPr id="4" name="Freeform 4"/>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5" name="TextBox 5"/>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7" name="Group 7"/>
          <p:cNvGrpSpPr/>
          <p:nvPr/>
        </p:nvGrpSpPr>
        <p:grpSpPr>
          <a:xfrm>
            <a:off x="-257457" y="0"/>
            <a:ext cx="18802914" cy="1028700"/>
            <a:chOff x="0" y="0"/>
            <a:chExt cx="4952208" cy="270933"/>
          </a:xfrm>
        </p:grpSpPr>
        <p:sp>
          <p:nvSpPr>
            <p:cNvPr id="8" name="Freeform 8"/>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9" name="TextBox 9"/>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Deneysel Çalışma</a:t>
            </a:r>
          </a:p>
        </p:txBody>
      </p:sp>
      <p:sp>
        <p:nvSpPr>
          <p:cNvPr id="11" name="TextBox 11"/>
          <p:cNvSpPr txBox="1"/>
          <p:nvPr/>
        </p:nvSpPr>
        <p:spPr>
          <a:xfrm>
            <a:off x="1028700" y="3908586"/>
            <a:ext cx="5964674" cy="4152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Roboto"/>
                <a:ea typeface="Roboto"/>
                <a:cs typeface="Roboto"/>
                <a:sym typeface="Roboto"/>
              </a:rPr>
              <a:t>Epoch Sayısına Göre Model Performansı</a:t>
            </a:r>
          </a:p>
        </p:txBody>
      </p:sp>
      <p:sp>
        <p:nvSpPr>
          <p:cNvPr id="12" name="TextBox 12"/>
          <p:cNvSpPr txBox="1"/>
          <p:nvPr/>
        </p:nvSpPr>
        <p:spPr>
          <a:xfrm>
            <a:off x="1028700" y="4900769"/>
            <a:ext cx="9077444" cy="4152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Roboto"/>
                <a:ea typeface="Roboto"/>
                <a:cs typeface="Roboto"/>
                <a:sym typeface="Roboto"/>
              </a:rPr>
              <a:t>Transfer Öğrenme ve Scratch Model Eğitiminin Karşılaştırılması</a:t>
            </a:r>
          </a:p>
        </p:txBody>
      </p:sp>
      <p:sp>
        <p:nvSpPr>
          <p:cNvPr id="13" name="TextBox 13"/>
          <p:cNvSpPr txBox="1"/>
          <p:nvPr/>
        </p:nvSpPr>
        <p:spPr>
          <a:xfrm>
            <a:off x="1028700" y="5909462"/>
            <a:ext cx="14602727" cy="4152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Roboto"/>
                <a:ea typeface="Roboto"/>
                <a:cs typeface="Roboto"/>
                <a:sym typeface="Roboto"/>
              </a:rPr>
              <a:t> Son Katmanı Değiştirilmiş ve Son 3 Katmanı Değiştirilmiş Resnet Mimarilerinin Karşılaştırılması</a:t>
            </a:r>
          </a:p>
        </p:txBody>
      </p:sp>
      <p:sp>
        <p:nvSpPr>
          <p:cNvPr id="14" name="TextBox 14"/>
          <p:cNvSpPr txBox="1"/>
          <p:nvPr/>
        </p:nvSpPr>
        <p:spPr>
          <a:xfrm>
            <a:off x="1069316" y="6921339"/>
            <a:ext cx="11608356" cy="4152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Roboto"/>
                <a:ea typeface="Roboto"/>
                <a:cs typeface="Roboto"/>
                <a:sym typeface="Roboto"/>
              </a:rPr>
              <a:t>Resnet-18, DenseNet ve MobileNetV3 Model Mimarilerinin Karşılaştırılması</a:t>
            </a:r>
          </a:p>
        </p:txBody>
      </p:sp>
      <p:sp>
        <p:nvSpPr>
          <p:cNvPr id="15" name="TextBox 15"/>
          <p:cNvSpPr txBox="1"/>
          <p:nvPr/>
        </p:nvSpPr>
        <p:spPr>
          <a:xfrm>
            <a:off x="1128890" y="2893221"/>
            <a:ext cx="4438531" cy="436017"/>
          </a:xfrm>
          <a:prstGeom prst="rect">
            <a:avLst/>
          </a:prstGeom>
        </p:spPr>
        <p:txBody>
          <a:bodyPr wrap="square" lIns="0" tIns="0" rIns="0" bIns="0" rtlCol="0" anchor="t">
            <a:spAutoFit/>
          </a:bodyPr>
          <a:lstStyle/>
          <a:p>
            <a:pPr algn="l">
              <a:lnSpc>
                <a:spcPts val="3359"/>
              </a:lnSpc>
            </a:pPr>
            <a:r>
              <a:rPr lang="en-US" sz="2400" b="1" u="sng" dirty="0" err="1">
                <a:solidFill>
                  <a:srgbClr val="000000"/>
                </a:solidFill>
                <a:latin typeface="Roboto Bold"/>
                <a:ea typeface="Roboto Bold"/>
                <a:cs typeface="Roboto Bold"/>
                <a:sym typeface="Roboto Bold"/>
              </a:rPr>
              <a:t>Deneysel</a:t>
            </a:r>
            <a:r>
              <a:rPr lang="en-US" sz="2400" b="1" u="sng" dirty="0">
                <a:solidFill>
                  <a:srgbClr val="000000"/>
                </a:solidFill>
                <a:latin typeface="Roboto Bold"/>
                <a:ea typeface="Roboto Bold"/>
                <a:cs typeface="Roboto Bold"/>
                <a:sym typeface="Roboto Bold"/>
              </a:rPr>
              <a:t> </a:t>
            </a:r>
            <a:r>
              <a:rPr lang="en-US" sz="2400" b="1" u="sng" dirty="0" err="1">
                <a:solidFill>
                  <a:srgbClr val="000000"/>
                </a:solidFill>
                <a:latin typeface="Roboto Bold"/>
                <a:ea typeface="Roboto Bold"/>
                <a:cs typeface="Roboto Bold"/>
                <a:sym typeface="Roboto Bold"/>
              </a:rPr>
              <a:t>Çalışmalar</a:t>
            </a:r>
            <a:r>
              <a:rPr lang="en-US" sz="2400" b="1" u="sng" dirty="0">
                <a:solidFill>
                  <a:srgbClr val="000000"/>
                </a:solidFill>
                <a:latin typeface="Roboto Bold"/>
                <a:ea typeface="Roboto Bold"/>
                <a:cs typeface="Roboto Bold"/>
                <a:sym typeface="Roboto Bold"/>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989960" y="2989340"/>
            <a:ext cx="7438592" cy="6268960"/>
          </a:xfrm>
          <a:custGeom>
            <a:avLst/>
            <a:gdLst/>
            <a:ahLst/>
            <a:cxnLst/>
            <a:rect l="l" t="t" r="r" b="b"/>
            <a:pathLst>
              <a:path w="7438592" h="6268960">
                <a:moveTo>
                  <a:pt x="0" y="0"/>
                </a:moveTo>
                <a:lnTo>
                  <a:pt x="7438593" y="0"/>
                </a:lnTo>
                <a:lnTo>
                  <a:pt x="7438593" y="6268960"/>
                </a:lnTo>
                <a:lnTo>
                  <a:pt x="0" y="6268960"/>
                </a:lnTo>
                <a:lnTo>
                  <a:pt x="0" y="0"/>
                </a:lnTo>
                <a:close/>
              </a:path>
            </a:pathLst>
          </a:custGeom>
          <a:blipFill>
            <a:blip r:embed="rId2"/>
            <a:stretch>
              <a:fillRect l="-6243" t="-4784" r="-11501"/>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id="10" name="TextBox 10"/>
          <p:cNvSpPr txBox="1"/>
          <p:nvPr/>
        </p:nvSpPr>
        <p:spPr>
          <a:xfrm>
            <a:off x="1219200" y="1619408"/>
            <a:ext cx="8916040" cy="403957"/>
          </a:xfrm>
          <a:prstGeom prst="rect">
            <a:avLst/>
          </a:prstGeom>
        </p:spPr>
        <p:txBody>
          <a:bodyPr wrap="square" lIns="0" tIns="0" rIns="0" bIns="0" rtlCol="0" anchor="t">
            <a:spAutoFit/>
          </a:bodyPr>
          <a:lstStyle/>
          <a:p>
            <a:pPr>
              <a:lnSpc>
                <a:spcPts val="3359"/>
              </a:lnSpc>
              <a:spcBef>
                <a:spcPct val="0"/>
              </a:spcBef>
            </a:pPr>
            <a:r>
              <a:rPr lang="en-US" sz="2399" b="1" dirty="0">
                <a:solidFill>
                  <a:srgbClr val="000000"/>
                </a:solidFill>
                <a:latin typeface="Roboto Bold"/>
                <a:ea typeface="Roboto Bold"/>
                <a:cs typeface="Roboto Bold"/>
                <a:sym typeface="Roboto Bold"/>
              </a:rPr>
              <a:t>Test 1: Epoch </a:t>
            </a:r>
            <a:r>
              <a:rPr lang="en-US" sz="2399" b="1" dirty="0" err="1">
                <a:solidFill>
                  <a:srgbClr val="000000"/>
                </a:solidFill>
                <a:latin typeface="Roboto Bold"/>
                <a:ea typeface="Roboto Bold"/>
                <a:cs typeface="Roboto Bold"/>
                <a:sym typeface="Roboto Bold"/>
              </a:rPr>
              <a:t>Sayısına</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Göre</a:t>
            </a:r>
            <a:r>
              <a:rPr lang="en-US" sz="2399" b="1" dirty="0">
                <a:solidFill>
                  <a:srgbClr val="000000"/>
                </a:solidFill>
                <a:latin typeface="Roboto Bold"/>
                <a:ea typeface="Roboto Bold"/>
                <a:cs typeface="Roboto Bold"/>
                <a:sym typeface="Roboto Bold"/>
              </a:rPr>
              <a:t> Model </a:t>
            </a:r>
            <a:r>
              <a:rPr lang="en-US" sz="2399" b="1" dirty="0" err="1">
                <a:solidFill>
                  <a:srgbClr val="000000"/>
                </a:solidFill>
                <a:latin typeface="Roboto Bold"/>
                <a:ea typeface="Roboto Bold"/>
                <a:cs typeface="Roboto Bold"/>
                <a:sym typeface="Roboto Bold"/>
              </a:rPr>
              <a:t>Performansı</a:t>
            </a:r>
            <a:endParaRPr lang="en-US" sz="2399" b="1" dirty="0">
              <a:solidFill>
                <a:srgbClr val="000000"/>
              </a:solidFill>
              <a:latin typeface="Roboto Bold"/>
              <a:ea typeface="Roboto Bold"/>
              <a:cs typeface="Roboto Bold"/>
              <a:sym typeface="Roboto Bold"/>
            </a:endParaRPr>
          </a:p>
        </p:txBody>
      </p:sp>
      <p:sp>
        <p:nvSpPr>
          <p:cNvPr id="11" name="TextBox 11"/>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2" name="TextBox 12"/>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Deneysel Çalışma</a:t>
            </a:r>
          </a:p>
        </p:txBody>
      </p:sp>
      <p:sp>
        <p:nvSpPr>
          <p:cNvPr id="13" name="TextBox 13"/>
          <p:cNvSpPr txBox="1"/>
          <p:nvPr/>
        </p:nvSpPr>
        <p:spPr>
          <a:xfrm>
            <a:off x="13411200" y="1559488"/>
            <a:ext cx="3848100" cy="436017"/>
          </a:xfrm>
          <a:prstGeom prst="rect">
            <a:avLst/>
          </a:prstGeom>
        </p:spPr>
        <p:txBody>
          <a:bodyPr wrap="square" lIns="0" tIns="0" rIns="0" bIns="0" rtlCol="0" anchor="t">
            <a:spAutoFit/>
          </a:bodyPr>
          <a:lstStyle/>
          <a:p>
            <a:pPr algn="r">
              <a:lnSpc>
                <a:spcPts val="3359"/>
              </a:lnSpc>
            </a:pPr>
            <a:r>
              <a:rPr lang="en-US" sz="2399" dirty="0" err="1">
                <a:solidFill>
                  <a:srgbClr val="000000"/>
                </a:solidFill>
                <a:latin typeface="Roboto"/>
                <a:ea typeface="Roboto"/>
                <a:cs typeface="Roboto"/>
                <a:sym typeface="Roboto"/>
              </a:rPr>
              <a:t>Veri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Seti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Kedi-Köpek</a:t>
            </a:r>
            <a:endParaRPr lang="en-US" sz="2399" dirty="0">
              <a:solidFill>
                <a:srgbClr val="000000"/>
              </a:solidFill>
              <a:latin typeface="Roboto"/>
              <a:ea typeface="Roboto"/>
              <a:cs typeface="Roboto"/>
              <a:sym typeface="Roboto"/>
            </a:endParaRPr>
          </a:p>
        </p:txBody>
      </p:sp>
      <p:sp>
        <p:nvSpPr>
          <p:cNvPr id="14" name="TextBox 14"/>
          <p:cNvSpPr txBox="1"/>
          <p:nvPr/>
        </p:nvSpPr>
        <p:spPr>
          <a:xfrm>
            <a:off x="1219200" y="2134617"/>
            <a:ext cx="7515525" cy="415290"/>
          </a:xfrm>
          <a:prstGeom prst="rect">
            <a:avLst/>
          </a:prstGeom>
        </p:spPr>
        <p:txBody>
          <a:bodyPr lIns="0" tIns="0" rIns="0" bIns="0" rtlCol="0" anchor="t">
            <a:spAutoFit/>
          </a:bodyPr>
          <a:lstStyle/>
          <a:p>
            <a:pPr algn="l">
              <a:lnSpc>
                <a:spcPts val="3359"/>
              </a:lnSpc>
              <a:spcBef>
                <a:spcPct val="0"/>
              </a:spcBef>
            </a:pPr>
            <a:r>
              <a:rPr lang="en-US" sz="2399" dirty="0">
                <a:solidFill>
                  <a:srgbClr val="000000"/>
                </a:solidFill>
                <a:latin typeface="Roboto"/>
                <a:ea typeface="Roboto"/>
                <a:cs typeface="Roboto"/>
                <a:sym typeface="Roboto"/>
              </a:rPr>
              <a:t>Model </a:t>
            </a:r>
            <a:r>
              <a:rPr lang="en-US" sz="2399" dirty="0" err="1">
                <a:solidFill>
                  <a:srgbClr val="000000"/>
                </a:solidFill>
                <a:latin typeface="Roboto"/>
                <a:ea typeface="Roboto"/>
                <a:cs typeface="Roboto"/>
                <a:sym typeface="Roboto"/>
              </a:rPr>
              <a:t>Mimarisi</a:t>
            </a:r>
            <a:r>
              <a:rPr lang="en-US" sz="2399" dirty="0">
                <a:solidFill>
                  <a:srgbClr val="000000"/>
                </a:solidFill>
                <a:latin typeface="Roboto"/>
                <a:ea typeface="Roboto"/>
                <a:cs typeface="Roboto"/>
                <a:sym typeface="Roboto"/>
              </a:rPr>
              <a:t>: ResNet18 - Son </a:t>
            </a:r>
            <a:r>
              <a:rPr lang="en-US" sz="2399" dirty="0" err="1">
                <a:solidFill>
                  <a:srgbClr val="000000"/>
                </a:solidFill>
                <a:latin typeface="Roboto"/>
                <a:ea typeface="Roboto"/>
                <a:cs typeface="Roboto"/>
                <a:sym typeface="Roboto"/>
              </a:rPr>
              <a:t>Katmanı</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Değiştirilmiş</a:t>
            </a:r>
            <a:endParaRPr lang="en-US" sz="2399" dirty="0">
              <a:solidFill>
                <a:srgbClr val="000000"/>
              </a:solidFill>
              <a:latin typeface="Roboto"/>
              <a:ea typeface="Roboto"/>
              <a:cs typeface="Roboto"/>
              <a:sym typeface="Roboto"/>
            </a:endParaRPr>
          </a:p>
        </p:txBody>
      </p:sp>
      <p:sp>
        <p:nvSpPr>
          <p:cNvPr id="15" name="TextBox 15"/>
          <p:cNvSpPr txBox="1"/>
          <p:nvPr/>
        </p:nvSpPr>
        <p:spPr>
          <a:xfrm>
            <a:off x="13563600" y="1955728"/>
            <a:ext cx="3695700"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Accuracy: 97.97%</a:t>
            </a:r>
          </a:p>
        </p:txBody>
      </p:sp>
      <p:sp>
        <p:nvSpPr>
          <p:cNvPr id="16" name="TextBox 16"/>
          <p:cNvSpPr txBox="1"/>
          <p:nvPr/>
        </p:nvSpPr>
        <p:spPr>
          <a:xfrm>
            <a:off x="14483000" y="2342262"/>
            <a:ext cx="2776300"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Epoch: 100</a:t>
            </a:r>
          </a:p>
        </p:txBody>
      </p:sp>
      <p:sp>
        <p:nvSpPr>
          <p:cNvPr id="17" name="TextBox 17"/>
          <p:cNvSpPr txBox="1"/>
          <p:nvPr/>
        </p:nvSpPr>
        <p:spPr>
          <a:xfrm>
            <a:off x="8544225" y="7241656"/>
            <a:ext cx="2006560" cy="125349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Roboto"/>
                <a:ea typeface="Roboto"/>
                <a:cs typeface="Roboto"/>
                <a:sym typeface="Roboto"/>
              </a:rPr>
              <a:t>Precision: 0.89</a:t>
            </a:r>
          </a:p>
          <a:p>
            <a:pPr algn="l">
              <a:lnSpc>
                <a:spcPts val="3359"/>
              </a:lnSpc>
              <a:spcBef>
                <a:spcPct val="0"/>
              </a:spcBef>
            </a:pPr>
            <a:r>
              <a:rPr lang="en-US" sz="2400">
                <a:solidFill>
                  <a:srgbClr val="000000"/>
                </a:solidFill>
                <a:latin typeface="Roboto"/>
                <a:ea typeface="Roboto"/>
                <a:cs typeface="Roboto"/>
                <a:sym typeface="Roboto"/>
              </a:rPr>
              <a:t>Recall: 0.99</a:t>
            </a:r>
          </a:p>
          <a:p>
            <a:pPr algn="l">
              <a:lnSpc>
                <a:spcPts val="3359"/>
              </a:lnSpc>
              <a:spcBef>
                <a:spcPct val="0"/>
              </a:spcBef>
            </a:pPr>
            <a:r>
              <a:rPr lang="en-US" sz="2400">
                <a:solidFill>
                  <a:srgbClr val="000000"/>
                </a:solidFill>
                <a:latin typeface="Roboto"/>
                <a:ea typeface="Roboto"/>
                <a:cs typeface="Roboto"/>
                <a:sym typeface="Roboto"/>
              </a:rPr>
              <a:t>F1 Score: 0.94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989960" y="3109609"/>
            <a:ext cx="7230720" cy="6110518"/>
          </a:xfrm>
          <a:custGeom>
            <a:avLst/>
            <a:gdLst/>
            <a:ahLst/>
            <a:cxnLst/>
            <a:rect l="l" t="t" r="r" b="b"/>
            <a:pathLst>
              <a:path w="7230720" h="6110518">
                <a:moveTo>
                  <a:pt x="0" y="0"/>
                </a:moveTo>
                <a:lnTo>
                  <a:pt x="7230720" y="0"/>
                </a:lnTo>
                <a:lnTo>
                  <a:pt x="7230720" y="6110518"/>
                </a:lnTo>
                <a:lnTo>
                  <a:pt x="0" y="6110518"/>
                </a:lnTo>
                <a:lnTo>
                  <a:pt x="0" y="0"/>
                </a:lnTo>
                <a:close/>
              </a:path>
            </a:pathLst>
          </a:custGeom>
          <a:blipFill>
            <a:blip r:embed="rId2"/>
            <a:stretch>
              <a:fillRect l="-6522" t="-7243" r="-14316"/>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sp>
        <p:nvSpPr>
          <p:cNvPr id="11" name="TextBox 11"/>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2" name="TextBox 12"/>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Deneysel Çalışma</a:t>
            </a:r>
          </a:p>
        </p:txBody>
      </p:sp>
      <p:sp>
        <p:nvSpPr>
          <p:cNvPr id="13" name="TextBox 13"/>
          <p:cNvSpPr txBox="1"/>
          <p:nvPr/>
        </p:nvSpPr>
        <p:spPr>
          <a:xfrm>
            <a:off x="13258800" y="1559488"/>
            <a:ext cx="4000500" cy="436017"/>
          </a:xfrm>
          <a:prstGeom prst="rect">
            <a:avLst/>
          </a:prstGeom>
        </p:spPr>
        <p:txBody>
          <a:bodyPr wrap="square" lIns="0" tIns="0" rIns="0" bIns="0" rtlCol="0" anchor="t">
            <a:spAutoFit/>
          </a:bodyPr>
          <a:lstStyle/>
          <a:p>
            <a:pPr algn="r">
              <a:lnSpc>
                <a:spcPts val="3359"/>
              </a:lnSpc>
            </a:pPr>
            <a:r>
              <a:rPr lang="en-US" sz="2399" dirty="0" err="1">
                <a:solidFill>
                  <a:srgbClr val="000000"/>
                </a:solidFill>
                <a:latin typeface="Roboto"/>
                <a:ea typeface="Roboto"/>
                <a:cs typeface="Roboto"/>
                <a:sym typeface="Roboto"/>
              </a:rPr>
              <a:t>Veri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Seti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Kedi-Köpek</a:t>
            </a:r>
            <a:endParaRPr lang="en-US" sz="2399" dirty="0">
              <a:solidFill>
                <a:srgbClr val="000000"/>
              </a:solidFill>
              <a:latin typeface="Roboto"/>
              <a:ea typeface="Roboto"/>
              <a:cs typeface="Roboto"/>
              <a:sym typeface="Roboto"/>
            </a:endParaRPr>
          </a:p>
        </p:txBody>
      </p:sp>
      <p:sp>
        <p:nvSpPr>
          <p:cNvPr id="15" name="TextBox 15"/>
          <p:cNvSpPr txBox="1"/>
          <p:nvPr/>
        </p:nvSpPr>
        <p:spPr>
          <a:xfrm>
            <a:off x="13868400" y="1955728"/>
            <a:ext cx="3390900"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Accuracy: 98.02%</a:t>
            </a:r>
          </a:p>
        </p:txBody>
      </p:sp>
      <p:sp>
        <p:nvSpPr>
          <p:cNvPr id="17" name="TextBox 17"/>
          <p:cNvSpPr txBox="1"/>
          <p:nvPr/>
        </p:nvSpPr>
        <p:spPr>
          <a:xfrm>
            <a:off x="8544225" y="7241656"/>
            <a:ext cx="2006560" cy="125349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Roboto"/>
                <a:ea typeface="Roboto"/>
                <a:cs typeface="Roboto"/>
                <a:sym typeface="Roboto"/>
              </a:rPr>
              <a:t>Precision: 0.96</a:t>
            </a:r>
          </a:p>
          <a:p>
            <a:pPr algn="l">
              <a:lnSpc>
                <a:spcPts val="3359"/>
              </a:lnSpc>
              <a:spcBef>
                <a:spcPct val="0"/>
              </a:spcBef>
            </a:pPr>
            <a:r>
              <a:rPr lang="en-US" sz="2400">
                <a:solidFill>
                  <a:srgbClr val="000000"/>
                </a:solidFill>
                <a:latin typeface="Roboto"/>
                <a:ea typeface="Roboto"/>
                <a:cs typeface="Roboto"/>
                <a:sym typeface="Roboto"/>
              </a:rPr>
              <a:t>Recall: 0.97</a:t>
            </a:r>
          </a:p>
          <a:p>
            <a:pPr algn="l">
              <a:lnSpc>
                <a:spcPts val="3359"/>
              </a:lnSpc>
              <a:spcBef>
                <a:spcPct val="0"/>
              </a:spcBef>
            </a:pPr>
            <a:r>
              <a:rPr lang="en-US" sz="2400">
                <a:solidFill>
                  <a:srgbClr val="000000"/>
                </a:solidFill>
                <a:latin typeface="Roboto"/>
                <a:ea typeface="Roboto"/>
                <a:cs typeface="Roboto"/>
                <a:sym typeface="Roboto"/>
              </a:rPr>
              <a:t>F1 Score: 0.97</a:t>
            </a:r>
          </a:p>
        </p:txBody>
      </p:sp>
      <p:sp>
        <p:nvSpPr>
          <p:cNvPr id="18" name="TextBox 16"/>
          <p:cNvSpPr txBox="1"/>
          <p:nvPr/>
        </p:nvSpPr>
        <p:spPr>
          <a:xfrm>
            <a:off x="14483000" y="2342262"/>
            <a:ext cx="2776300"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Epoch: </a:t>
            </a:r>
            <a:r>
              <a:rPr lang="tr-TR" sz="2400" dirty="0" smtClean="0">
                <a:solidFill>
                  <a:srgbClr val="000000"/>
                </a:solidFill>
                <a:latin typeface="Roboto"/>
                <a:ea typeface="Roboto"/>
                <a:cs typeface="Roboto"/>
                <a:sym typeface="Roboto"/>
              </a:rPr>
              <a:t>5</a:t>
            </a:r>
            <a:r>
              <a:rPr lang="en-US" sz="2400" dirty="0" smtClean="0">
                <a:solidFill>
                  <a:srgbClr val="000000"/>
                </a:solidFill>
                <a:latin typeface="Roboto"/>
                <a:ea typeface="Roboto"/>
                <a:cs typeface="Roboto"/>
                <a:sym typeface="Roboto"/>
              </a:rPr>
              <a:t>00</a:t>
            </a:r>
            <a:endParaRPr lang="en-US" sz="2400" dirty="0">
              <a:solidFill>
                <a:srgbClr val="000000"/>
              </a:solidFill>
              <a:latin typeface="Roboto"/>
              <a:ea typeface="Roboto"/>
              <a:cs typeface="Roboto"/>
              <a:sym typeface="Roboto"/>
            </a:endParaRPr>
          </a:p>
        </p:txBody>
      </p:sp>
      <p:sp>
        <p:nvSpPr>
          <p:cNvPr id="19" name="TextBox 10"/>
          <p:cNvSpPr txBox="1"/>
          <p:nvPr/>
        </p:nvSpPr>
        <p:spPr>
          <a:xfrm>
            <a:off x="1219200" y="1619408"/>
            <a:ext cx="8916040" cy="403957"/>
          </a:xfrm>
          <a:prstGeom prst="rect">
            <a:avLst/>
          </a:prstGeom>
        </p:spPr>
        <p:txBody>
          <a:bodyPr wrap="square" lIns="0" tIns="0" rIns="0" bIns="0" rtlCol="0" anchor="t">
            <a:spAutoFit/>
          </a:bodyPr>
          <a:lstStyle/>
          <a:p>
            <a:pPr>
              <a:lnSpc>
                <a:spcPts val="3359"/>
              </a:lnSpc>
              <a:spcBef>
                <a:spcPct val="0"/>
              </a:spcBef>
            </a:pPr>
            <a:r>
              <a:rPr lang="en-US" sz="2399" b="1" dirty="0">
                <a:solidFill>
                  <a:srgbClr val="000000"/>
                </a:solidFill>
                <a:latin typeface="Roboto Bold"/>
                <a:ea typeface="Roboto Bold"/>
                <a:cs typeface="Roboto Bold"/>
                <a:sym typeface="Roboto Bold"/>
              </a:rPr>
              <a:t>Test 1: Epoch </a:t>
            </a:r>
            <a:r>
              <a:rPr lang="en-US" sz="2399" b="1" dirty="0" err="1">
                <a:solidFill>
                  <a:srgbClr val="000000"/>
                </a:solidFill>
                <a:latin typeface="Roboto Bold"/>
                <a:ea typeface="Roboto Bold"/>
                <a:cs typeface="Roboto Bold"/>
                <a:sym typeface="Roboto Bold"/>
              </a:rPr>
              <a:t>Sayısına</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Göre</a:t>
            </a:r>
            <a:r>
              <a:rPr lang="en-US" sz="2399" b="1" dirty="0">
                <a:solidFill>
                  <a:srgbClr val="000000"/>
                </a:solidFill>
                <a:latin typeface="Roboto Bold"/>
                <a:ea typeface="Roboto Bold"/>
                <a:cs typeface="Roboto Bold"/>
                <a:sym typeface="Roboto Bold"/>
              </a:rPr>
              <a:t> Model </a:t>
            </a:r>
            <a:r>
              <a:rPr lang="en-US" sz="2399" b="1" dirty="0" err="1">
                <a:solidFill>
                  <a:srgbClr val="000000"/>
                </a:solidFill>
                <a:latin typeface="Roboto Bold"/>
                <a:ea typeface="Roboto Bold"/>
                <a:cs typeface="Roboto Bold"/>
                <a:sym typeface="Roboto Bold"/>
              </a:rPr>
              <a:t>Performansı</a:t>
            </a:r>
            <a:endParaRPr lang="en-US" sz="2399" b="1" dirty="0">
              <a:solidFill>
                <a:srgbClr val="000000"/>
              </a:solidFill>
              <a:latin typeface="Roboto Bold"/>
              <a:ea typeface="Roboto Bold"/>
              <a:cs typeface="Roboto Bold"/>
              <a:sym typeface="Roboto Bold"/>
            </a:endParaRPr>
          </a:p>
        </p:txBody>
      </p:sp>
      <p:sp>
        <p:nvSpPr>
          <p:cNvPr id="20" name="TextBox 14"/>
          <p:cNvSpPr txBox="1"/>
          <p:nvPr/>
        </p:nvSpPr>
        <p:spPr>
          <a:xfrm>
            <a:off x="1219200" y="2134617"/>
            <a:ext cx="7515525" cy="415290"/>
          </a:xfrm>
          <a:prstGeom prst="rect">
            <a:avLst/>
          </a:prstGeom>
        </p:spPr>
        <p:txBody>
          <a:bodyPr lIns="0" tIns="0" rIns="0" bIns="0" rtlCol="0" anchor="t">
            <a:spAutoFit/>
          </a:bodyPr>
          <a:lstStyle/>
          <a:p>
            <a:pPr algn="l">
              <a:lnSpc>
                <a:spcPts val="3359"/>
              </a:lnSpc>
              <a:spcBef>
                <a:spcPct val="0"/>
              </a:spcBef>
            </a:pPr>
            <a:r>
              <a:rPr lang="en-US" sz="2399" dirty="0">
                <a:solidFill>
                  <a:srgbClr val="000000"/>
                </a:solidFill>
                <a:latin typeface="Roboto"/>
                <a:ea typeface="Roboto"/>
                <a:cs typeface="Roboto"/>
                <a:sym typeface="Roboto"/>
              </a:rPr>
              <a:t>Model </a:t>
            </a:r>
            <a:r>
              <a:rPr lang="en-US" sz="2399" dirty="0" err="1">
                <a:solidFill>
                  <a:srgbClr val="000000"/>
                </a:solidFill>
                <a:latin typeface="Roboto"/>
                <a:ea typeface="Roboto"/>
                <a:cs typeface="Roboto"/>
                <a:sym typeface="Roboto"/>
              </a:rPr>
              <a:t>Mimarisi</a:t>
            </a:r>
            <a:r>
              <a:rPr lang="en-US" sz="2399" dirty="0">
                <a:solidFill>
                  <a:srgbClr val="000000"/>
                </a:solidFill>
                <a:latin typeface="Roboto"/>
                <a:ea typeface="Roboto"/>
                <a:cs typeface="Roboto"/>
                <a:sym typeface="Roboto"/>
              </a:rPr>
              <a:t>: ResNet18 - Son </a:t>
            </a:r>
            <a:r>
              <a:rPr lang="en-US" sz="2399" dirty="0" err="1">
                <a:solidFill>
                  <a:srgbClr val="000000"/>
                </a:solidFill>
                <a:latin typeface="Roboto"/>
                <a:ea typeface="Roboto"/>
                <a:cs typeface="Roboto"/>
                <a:sym typeface="Roboto"/>
              </a:rPr>
              <a:t>Katmanı</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Değiştirilmiş</a:t>
            </a:r>
            <a:endParaRPr lang="en-US" sz="2399" dirty="0">
              <a:solidFill>
                <a:srgbClr val="000000"/>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989960" y="3147782"/>
            <a:ext cx="6722207" cy="5719920"/>
          </a:xfrm>
          <a:custGeom>
            <a:avLst/>
            <a:gdLst/>
            <a:ahLst/>
            <a:cxnLst/>
            <a:rect l="l" t="t" r="r" b="b"/>
            <a:pathLst>
              <a:path w="6722207" h="5719920">
                <a:moveTo>
                  <a:pt x="0" y="0"/>
                </a:moveTo>
                <a:lnTo>
                  <a:pt x="6722208" y="0"/>
                </a:lnTo>
                <a:lnTo>
                  <a:pt x="6722208" y="5719920"/>
                </a:lnTo>
                <a:lnTo>
                  <a:pt x="0" y="5719920"/>
                </a:lnTo>
                <a:lnTo>
                  <a:pt x="0" y="0"/>
                </a:lnTo>
                <a:close/>
              </a:path>
            </a:pathLst>
          </a:custGeom>
          <a:blipFill>
            <a:blip r:embed="rId2"/>
            <a:stretch>
              <a:fillRect l="-6461" t="-5522" r="-13256"/>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id="11" name="TextBox 11"/>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2" name="TextBox 12"/>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Deneysel Çalışma</a:t>
            </a:r>
          </a:p>
        </p:txBody>
      </p:sp>
      <p:sp>
        <p:nvSpPr>
          <p:cNvPr id="13" name="TextBox 13"/>
          <p:cNvSpPr txBox="1"/>
          <p:nvPr/>
        </p:nvSpPr>
        <p:spPr>
          <a:xfrm>
            <a:off x="13182600" y="1559488"/>
            <a:ext cx="4076700" cy="436017"/>
          </a:xfrm>
          <a:prstGeom prst="rect">
            <a:avLst/>
          </a:prstGeom>
        </p:spPr>
        <p:txBody>
          <a:bodyPr wrap="square" lIns="0" tIns="0" rIns="0" bIns="0" rtlCol="0" anchor="t">
            <a:spAutoFit/>
          </a:bodyPr>
          <a:lstStyle/>
          <a:p>
            <a:pPr algn="r">
              <a:lnSpc>
                <a:spcPts val="3359"/>
              </a:lnSpc>
            </a:pPr>
            <a:r>
              <a:rPr lang="en-US" sz="2399" dirty="0" err="1">
                <a:solidFill>
                  <a:srgbClr val="000000"/>
                </a:solidFill>
                <a:latin typeface="Roboto"/>
                <a:ea typeface="Roboto"/>
                <a:cs typeface="Roboto"/>
                <a:sym typeface="Roboto"/>
              </a:rPr>
              <a:t>Veri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Seti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Kedi-Köpek</a:t>
            </a:r>
            <a:endParaRPr lang="en-US" sz="2399" dirty="0">
              <a:solidFill>
                <a:srgbClr val="000000"/>
              </a:solidFill>
              <a:latin typeface="Roboto"/>
              <a:ea typeface="Roboto"/>
              <a:cs typeface="Roboto"/>
              <a:sym typeface="Roboto"/>
            </a:endParaRPr>
          </a:p>
        </p:txBody>
      </p:sp>
      <p:sp>
        <p:nvSpPr>
          <p:cNvPr id="15" name="TextBox 15"/>
          <p:cNvSpPr txBox="1"/>
          <p:nvPr/>
        </p:nvSpPr>
        <p:spPr>
          <a:xfrm>
            <a:off x="13487400" y="1955728"/>
            <a:ext cx="3771900"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Accuracy: 98.07%</a:t>
            </a:r>
          </a:p>
        </p:txBody>
      </p:sp>
      <p:sp>
        <p:nvSpPr>
          <p:cNvPr id="17" name="TextBox 17"/>
          <p:cNvSpPr txBox="1"/>
          <p:nvPr/>
        </p:nvSpPr>
        <p:spPr>
          <a:xfrm>
            <a:off x="7883263" y="7217508"/>
            <a:ext cx="4691815" cy="1253490"/>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Roboto"/>
                <a:ea typeface="Roboto"/>
                <a:cs typeface="Roboto"/>
                <a:sym typeface="Roboto"/>
              </a:rPr>
              <a:t>Precision: 0.97</a:t>
            </a:r>
          </a:p>
          <a:p>
            <a:pPr algn="l">
              <a:lnSpc>
                <a:spcPts val="3359"/>
              </a:lnSpc>
              <a:spcBef>
                <a:spcPct val="0"/>
              </a:spcBef>
            </a:pPr>
            <a:r>
              <a:rPr lang="en-US" sz="2400">
                <a:solidFill>
                  <a:srgbClr val="000000"/>
                </a:solidFill>
                <a:latin typeface="Roboto"/>
                <a:ea typeface="Roboto"/>
                <a:cs typeface="Roboto"/>
                <a:sym typeface="Roboto"/>
              </a:rPr>
              <a:t>Recall: 0.98</a:t>
            </a:r>
          </a:p>
          <a:p>
            <a:pPr algn="l">
              <a:lnSpc>
                <a:spcPts val="3359"/>
              </a:lnSpc>
              <a:spcBef>
                <a:spcPct val="0"/>
              </a:spcBef>
            </a:pPr>
            <a:r>
              <a:rPr lang="en-US" sz="2400">
                <a:solidFill>
                  <a:srgbClr val="000000"/>
                </a:solidFill>
                <a:latin typeface="Roboto"/>
                <a:ea typeface="Roboto"/>
                <a:cs typeface="Roboto"/>
                <a:sym typeface="Roboto"/>
              </a:rPr>
              <a:t>F1 Score: 0.97</a:t>
            </a:r>
          </a:p>
        </p:txBody>
      </p:sp>
      <p:sp>
        <p:nvSpPr>
          <p:cNvPr id="18" name="TextBox 16"/>
          <p:cNvSpPr txBox="1"/>
          <p:nvPr/>
        </p:nvSpPr>
        <p:spPr>
          <a:xfrm>
            <a:off x="14483000" y="2342262"/>
            <a:ext cx="2776300"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Epoch: </a:t>
            </a:r>
            <a:r>
              <a:rPr lang="en-US" sz="2400" dirty="0" smtClean="0">
                <a:solidFill>
                  <a:srgbClr val="000000"/>
                </a:solidFill>
                <a:latin typeface="Roboto"/>
                <a:ea typeface="Roboto"/>
                <a:cs typeface="Roboto"/>
                <a:sym typeface="Roboto"/>
              </a:rPr>
              <a:t>1</a:t>
            </a:r>
            <a:r>
              <a:rPr lang="tr-TR" sz="2400" dirty="0" smtClean="0">
                <a:solidFill>
                  <a:srgbClr val="000000"/>
                </a:solidFill>
                <a:latin typeface="Roboto"/>
                <a:ea typeface="Roboto"/>
                <a:cs typeface="Roboto"/>
                <a:sym typeface="Roboto"/>
              </a:rPr>
              <a:t>0</a:t>
            </a:r>
            <a:r>
              <a:rPr lang="en-US" sz="2400" dirty="0" smtClean="0">
                <a:solidFill>
                  <a:srgbClr val="000000"/>
                </a:solidFill>
                <a:latin typeface="Roboto"/>
                <a:ea typeface="Roboto"/>
                <a:cs typeface="Roboto"/>
                <a:sym typeface="Roboto"/>
              </a:rPr>
              <a:t>00</a:t>
            </a:r>
            <a:endParaRPr lang="en-US" sz="2400" dirty="0">
              <a:solidFill>
                <a:srgbClr val="000000"/>
              </a:solidFill>
              <a:latin typeface="Roboto"/>
              <a:ea typeface="Roboto"/>
              <a:cs typeface="Roboto"/>
              <a:sym typeface="Roboto"/>
            </a:endParaRPr>
          </a:p>
        </p:txBody>
      </p:sp>
      <p:sp>
        <p:nvSpPr>
          <p:cNvPr id="19" name="TextBox 10"/>
          <p:cNvSpPr txBox="1"/>
          <p:nvPr/>
        </p:nvSpPr>
        <p:spPr>
          <a:xfrm>
            <a:off x="1219200" y="1619408"/>
            <a:ext cx="8916040" cy="403957"/>
          </a:xfrm>
          <a:prstGeom prst="rect">
            <a:avLst/>
          </a:prstGeom>
        </p:spPr>
        <p:txBody>
          <a:bodyPr wrap="square" lIns="0" tIns="0" rIns="0" bIns="0" rtlCol="0" anchor="t">
            <a:spAutoFit/>
          </a:bodyPr>
          <a:lstStyle/>
          <a:p>
            <a:pPr>
              <a:lnSpc>
                <a:spcPts val="3359"/>
              </a:lnSpc>
              <a:spcBef>
                <a:spcPct val="0"/>
              </a:spcBef>
            </a:pPr>
            <a:r>
              <a:rPr lang="en-US" sz="2399" b="1" dirty="0">
                <a:solidFill>
                  <a:srgbClr val="000000"/>
                </a:solidFill>
                <a:latin typeface="Roboto Bold"/>
                <a:ea typeface="Roboto Bold"/>
                <a:cs typeface="Roboto Bold"/>
                <a:sym typeface="Roboto Bold"/>
              </a:rPr>
              <a:t>Test 1: Epoch </a:t>
            </a:r>
            <a:r>
              <a:rPr lang="en-US" sz="2399" b="1" dirty="0" err="1">
                <a:solidFill>
                  <a:srgbClr val="000000"/>
                </a:solidFill>
                <a:latin typeface="Roboto Bold"/>
                <a:ea typeface="Roboto Bold"/>
                <a:cs typeface="Roboto Bold"/>
                <a:sym typeface="Roboto Bold"/>
              </a:rPr>
              <a:t>Sayısına</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Göre</a:t>
            </a:r>
            <a:r>
              <a:rPr lang="en-US" sz="2399" b="1" dirty="0">
                <a:solidFill>
                  <a:srgbClr val="000000"/>
                </a:solidFill>
                <a:latin typeface="Roboto Bold"/>
                <a:ea typeface="Roboto Bold"/>
                <a:cs typeface="Roboto Bold"/>
                <a:sym typeface="Roboto Bold"/>
              </a:rPr>
              <a:t> Model </a:t>
            </a:r>
            <a:r>
              <a:rPr lang="en-US" sz="2399" b="1" dirty="0" err="1">
                <a:solidFill>
                  <a:srgbClr val="000000"/>
                </a:solidFill>
                <a:latin typeface="Roboto Bold"/>
                <a:ea typeface="Roboto Bold"/>
                <a:cs typeface="Roboto Bold"/>
                <a:sym typeface="Roboto Bold"/>
              </a:rPr>
              <a:t>Performansı</a:t>
            </a:r>
            <a:endParaRPr lang="en-US" sz="2399" b="1" dirty="0">
              <a:solidFill>
                <a:srgbClr val="000000"/>
              </a:solidFill>
              <a:latin typeface="Roboto Bold"/>
              <a:ea typeface="Roboto Bold"/>
              <a:cs typeface="Roboto Bold"/>
              <a:sym typeface="Roboto Bold"/>
            </a:endParaRPr>
          </a:p>
        </p:txBody>
      </p:sp>
      <p:sp>
        <p:nvSpPr>
          <p:cNvPr id="20" name="TextBox 14"/>
          <p:cNvSpPr txBox="1"/>
          <p:nvPr/>
        </p:nvSpPr>
        <p:spPr>
          <a:xfrm>
            <a:off x="1219200" y="2134617"/>
            <a:ext cx="7515525" cy="415290"/>
          </a:xfrm>
          <a:prstGeom prst="rect">
            <a:avLst/>
          </a:prstGeom>
        </p:spPr>
        <p:txBody>
          <a:bodyPr lIns="0" tIns="0" rIns="0" bIns="0" rtlCol="0" anchor="t">
            <a:spAutoFit/>
          </a:bodyPr>
          <a:lstStyle/>
          <a:p>
            <a:pPr algn="l">
              <a:lnSpc>
                <a:spcPts val="3359"/>
              </a:lnSpc>
              <a:spcBef>
                <a:spcPct val="0"/>
              </a:spcBef>
            </a:pPr>
            <a:r>
              <a:rPr lang="en-US" sz="2399" dirty="0">
                <a:solidFill>
                  <a:srgbClr val="000000"/>
                </a:solidFill>
                <a:latin typeface="Roboto"/>
                <a:ea typeface="Roboto"/>
                <a:cs typeface="Roboto"/>
                <a:sym typeface="Roboto"/>
              </a:rPr>
              <a:t>Model </a:t>
            </a:r>
            <a:r>
              <a:rPr lang="en-US" sz="2399" dirty="0" err="1">
                <a:solidFill>
                  <a:srgbClr val="000000"/>
                </a:solidFill>
                <a:latin typeface="Roboto"/>
                <a:ea typeface="Roboto"/>
                <a:cs typeface="Roboto"/>
                <a:sym typeface="Roboto"/>
              </a:rPr>
              <a:t>Mimarisi</a:t>
            </a:r>
            <a:r>
              <a:rPr lang="en-US" sz="2399" dirty="0">
                <a:solidFill>
                  <a:srgbClr val="000000"/>
                </a:solidFill>
                <a:latin typeface="Roboto"/>
                <a:ea typeface="Roboto"/>
                <a:cs typeface="Roboto"/>
                <a:sym typeface="Roboto"/>
              </a:rPr>
              <a:t>: ResNet18 - Son </a:t>
            </a:r>
            <a:r>
              <a:rPr lang="en-US" sz="2399" dirty="0" err="1">
                <a:solidFill>
                  <a:srgbClr val="000000"/>
                </a:solidFill>
                <a:latin typeface="Roboto"/>
                <a:ea typeface="Roboto"/>
                <a:cs typeface="Roboto"/>
                <a:sym typeface="Roboto"/>
              </a:rPr>
              <a:t>Katmanı</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Değiştirilmiş</a:t>
            </a:r>
            <a:endParaRPr lang="en-US" sz="2399" dirty="0">
              <a:solidFill>
                <a:srgbClr val="000000"/>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TextBox 11"/>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Deneysel Çalışma</a:t>
            </a:r>
          </a:p>
        </p:txBody>
      </p:sp>
      <p:sp>
        <p:nvSpPr>
          <p:cNvPr id="12" name="TextBox 12"/>
          <p:cNvSpPr txBox="1"/>
          <p:nvPr/>
        </p:nvSpPr>
        <p:spPr>
          <a:xfrm>
            <a:off x="13258800" y="1559488"/>
            <a:ext cx="4000500" cy="436017"/>
          </a:xfrm>
          <a:prstGeom prst="rect">
            <a:avLst/>
          </a:prstGeom>
        </p:spPr>
        <p:txBody>
          <a:bodyPr wrap="square" lIns="0" tIns="0" rIns="0" bIns="0" rtlCol="0" anchor="t">
            <a:spAutoFit/>
          </a:bodyPr>
          <a:lstStyle/>
          <a:p>
            <a:pPr algn="r">
              <a:lnSpc>
                <a:spcPts val="3359"/>
              </a:lnSpc>
            </a:pPr>
            <a:r>
              <a:rPr lang="en-US" sz="2399" dirty="0" err="1">
                <a:solidFill>
                  <a:srgbClr val="000000"/>
                </a:solidFill>
                <a:latin typeface="Roboto"/>
                <a:ea typeface="Roboto"/>
                <a:cs typeface="Roboto"/>
                <a:sym typeface="Roboto"/>
              </a:rPr>
              <a:t>Veri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Seti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Kedi-Köpek</a:t>
            </a:r>
            <a:endParaRPr lang="en-US" sz="2399" dirty="0">
              <a:solidFill>
                <a:srgbClr val="000000"/>
              </a:solidFill>
              <a:latin typeface="Roboto"/>
              <a:ea typeface="Roboto"/>
              <a:cs typeface="Roboto"/>
              <a:sym typeface="Roboto"/>
            </a:endParaRPr>
          </a:p>
        </p:txBody>
      </p:sp>
      <p:graphicFrame>
        <p:nvGraphicFramePr>
          <p:cNvPr id="14" name="Table 14"/>
          <p:cNvGraphicFramePr>
            <a:graphicFrameLocks noGrp="1"/>
          </p:cNvGraphicFramePr>
          <p:nvPr/>
        </p:nvGraphicFramePr>
        <p:xfrm>
          <a:off x="1028700" y="3366857"/>
          <a:ext cx="10744236" cy="4410075"/>
        </p:xfrm>
        <a:graphic>
          <a:graphicData uri="http://schemas.openxmlformats.org/drawingml/2006/table">
            <a:tbl>
              <a:tblPr/>
              <a:tblGrid>
                <a:gridCol w="2686059"/>
                <a:gridCol w="2686059"/>
                <a:gridCol w="2686059"/>
                <a:gridCol w="2686059"/>
              </a:tblGrid>
              <a:tr h="882015">
                <a:tc>
                  <a:txBody>
                    <a:bodyPr/>
                    <a:lstStyle/>
                    <a:p>
                      <a:pPr algn="ctr">
                        <a:lnSpc>
                          <a:spcPts val="3359"/>
                        </a:lnSpc>
                        <a:defRPr/>
                      </a:pPr>
                      <a:r>
                        <a:rPr lang="en-US" sz="2400" b="1">
                          <a:solidFill>
                            <a:srgbClr val="000000"/>
                          </a:solidFill>
                          <a:latin typeface="Roboto Bold"/>
                          <a:ea typeface="Roboto Bold"/>
                          <a:cs typeface="Roboto Bold"/>
                          <a:sym typeface="Roboto Bold"/>
                        </a:rPr>
                        <a:t>Epoch</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Roboto Bold"/>
                          <a:ea typeface="Roboto Bold"/>
                          <a:cs typeface="Roboto Bold"/>
                          <a:sym typeface="Roboto Bold"/>
                        </a:rPr>
                        <a:t>100</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Roboto Bold"/>
                          <a:ea typeface="Roboto Bold"/>
                          <a:cs typeface="Roboto Bold"/>
                          <a:sym typeface="Roboto Bold"/>
                        </a:rPr>
                        <a:t>500</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Roboto Bold"/>
                          <a:ea typeface="Roboto Bold"/>
                          <a:cs typeface="Roboto Bold"/>
                          <a:sym typeface="Roboto Bold"/>
                        </a:rPr>
                        <a:t>1000</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r h="882015">
                <a:tc>
                  <a:txBody>
                    <a:bodyPr/>
                    <a:lstStyle/>
                    <a:p>
                      <a:pPr algn="ctr">
                        <a:lnSpc>
                          <a:spcPts val="3359"/>
                        </a:lnSpc>
                        <a:defRPr/>
                      </a:pPr>
                      <a:r>
                        <a:rPr lang="en-US" sz="2400" b="1">
                          <a:solidFill>
                            <a:srgbClr val="000000"/>
                          </a:solidFill>
                          <a:latin typeface="Roboto Bold"/>
                          <a:ea typeface="Roboto Bold"/>
                          <a:cs typeface="Roboto Bold"/>
                          <a:sym typeface="Roboto Bold"/>
                        </a:rPr>
                        <a:t>Accuracy</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97.97%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98.02%</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98.07%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r h="882015">
                <a:tc>
                  <a:txBody>
                    <a:bodyPr/>
                    <a:lstStyle/>
                    <a:p>
                      <a:pPr algn="ctr">
                        <a:lnSpc>
                          <a:spcPts val="3359"/>
                        </a:lnSpc>
                        <a:defRPr/>
                      </a:pPr>
                      <a:r>
                        <a:rPr lang="en-US" sz="2400" b="1">
                          <a:solidFill>
                            <a:srgbClr val="000000"/>
                          </a:solidFill>
                          <a:latin typeface="Roboto Bold"/>
                          <a:ea typeface="Roboto Bold"/>
                          <a:cs typeface="Roboto Bold"/>
                          <a:sym typeface="Roboto Bold"/>
                        </a:rPr>
                        <a:t>Precision</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0.89</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0,96</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r h="882015">
                <a:tc>
                  <a:txBody>
                    <a:bodyPr/>
                    <a:lstStyle/>
                    <a:p>
                      <a:pPr algn="ctr">
                        <a:lnSpc>
                          <a:spcPts val="3359"/>
                        </a:lnSpc>
                        <a:defRPr/>
                      </a:pPr>
                      <a:r>
                        <a:rPr lang="en-US" sz="2400" b="1">
                          <a:solidFill>
                            <a:srgbClr val="000000"/>
                          </a:solidFill>
                          <a:latin typeface="Roboto Bold"/>
                          <a:ea typeface="Roboto Bold"/>
                          <a:cs typeface="Roboto Bold"/>
                          <a:sym typeface="Roboto Bold"/>
                        </a:rPr>
                        <a:t>Recall</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0.99</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0.98</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r h="882015">
                <a:tc>
                  <a:txBody>
                    <a:bodyPr/>
                    <a:lstStyle/>
                    <a:p>
                      <a:pPr algn="ctr">
                        <a:lnSpc>
                          <a:spcPts val="3359"/>
                        </a:lnSpc>
                        <a:defRPr/>
                      </a:pPr>
                      <a:r>
                        <a:rPr lang="en-US" sz="2400" b="1">
                          <a:solidFill>
                            <a:srgbClr val="000000"/>
                          </a:solidFill>
                          <a:latin typeface="Roboto Bold"/>
                          <a:ea typeface="Roboto Bold"/>
                          <a:cs typeface="Roboto Bold"/>
                          <a:sym typeface="Roboto Bold"/>
                        </a:rPr>
                        <a:t>F1 Score</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0.94</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15" name="TextBox 10"/>
          <p:cNvSpPr txBox="1"/>
          <p:nvPr/>
        </p:nvSpPr>
        <p:spPr>
          <a:xfrm>
            <a:off x="1219200" y="1619408"/>
            <a:ext cx="8916040" cy="403957"/>
          </a:xfrm>
          <a:prstGeom prst="rect">
            <a:avLst/>
          </a:prstGeom>
        </p:spPr>
        <p:txBody>
          <a:bodyPr wrap="square" lIns="0" tIns="0" rIns="0" bIns="0" rtlCol="0" anchor="t">
            <a:spAutoFit/>
          </a:bodyPr>
          <a:lstStyle/>
          <a:p>
            <a:pPr>
              <a:lnSpc>
                <a:spcPts val="3359"/>
              </a:lnSpc>
              <a:spcBef>
                <a:spcPct val="0"/>
              </a:spcBef>
            </a:pPr>
            <a:r>
              <a:rPr lang="en-US" sz="2399" b="1" dirty="0">
                <a:solidFill>
                  <a:srgbClr val="000000"/>
                </a:solidFill>
                <a:latin typeface="Roboto Bold"/>
                <a:ea typeface="Roboto Bold"/>
                <a:cs typeface="Roboto Bold"/>
                <a:sym typeface="Roboto Bold"/>
              </a:rPr>
              <a:t>Test 1: Epoch </a:t>
            </a:r>
            <a:r>
              <a:rPr lang="en-US" sz="2399" b="1" dirty="0" err="1">
                <a:solidFill>
                  <a:srgbClr val="000000"/>
                </a:solidFill>
                <a:latin typeface="Roboto Bold"/>
                <a:ea typeface="Roboto Bold"/>
                <a:cs typeface="Roboto Bold"/>
                <a:sym typeface="Roboto Bold"/>
              </a:rPr>
              <a:t>Sayısına</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Göre</a:t>
            </a:r>
            <a:r>
              <a:rPr lang="en-US" sz="2399" b="1" dirty="0">
                <a:solidFill>
                  <a:srgbClr val="000000"/>
                </a:solidFill>
                <a:latin typeface="Roboto Bold"/>
                <a:ea typeface="Roboto Bold"/>
                <a:cs typeface="Roboto Bold"/>
                <a:sym typeface="Roboto Bold"/>
              </a:rPr>
              <a:t> Model </a:t>
            </a:r>
            <a:r>
              <a:rPr lang="en-US" sz="2399" b="1" dirty="0" err="1">
                <a:solidFill>
                  <a:srgbClr val="000000"/>
                </a:solidFill>
                <a:latin typeface="Roboto Bold"/>
                <a:ea typeface="Roboto Bold"/>
                <a:cs typeface="Roboto Bold"/>
                <a:sym typeface="Roboto Bold"/>
              </a:rPr>
              <a:t>Performansı</a:t>
            </a:r>
            <a:endParaRPr lang="en-US" sz="2399" b="1" dirty="0">
              <a:solidFill>
                <a:srgbClr val="000000"/>
              </a:solidFill>
              <a:latin typeface="Roboto Bold"/>
              <a:ea typeface="Roboto Bold"/>
              <a:cs typeface="Roboto Bold"/>
              <a:sym typeface="Roboto Bold"/>
            </a:endParaRPr>
          </a:p>
        </p:txBody>
      </p:sp>
      <p:sp>
        <p:nvSpPr>
          <p:cNvPr id="16" name="TextBox 14"/>
          <p:cNvSpPr txBox="1"/>
          <p:nvPr/>
        </p:nvSpPr>
        <p:spPr>
          <a:xfrm>
            <a:off x="1219200" y="2134617"/>
            <a:ext cx="7515525" cy="415290"/>
          </a:xfrm>
          <a:prstGeom prst="rect">
            <a:avLst/>
          </a:prstGeom>
        </p:spPr>
        <p:txBody>
          <a:bodyPr lIns="0" tIns="0" rIns="0" bIns="0" rtlCol="0" anchor="t">
            <a:spAutoFit/>
          </a:bodyPr>
          <a:lstStyle/>
          <a:p>
            <a:pPr algn="l">
              <a:lnSpc>
                <a:spcPts val="3359"/>
              </a:lnSpc>
              <a:spcBef>
                <a:spcPct val="0"/>
              </a:spcBef>
            </a:pPr>
            <a:r>
              <a:rPr lang="en-US" sz="2399" dirty="0">
                <a:solidFill>
                  <a:srgbClr val="000000"/>
                </a:solidFill>
                <a:latin typeface="Roboto"/>
                <a:ea typeface="Roboto"/>
                <a:cs typeface="Roboto"/>
                <a:sym typeface="Roboto"/>
              </a:rPr>
              <a:t>Model </a:t>
            </a:r>
            <a:r>
              <a:rPr lang="en-US" sz="2399" dirty="0" err="1">
                <a:solidFill>
                  <a:srgbClr val="000000"/>
                </a:solidFill>
                <a:latin typeface="Roboto"/>
                <a:ea typeface="Roboto"/>
                <a:cs typeface="Roboto"/>
                <a:sym typeface="Roboto"/>
              </a:rPr>
              <a:t>Mimarisi</a:t>
            </a:r>
            <a:r>
              <a:rPr lang="en-US" sz="2399" dirty="0">
                <a:solidFill>
                  <a:srgbClr val="000000"/>
                </a:solidFill>
                <a:latin typeface="Roboto"/>
                <a:ea typeface="Roboto"/>
                <a:cs typeface="Roboto"/>
                <a:sym typeface="Roboto"/>
              </a:rPr>
              <a:t>: ResNet18 - Son </a:t>
            </a:r>
            <a:r>
              <a:rPr lang="en-US" sz="2399" dirty="0" err="1">
                <a:solidFill>
                  <a:srgbClr val="000000"/>
                </a:solidFill>
                <a:latin typeface="Roboto"/>
                <a:ea typeface="Roboto"/>
                <a:cs typeface="Roboto"/>
                <a:sym typeface="Roboto"/>
              </a:rPr>
              <a:t>Katmanı</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Değiştirilmiş</a:t>
            </a:r>
            <a:endParaRPr lang="en-US" sz="2399" dirty="0">
              <a:solidFill>
                <a:srgbClr val="000000"/>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
        <p:nvSpPr>
          <p:cNvPr id="6" name="TextBox 6"/>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7" name="TextBox 7"/>
          <p:cNvSpPr txBox="1"/>
          <p:nvPr/>
        </p:nvSpPr>
        <p:spPr>
          <a:xfrm>
            <a:off x="1028700" y="1609804"/>
            <a:ext cx="11239500" cy="436017"/>
          </a:xfrm>
          <a:prstGeom prst="rect">
            <a:avLst/>
          </a:prstGeom>
        </p:spPr>
        <p:txBody>
          <a:bodyPr wrap="square" lIns="0" tIns="0" rIns="0" bIns="0" rtlCol="0" anchor="t">
            <a:spAutoFit/>
          </a:bodyPr>
          <a:lstStyle/>
          <a:p>
            <a:pPr algn="l">
              <a:lnSpc>
                <a:spcPts val="3359"/>
              </a:lnSpc>
              <a:spcBef>
                <a:spcPct val="0"/>
              </a:spcBef>
            </a:pPr>
            <a:r>
              <a:rPr lang="en-US" sz="2399" b="1" dirty="0">
                <a:solidFill>
                  <a:srgbClr val="000000"/>
                </a:solidFill>
                <a:latin typeface="Roboto Bold"/>
                <a:ea typeface="Roboto Bold"/>
                <a:cs typeface="Roboto Bold"/>
                <a:sym typeface="Roboto Bold"/>
              </a:rPr>
              <a:t>Test 2: Transfer </a:t>
            </a:r>
            <a:r>
              <a:rPr lang="en-US" sz="2399" b="1" dirty="0" err="1">
                <a:solidFill>
                  <a:srgbClr val="000000"/>
                </a:solidFill>
                <a:latin typeface="Roboto Bold"/>
                <a:ea typeface="Roboto Bold"/>
                <a:cs typeface="Roboto Bold"/>
                <a:sym typeface="Roboto Bold"/>
              </a:rPr>
              <a:t>Öğrenme</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ve</a:t>
            </a:r>
            <a:r>
              <a:rPr lang="en-US" sz="2399" b="1" dirty="0">
                <a:solidFill>
                  <a:srgbClr val="000000"/>
                </a:solidFill>
                <a:latin typeface="Roboto Bold"/>
                <a:ea typeface="Roboto Bold"/>
                <a:cs typeface="Roboto Bold"/>
                <a:sym typeface="Roboto Bold"/>
              </a:rPr>
              <a:t> Scratch Model </a:t>
            </a:r>
            <a:r>
              <a:rPr lang="en-US" sz="2399" b="1" dirty="0" err="1">
                <a:solidFill>
                  <a:srgbClr val="000000"/>
                </a:solidFill>
                <a:latin typeface="Roboto Bold"/>
                <a:ea typeface="Roboto Bold"/>
                <a:cs typeface="Roboto Bold"/>
                <a:sym typeface="Roboto Bold"/>
              </a:rPr>
              <a:t>Eğitiminin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Karşılaştırılmasıı</a:t>
            </a:r>
            <a:endParaRPr lang="en-US" sz="2399" b="1" dirty="0">
              <a:solidFill>
                <a:srgbClr val="000000"/>
              </a:solidFill>
              <a:latin typeface="Roboto Bold"/>
              <a:ea typeface="Roboto Bold"/>
              <a:cs typeface="Roboto Bold"/>
              <a:sym typeface="Roboto Bold"/>
            </a:endParaRPr>
          </a:p>
        </p:txBody>
      </p:sp>
      <p:grpSp>
        <p:nvGrpSpPr>
          <p:cNvPr id="8" name="Group 8"/>
          <p:cNvGrpSpPr/>
          <p:nvPr/>
        </p:nvGrpSpPr>
        <p:grpSpPr>
          <a:xfrm>
            <a:off x="-257457" y="0"/>
            <a:ext cx="18802914" cy="1028700"/>
            <a:chOff x="0" y="0"/>
            <a:chExt cx="4952208" cy="270933"/>
          </a:xfrm>
        </p:grpSpPr>
        <p:sp>
          <p:nvSpPr>
            <p:cNvPr id="9" name="Freeform 9"/>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10" name="TextBox 10"/>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Deneysel Çalışma</a:t>
            </a:r>
          </a:p>
        </p:txBody>
      </p:sp>
      <p:sp>
        <p:nvSpPr>
          <p:cNvPr id="12" name="TextBox 12"/>
          <p:cNvSpPr txBox="1"/>
          <p:nvPr/>
        </p:nvSpPr>
        <p:spPr>
          <a:xfrm>
            <a:off x="14706600" y="1967944"/>
            <a:ext cx="2552700"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Epoch: 100</a:t>
            </a:r>
          </a:p>
        </p:txBody>
      </p:sp>
      <p:sp>
        <p:nvSpPr>
          <p:cNvPr id="13" name="TextBox 13"/>
          <p:cNvSpPr txBox="1"/>
          <p:nvPr/>
        </p:nvSpPr>
        <p:spPr>
          <a:xfrm>
            <a:off x="1028700" y="2094317"/>
            <a:ext cx="7394784" cy="415290"/>
          </a:xfrm>
          <a:prstGeom prst="rect">
            <a:avLst/>
          </a:prstGeom>
        </p:spPr>
        <p:txBody>
          <a:bodyPr lIns="0" tIns="0" rIns="0" bIns="0" rtlCol="0" anchor="t">
            <a:spAutoFit/>
          </a:bodyPr>
          <a:lstStyle/>
          <a:p>
            <a:pPr algn="l">
              <a:lnSpc>
                <a:spcPts val="3359"/>
              </a:lnSpc>
              <a:spcBef>
                <a:spcPct val="0"/>
              </a:spcBef>
            </a:pPr>
            <a:r>
              <a:rPr lang="en-US" sz="2399">
                <a:solidFill>
                  <a:srgbClr val="000000"/>
                </a:solidFill>
                <a:latin typeface="Roboto"/>
                <a:ea typeface="Roboto"/>
                <a:cs typeface="Roboto"/>
                <a:sym typeface="Roboto"/>
              </a:rPr>
              <a:t>Model Mimarisi: ResNet18 - Son Katmanı Değiştirilmiş</a:t>
            </a:r>
          </a:p>
        </p:txBody>
      </p:sp>
      <p:sp>
        <p:nvSpPr>
          <p:cNvPr id="14" name="Freeform 14"/>
          <p:cNvSpPr/>
          <p:nvPr/>
        </p:nvSpPr>
        <p:spPr>
          <a:xfrm>
            <a:off x="533072" y="3353046"/>
            <a:ext cx="6396950" cy="5080325"/>
          </a:xfrm>
          <a:custGeom>
            <a:avLst/>
            <a:gdLst/>
            <a:ahLst/>
            <a:cxnLst/>
            <a:rect l="l" t="t" r="r" b="b"/>
            <a:pathLst>
              <a:path w="6396950" h="5080325">
                <a:moveTo>
                  <a:pt x="0" y="0"/>
                </a:moveTo>
                <a:lnTo>
                  <a:pt x="6396949" y="0"/>
                </a:lnTo>
                <a:lnTo>
                  <a:pt x="6396949" y="5080325"/>
                </a:lnTo>
                <a:lnTo>
                  <a:pt x="0" y="5080325"/>
                </a:lnTo>
                <a:lnTo>
                  <a:pt x="0" y="0"/>
                </a:lnTo>
                <a:close/>
              </a:path>
            </a:pathLst>
          </a:custGeom>
          <a:blipFill>
            <a:blip r:embed="rId2"/>
            <a:stretch>
              <a:fillRect l="-57873" t="-69642" r="-131096" b="-35028"/>
            </a:stretch>
          </a:blipFill>
        </p:spPr>
      </p:sp>
      <p:sp>
        <p:nvSpPr>
          <p:cNvPr id="15" name="TextBox 15"/>
          <p:cNvSpPr txBox="1"/>
          <p:nvPr/>
        </p:nvSpPr>
        <p:spPr>
          <a:xfrm>
            <a:off x="7128093" y="3305421"/>
            <a:ext cx="2207460" cy="4930775"/>
          </a:xfrm>
          <a:prstGeom prst="rect">
            <a:avLst/>
          </a:prstGeom>
        </p:spPr>
        <p:txBody>
          <a:bodyPr lIns="0" tIns="0" rIns="0" bIns="0" rtlCol="0" anchor="t">
            <a:spAutoFit/>
          </a:bodyPr>
          <a:lstStyle/>
          <a:p>
            <a:pPr algn="l">
              <a:lnSpc>
                <a:spcPts val="2799"/>
              </a:lnSpc>
            </a:pPr>
            <a:r>
              <a:rPr lang="en-US" sz="1999" b="1">
                <a:solidFill>
                  <a:srgbClr val="000000"/>
                </a:solidFill>
                <a:latin typeface="Roboto Bold"/>
                <a:ea typeface="Roboto Bold"/>
                <a:cs typeface="Roboto Bold"/>
                <a:sym typeface="Roboto Bold"/>
              </a:rPr>
              <a:t>Cat:</a:t>
            </a:r>
          </a:p>
          <a:p>
            <a:pPr algn="l">
              <a:lnSpc>
                <a:spcPts val="2799"/>
              </a:lnSpc>
            </a:pPr>
            <a:r>
              <a:rPr lang="en-US" sz="1999">
                <a:solidFill>
                  <a:srgbClr val="000000"/>
                </a:solidFill>
                <a:latin typeface="Roboto"/>
                <a:ea typeface="Roboto"/>
                <a:cs typeface="Roboto"/>
                <a:sym typeface="Roboto"/>
              </a:rPr>
              <a:t>Precision: 0.99</a:t>
            </a:r>
          </a:p>
          <a:p>
            <a:pPr algn="l">
              <a:lnSpc>
                <a:spcPts val="2799"/>
              </a:lnSpc>
            </a:pPr>
            <a:r>
              <a:rPr lang="en-US" sz="1999">
                <a:solidFill>
                  <a:srgbClr val="000000"/>
                </a:solidFill>
                <a:latin typeface="Roboto"/>
                <a:ea typeface="Roboto"/>
                <a:cs typeface="Roboto"/>
                <a:sym typeface="Roboto"/>
              </a:rPr>
              <a:t>Recall: 0.96</a:t>
            </a:r>
          </a:p>
          <a:p>
            <a:pPr algn="l">
              <a:lnSpc>
                <a:spcPts val="2799"/>
              </a:lnSpc>
            </a:pPr>
            <a:r>
              <a:rPr lang="en-US" sz="1999">
                <a:solidFill>
                  <a:srgbClr val="000000"/>
                </a:solidFill>
                <a:latin typeface="Roboto"/>
                <a:ea typeface="Roboto"/>
                <a:cs typeface="Roboto"/>
                <a:sym typeface="Roboto"/>
              </a:rPr>
              <a:t>F1 Score: 0.97</a:t>
            </a:r>
          </a:p>
          <a:p>
            <a:pPr algn="l">
              <a:lnSpc>
                <a:spcPts val="2799"/>
              </a:lnSpc>
            </a:pPr>
            <a:endParaRPr lang="en-US" sz="1999">
              <a:solidFill>
                <a:srgbClr val="000000"/>
              </a:solidFill>
              <a:latin typeface="Roboto"/>
              <a:ea typeface="Roboto"/>
              <a:cs typeface="Roboto"/>
              <a:sym typeface="Roboto"/>
            </a:endParaRPr>
          </a:p>
          <a:p>
            <a:pPr algn="l">
              <a:lnSpc>
                <a:spcPts val="2799"/>
              </a:lnSpc>
            </a:pPr>
            <a:r>
              <a:rPr lang="en-US" sz="1999" b="1">
                <a:solidFill>
                  <a:srgbClr val="000000"/>
                </a:solidFill>
                <a:latin typeface="Roboto Bold"/>
                <a:ea typeface="Roboto Bold"/>
                <a:cs typeface="Roboto Bold"/>
                <a:sym typeface="Roboto Bold"/>
              </a:rPr>
              <a:t>Dog:</a:t>
            </a:r>
          </a:p>
          <a:p>
            <a:pPr algn="l">
              <a:lnSpc>
                <a:spcPts val="2799"/>
              </a:lnSpc>
            </a:pPr>
            <a:r>
              <a:rPr lang="en-US" sz="1999">
                <a:solidFill>
                  <a:srgbClr val="000000"/>
                </a:solidFill>
                <a:latin typeface="Roboto"/>
                <a:ea typeface="Roboto"/>
                <a:cs typeface="Roboto"/>
                <a:sym typeface="Roboto"/>
              </a:rPr>
              <a:t>Precision: 0.96</a:t>
            </a:r>
          </a:p>
          <a:p>
            <a:pPr algn="l">
              <a:lnSpc>
                <a:spcPts val="2799"/>
              </a:lnSpc>
            </a:pPr>
            <a:r>
              <a:rPr lang="en-US" sz="1999">
                <a:solidFill>
                  <a:srgbClr val="000000"/>
                </a:solidFill>
                <a:latin typeface="Roboto"/>
                <a:ea typeface="Roboto"/>
                <a:cs typeface="Roboto"/>
                <a:sym typeface="Roboto"/>
              </a:rPr>
              <a:t>Recall: 0.99</a:t>
            </a:r>
          </a:p>
          <a:p>
            <a:pPr algn="l">
              <a:lnSpc>
                <a:spcPts val="2799"/>
              </a:lnSpc>
            </a:pPr>
            <a:r>
              <a:rPr lang="en-US" sz="1999">
                <a:solidFill>
                  <a:srgbClr val="000000"/>
                </a:solidFill>
                <a:latin typeface="Roboto"/>
                <a:ea typeface="Roboto"/>
                <a:cs typeface="Roboto"/>
                <a:sym typeface="Roboto"/>
              </a:rPr>
              <a:t>F1 Score: 0.97</a:t>
            </a:r>
          </a:p>
          <a:p>
            <a:pPr algn="l">
              <a:lnSpc>
                <a:spcPts val="2799"/>
              </a:lnSpc>
            </a:pPr>
            <a:endParaRPr lang="en-US" sz="1999">
              <a:solidFill>
                <a:srgbClr val="000000"/>
              </a:solidFill>
              <a:latin typeface="Roboto"/>
              <a:ea typeface="Roboto"/>
              <a:cs typeface="Roboto"/>
              <a:sym typeface="Roboto"/>
            </a:endParaRPr>
          </a:p>
          <a:p>
            <a:pPr algn="l">
              <a:lnSpc>
                <a:spcPts val="2799"/>
              </a:lnSpc>
            </a:pPr>
            <a:r>
              <a:rPr lang="en-US" sz="1999" b="1">
                <a:solidFill>
                  <a:srgbClr val="000000"/>
                </a:solidFill>
                <a:latin typeface="Roboto Bold"/>
                <a:ea typeface="Roboto Bold"/>
                <a:cs typeface="Roboto Bold"/>
                <a:sym typeface="Roboto Bold"/>
              </a:rPr>
              <a:t>Macro Avg:</a:t>
            </a:r>
          </a:p>
          <a:p>
            <a:pPr algn="l">
              <a:lnSpc>
                <a:spcPts val="2799"/>
              </a:lnSpc>
            </a:pPr>
            <a:r>
              <a:rPr lang="en-US" sz="1999">
                <a:solidFill>
                  <a:srgbClr val="000000"/>
                </a:solidFill>
                <a:latin typeface="Roboto"/>
                <a:ea typeface="Roboto"/>
                <a:cs typeface="Roboto"/>
                <a:sym typeface="Roboto"/>
              </a:rPr>
              <a:t>Precision: 0.97</a:t>
            </a:r>
          </a:p>
          <a:p>
            <a:pPr algn="l">
              <a:lnSpc>
                <a:spcPts val="2799"/>
              </a:lnSpc>
            </a:pPr>
            <a:r>
              <a:rPr lang="en-US" sz="1999">
                <a:solidFill>
                  <a:srgbClr val="000000"/>
                </a:solidFill>
                <a:latin typeface="Roboto"/>
                <a:ea typeface="Roboto"/>
                <a:cs typeface="Roboto"/>
                <a:sym typeface="Roboto"/>
              </a:rPr>
              <a:t>Recall: 0.97</a:t>
            </a:r>
          </a:p>
          <a:p>
            <a:pPr algn="l">
              <a:lnSpc>
                <a:spcPts val="2799"/>
              </a:lnSpc>
            </a:pPr>
            <a:r>
              <a:rPr lang="en-US" sz="1999">
                <a:solidFill>
                  <a:srgbClr val="000000"/>
                </a:solidFill>
                <a:latin typeface="Roboto"/>
                <a:ea typeface="Roboto"/>
                <a:cs typeface="Roboto"/>
                <a:sym typeface="Roboto"/>
              </a:rPr>
              <a:t>F1 Score: 0.97</a:t>
            </a:r>
          </a:p>
        </p:txBody>
      </p:sp>
      <p:sp>
        <p:nvSpPr>
          <p:cNvPr id="16" name="Freeform 16"/>
          <p:cNvSpPr/>
          <p:nvPr/>
        </p:nvSpPr>
        <p:spPr>
          <a:xfrm>
            <a:off x="9335553" y="3353046"/>
            <a:ext cx="6176556" cy="5080325"/>
          </a:xfrm>
          <a:custGeom>
            <a:avLst/>
            <a:gdLst/>
            <a:ahLst/>
            <a:cxnLst/>
            <a:rect l="l" t="t" r="r" b="b"/>
            <a:pathLst>
              <a:path w="6176556" h="5080325">
                <a:moveTo>
                  <a:pt x="0" y="0"/>
                </a:moveTo>
                <a:lnTo>
                  <a:pt x="6176556" y="0"/>
                </a:lnTo>
                <a:lnTo>
                  <a:pt x="6176556" y="5080325"/>
                </a:lnTo>
                <a:lnTo>
                  <a:pt x="0" y="5080325"/>
                </a:lnTo>
                <a:lnTo>
                  <a:pt x="0" y="0"/>
                </a:lnTo>
                <a:close/>
              </a:path>
            </a:pathLst>
          </a:custGeom>
          <a:blipFill>
            <a:blip r:embed="rId2"/>
            <a:stretch>
              <a:fillRect l="-174367" t="-69642" r="-24913" b="-35028"/>
            </a:stretch>
          </a:blipFill>
        </p:spPr>
      </p:sp>
      <p:sp>
        <p:nvSpPr>
          <p:cNvPr id="17" name="TextBox 17"/>
          <p:cNvSpPr txBox="1"/>
          <p:nvPr/>
        </p:nvSpPr>
        <p:spPr>
          <a:xfrm>
            <a:off x="15855851" y="3295896"/>
            <a:ext cx="2207460" cy="4940300"/>
          </a:xfrm>
          <a:prstGeom prst="rect">
            <a:avLst/>
          </a:prstGeom>
        </p:spPr>
        <p:txBody>
          <a:bodyPr lIns="0" tIns="0" rIns="0" bIns="0" rtlCol="0" anchor="t">
            <a:spAutoFit/>
          </a:bodyPr>
          <a:lstStyle/>
          <a:p>
            <a:pPr algn="l">
              <a:lnSpc>
                <a:spcPts val="2800"/>
              </a:lnSpc>
            </a:pPr>
            <a:r>
              <a:rPr lang="en-US" sz="2000" b="1">
                <a:solidFill>
                  <a:srgbClr val="000000"/>
                </a:solidFill>
                <a:latin typeface="Roboto Bold"/>
                <a:ea typeface="Roboto Bold"/>
                <a:cs typeface="Roboto Bold"/>
                <a:sym typeface="Roboto Bold"/>
              </a:rPr>
              <a:t>Cat:</a:t>
            </a:r>
          </a:p>
          <a:p>
            <a:pPr algn="l">
              <a:lnSpc>
                <a:spcPts val="2800"/>
              </a:lnSpc>
            </a:pPr>
            <a:r>
              <a:rPr lang="en-US" sz="2000">
                <a:solidFill>
                  <a:srgbClr val="000000"/>
                </a:solidFill>
                <a:latin typeface="Roboto"/>
                <a:ea typeface="Roboto"/>
                <a:cs typeface="Roboto"/>
                <a:sym typeface="Roboto"/>
              </a:rPr>
              <a:t>Precision: 0.66</a:t>
            </a:r>
          </a:p>
          <a:p>
            <a:pPr algn="l">
              <a:lnSpc>
                <a:spcPts val="2800"/>
              </a:lnSpc>
            </a:pPr>
            <a:r>
              <a:rPr lang="en-US" sz="2000">
                <a:solidFill>
                  <a:srgbClr val="000000"/>
                </a:solidFill>
                <a:latin typeface="Roboto"/>
                <a:ea typeface="Roboto"/>
                <a:cs typeface="Roboto"/>
                <a:sym typeface="Roboto"/>
              </a:rPr>
              <a:t>Recall: 0.56</a:t>
            </a:r>
          </a:p>
          <a:p>
            <a:pPr algn="l">
              <a:lnSpc>
                <a:spcPts val="2800"/>
              </a:lnSpc>
            </a:pPr>
            <a:r>
              <a:rPr lang="en-US" sz="2000">
                <a:solidFill>
                  <a:srgbClr val="000000"/>
                </a:solidFill>
                <a:latin typeface="Roboto"/>
                <a:ea typeface="Roboto"/>
                <a:cs typeface="Roboto"/>
                <a:sym typeface="Roboto"/>
              </a:rPr>
              <a:t>F1 Score: 0.61</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Dog:</a:t>
            </a:r>
          </a:p>
          <a:p>
            <a:pPr algn="l">
              <a:lnSpc>
                <a:spcPts val="2800"/>
              </a:lnSpc>
            </a:pPr>
            <a:r>
              <a:rPr lang="en-US" sz="2000">
                <a:solidFill>
                  <a:srgbClr val="000000"/>
                </a:solidFill>
                <a:latin typeface="Roboto"/>
                <a:ea typeface="Roboto"/>
                <a:cs typeface="Roboto"/>
                <a:sym typeface="Roboto"/>
              </a:rPr>
              <a:t>Precision: 0.62</a:t>
            </a:r>
          </a:p>
          <a:p>
            <a:pPr algn="l">
              <a:lnSpc>
                <a:spcPts val="2800"/>
              </a:lnSpc>
            </a:pPr>
            <a:r>
              <a:rPr lang="en-US" sz="2000">
                <a:solidFill>
                  <a:srgbClr val="000000"/>
                </a:solidFill>
                <a:latin typeface="Roboto"/>
                <a:ea typeface="Roboto"/>
                <a:cs typeface="Roboto"/>
                <a:sym typeface="Roboto"/>
              </a:rPr>
              <a:t>Recall: 0.71</a:t>
            </a:r>
          </a:p>
          <a:p>
            <a:pPr algn="l">
              <a:lnSpc>
                <a:spcPts val="2800"/>
              </a:lnSpc>
            </a:pPr>
            <a:r>
              <a:rPr lang="en-US" sz="2000">
                <a:solidFill>
                  <a:srgbClr val="000000"/>
                </a:solidFill>
                <a:latin typeface="Roboto"/>
                <a:ea typeface="Roboto"/>
                <a:cs typeface="Roboto"/>
                <a:sym typeface="Roboto"/>
              </a:rPr>
              <a:t>F1 Score: 0.66</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Macro Avg:</a:t>
            </a:r>
          </a:p>
          <a:p>
            <a:pPr algn="l">
              <a:lnSpc>
                <a:spcPts val="2800"/>
              </a:lnSpc>
            </a:pPr>
            <a:r>
              <a:rPr lang="en-US" sz="2000">
                <a:solidFill>
                  <a:srgbClr val="000000"/>
                </a:solidFill>
                <a:latin typeface="Roboto"/>
                <a:ea typeface="Roboto"/>
                <a:cs typeface="Roboto"/>
                <a:sym typeface="Roboto"/>
              </a:rPr>
              <a:t>Precision: 0.64</a:t>
            </a:r>
          </a:p>
          <a:p>
            <a:pPr algn="l">
              <a:lnSpc>
                <a:spcPts val="2800"/>
              </a:lnSpc>
            </a:pPr>
            <a:r>
              <a:rPr lang="en-US" sz="2000">
                <a:solidFill>
                  <a:srgbClr val="000000"/>
                </a:solidFill>
                <a:latin typeface="Roboto"/>
                <a:ea typeface="Roboto"/>
                <a:cs typeface="Roboto"/>
                <a:sym typeface="Roboto"/>
              </a:rPr>
              <a:t>Recall: 0.64</a:t>
            </a:r>
          </a:p>
          <a:p>
            <a:pPr algn="l">
              <a:lnSpc>
                <a:spcPts val="2800"/>
              </a:lnSpc>
            </a:pPr>
            <a:r>
              <a:rPr lang="en-US" sz="2000">
                <a:solidFill>
                  <a:srgbClr val="000000"/>
                </a:solidFill>
                <a:latin typeface="Roboto"/>
                <a:ea typeface="Roboto"/>
                <a:cs typeface="Roboto"/>
                <a:sym typeface="Roboto"/>
              </a:rPr>
              <a:t>F1 Score: 0.64</a:t>
            </a:r>
          </a:p>
        </p:txBody>
      </p:sp>
      <p:sp>
        <p:nvSpPr>
          <p:cNvPr id="18" name="TextBox 18"/>
          <p:cNvSpPr txBox="1"/>
          <p:nvPr/>
        </p:nvSpPr>
        <p:spPr>
          <a:xfrm>
            <a:off x="13335000" y="1559488"/>
            <a:ext cx="3924300" cy="436017"/>
          </a:xfrm>
          <a:prstGeom prst="rect">
            <a:avLst/>
          </a:prstGeom>
        </p:spPr>
        <p:txBody>
          <a:bodyPr wrap="square" lIns="0" tIns="0" rIns="0" bIns="0" rtlCol="0" anchor="t">
            <a:spAutoFit/>
          </a:bodyPr>
          <a:lstStyle/>
          <a:p>
            <a:pPr algn="r">
              <a:lnSpc>
                <a:spcPts val="3359"/>
              </a:lnSpc>
            </a:pPr>
            <a:r>
              <a:rPr lang="en-US" sz="2399" dirty="0" err="1">
                <a:solidFill>
                  <a:srgbClr val="000000"/>
                </a:solidFill>
                <a:latin typeface="Roboto"/>
                <a:ea typeface="Roboto"/>
                <a:cs typeface="Roboto"/>
                <a:sym typeface="Roboto"/>
              </a:rPr>
              <a:t>Veri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Seti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Kedi-Köpek</a:t>
            </a:r>
            <a:endParaRPr lang="en-US" sz="2399" dirty="0">
              <a:solidFill>
                <a:srgbClr val="000000"/>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
        <p:nvSpPr>
          <p:cNvPr id="9" name="TextBox 9"/>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0" name="TextBox 10"/>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Deneysel Çalışma</a:t>
            </a:r>
          </a:p>
        </p:txBody>
      </p:sp>
      <p:sp>
        <p:nvSpPr>
          <p:cNvPr id="11" name="TextBox 11"/>
          <p:cNvSpPr txBox="1"/>
          <p:nvPr/>
        </p:nvSpPr>
        <p:spPr>
          <a:xfrm>
            <a:off x="1028700" y="1609804"/>
            <a:ext cx="11643597" cy="834390"/>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Roboto Bold"/>
                <a:ea typeface="Roboto Bold"/>
                <a:cs typeface="Roboto Bold"/>
                <a:sym typeface="Roboto Bold"/>
              </a:rPr>
              <a:t>Test 3:  Son Katmanı Değiştirilmiş ve Son 3 Katmanı Değiştirilmiş Resnet Mimarilerinin Karşılaştırılması</a:t>
            </a:r>
          </a:p>
        </p:txBody>
      </p:sp>
      <p:sp>
        <p:nvSpPr>
          <p:cNvPr id="12" name="TextBox 12"/>
          <p:cNvSpPr txBox="1"/>
          <p:nvPr/>
        </p:nvSpPr>
        <p:spPr>
          <a:xfrm>
            <a:off x="15698035" y="4198070"/>
            <a:ext cx="2250712" cy="4940300"/>
          </a:xfrm>
          <a:prstGeom prst="rect">
            <a:avLst/>
          </a:prstGeom>
        </p:spPr>
        <p:txBody>
          <a:bodyPr lIns="0" tIns="0" rIns="0" bIns="0" rtlCol="0" anchor="t">
            <a:spAutoFit/>
          </a:bodyPr>
          <a:lstStyle/>
          <a:p>
            <a:pPr algn="l">
              <a:lnSpc>
                <a:spcPts val="2800"/>
              </a:lnSpc>
            </a:pPr>
            <a:r>
              <a:rPr lang="en-US" sz="2000" b="1">
                <a:solidFill>
                  <a:srgbClr val="000000"/>
                </a:solidFill>
                <a:latin typeface="Roboto Bold"/>
                <a:ea typeface="Roboto Bold"/>
                <a:cs typeface="Roboto Bold"/>
                <a:sym typeface="Roboto Bold"/>
              </a:rPr>
              <a:t>Cat:</a:t>
            </a:r>
          </a:p>
          <a:p>
            <a:pPr algn="l">
              <a:lnSpc>
                <a:spcPts val="2800"/>
              </a:lnSpc>
            </a:pPr>
            <a:r>
              <a:rPr lang="en-US" sz="2000">
                <a:solidFill>
                  <a:srgbClr val="000000"/>
                </a:solidFill>
                <a:latin typeface="Roboto"/>
                <a:ea typeface="Roboto"/>
                <a:cs typeface="Roboto"/>
                <a:sym typeface="Roboto"/>
              </a:rPr>
              <a:t>Precision: 0.96</a:t>
            </a:r>
          </a:p>
          <a:p>
            <a:pPr algn="l">
              <a:lnSpc>
                <a:spcPts val="2800"/>
              </a:lnSpc>
            </a:pPr>
            <a:r>
              <a:rPr lang="en-US" sz="2000">
                <a:solidFill>
                  <a:srgbClr val="000000"/>
                </a:solidFill>
                <a:latin typeface="Roboto"/>
                <a:ea typeface="Roboto"/>
                <a:cs typeface="Roboto"/>
                <a:sym typeface="Roboto"/>
              </a:rPr>
              <a:t>Recall: 0.92</a:t>
            </a:r>
          </a:p>
          <a:p>
            <a:pPr algn="l">
              <a:lnSpc>
                <a:spcPts val="2800"/>
              </a:lnSpc>
            </a:pPr>
            <a:r>
              <a:rPr lang="en-US" sz="2000">
                <a:solidFill>
                  <a:srgbClr val="000000"/>
                </a:solidFill>
                <a:latin typeface="Roboto"/>
                <a:ea typeface="Roboto"/>
                <a:cs typeface="Roboto"/>
                <a:sym typeface="Roboto"/>
              </a:rPr>
              <a:t>F1 Score: 0.94</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Dog:</a:t>
            </a:r>
          </a:p>
          <a:p>
            <a:pPr algn="l">
              <a:lnSpc>
                <a:spcPts val="2800"/>
              </a:lnSpc>
            </a:pPr>
            <a:r>
              <a:rPr lang="en-US" sz="2000">
                <a:solidFill>
                  <a:srgbClr val="000000"/>
                </a:solidFill>
                <a:latin typeface="Roboto"/>
                <a:ea typeface="Roboto"/>
                <a:cs typeface="Roboto"/>
                <a:sym typeface="Roboto"/>
              </a:rPr>
              <a:t>Precision: 0.93</a:t>
            </a:r>
          </a:p>
          <a:p>
            <a:pPr algn="l">
              <a:lnSpc>
                <a:spcPts val="2800"/>
              </a:lnSpc>
            </a:pPr>
            <a:r>
              <a:rPr lang="en-US" sz="2000">
                <a:solidFill>
                  <a:srgbClr val="000000"/>
                </a:solidFill>
                <a:latin typeface="Roboto"/>
                <a:ea typeface="Roboto"/>
                <a:cs typeface="Roboto"/>
                <a:sym typeface="Roboto"/>
              </a:rPr>
              <a:t>Recall: 0.96</a:t>
            </a:r>
          </a:p>
          <a:p>
            <a:pPr algn="l">
              <a:lnSpc>
                <a:spcPts val="2800"/>
              </a:lnSpc>
            </a:pPr>
            <a:r>
              <a:rPr lang="en-US" sz="2000">
                <a:solidFill>
                  <a:srgbClr val="000000"/>
                </a:solidFill>
                <a:latin typeface="Roboto"/>
                <a:ea typeface="Roboto"/>
                <a:cs typeface="Roboto"/>
                <a:sym typeface="Roboto"/>
              </a:rPr>
              <a:t>F1 Score: 0.94</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Macro Avg:</a:t>
            </a:r>
          </a:p>
          <a:p>
            <a:pPr algn="l">
              <a:lnSpc>
                <a:spcPts val="2800"/>
              </a:lnSpc>
            </a:pPr>
            <a:r>
              <a:rPr lang="en-US" sz="2000">
                <a:solidFill>
                  <a:srgbClr val="000000"/>
                </a:solidFill>
                <a:latin typeface="Roboto"/>
                <a:ea typeface="Roboto"/>
                <a:cs typeface="Roboto"/>
                <a:sym typeface="Roboto"/>
              </a:rPr>
              <a:t>Precision: 0.94</a:t>
            </a:r>
          </a:p>
          <a:p>
            <a:pPr algn="l">
              <a:lnSpc>
                <a:spcPts val="2800"/>
              </a:lnSpc>
            </a:pPr>
            <a:r>
              <a:rPr lang="en-US" sz="2000">
                <a:solidFill>
                  <a:srgbClr val="000000"/>
                </a:solidFill>
                <a:latin typeface="Roboto"/>
                <a:ea typeface="Roboto"/>
                <a:cs typeface="Roboto"/>
                <a:sym typeface="Roboto"/>
              </a:rPr>
              <a:t>Recall: 0.94</a:t>
            </a:r>
          </a:p>
          <a:p>
            <a:pPr algn="l">
              <a:lnSpc>
                <a:spcPts val="2800"/>
              </a:lnSpc>
            </a:pPr>
            <a:r>
              <a:rPr lang="en-US" sz="2000">
                <a:solidFill>
                  <a:srgbClr val="000000"/>
                </a:solidFill>
                <a:latin typeface="Roboto"/>
                <a:ea typeface="Roboto"/>
                <a:cs typeface="Roboto"/>
                <a:sym typeface="Roboto"/>
              </a:rPr>
              <a:t>F1 Score: 0.94</a:t>
            </a:r>
          </a:p>
        </p:txBody>
      </p:sp>
      <p:sp>
        <p:nvSpPr>
          <p:cNvPr id="13" name="Freeform 13"/>
          <p:cNvSpPr/>
          <p:nvPr/>
        </p:nvSpPr>
        <p:spPr>
          <a:xfrm>
            <a:off x="9456294" y="4255220"/>
            <a:ext cx="5860742" cy="4793038"/>
          </a:xfrm>
          <a:custGeom>
            <a:avLst/>
            <a:gdLst/>
            <a:ahLst/>
            <a:cxnLst/>
            <a:rect l="l" t="t" r="r" b="b"/>
            <a:pathLst>
              <a:path w="5860742" h="4793038">
                <a:moveTo>
                  <a:pt x="0" y="0"/>
                </a:moveTo>
                <a:lnTo>
                  <a:pt x="5860741" y="0"/>
                </a:lnTo>
                <a:lnTo>
                  <a:pt x="5860741" y="4793038"/>
                </a:lnTo>
                <a:lnTo>
                  <a:pt x="0" y="4793038"/>
                </a:lnTo>
                <a:lnTo>
                  <a:pt x="0" y="0"/>
                </a:lnTo>
                <a:close/>
              </a:path>
            </a:pathLst>
          </a:custGeom>
          <a:blipFill>
            <a:blip r:embed="rId2"/>
            <a:stretch>
              <a:fillRect l="-60766" t="-69340" r="-127701" b="-29069"/>
            </a:stretch>
          </a:blipFill>
        </p:spPr>
      </p:sp>
      <p:sp>
        <p:nvSpPr>
          <p:cNvPr id="14" name="Freeform 14"/>
          <p:cNvSpPr/>
          <p:nvPr/>
        </p:nvSpPr>
        <p:spPr>
          <a:xfrm>
            <a:off x="960100" y="4031582"/>
            <a:ext cx="6049284" cy="4893557"/>
          </a:xfrm>
          <a:custGeom>
            <a:avLst/>
            <a:gdLst/>
            <a:ahLst/>
            <a:cxnLst/>
            <a:rect l="l" t="t" r="r" b="b"/>
            <a:pathLst>
              <a:path w="6049284" h="4893557">
                <a:moveTo>
                  <a:pt x="0" y="0"/>
                </a:moveTo>
                <a:lnTo>
                  <a:pt x="6049284" y="0"/>
                </a:lnTo>
                <a:lnTo>
                  <a:pt x="6049284" y="4893557"/>
                </a:lnTo>
                <a:lnTo>
                  <a:pt x="0" y="4893557"/>
                </a:lnTo>
                <a:lnTo>
                  <a:pt x="0" y="0"/>
                </a:lnTo>
                <a:close/>
              </a:path>
            </a:pathLst>
          </a:custGeom>
          <a:blipFill>
            <a:blip r:embed="rId3"/>
            <a:stretch>
              <a:fillRect l="-59693" t="-69630" r="-134600" b="-35005"/>
            </a:stretch>
          </a:blipFill>
        </p:spPr>
      </p:sp>
      <p:sp>
        <p:nvSpPr>
          <p:cNvPr id="15" name="TextBox 15"/>
          <p:cNvSpPr txBox="1"/>
          <p:nvPr/>
        </p:nvSpPr>
        <p:spPr>
          <a:xfrm>
            <a:off x="994400" y="2779996"/>
            <a:ext cx="6353374" cy="834390"/>
          </a:xfrm>
          <a:prstGeom prst="rect">
            <a:avLst/>
          </a:prstGeom>
        </p:spPr>
        <p:txBody>
          <a:bodyPr lIns="0" tIns="0" rIns="0" bIns="0" rtlCol="0" anchor="t">
            <a:spAutoFit/>
          </a:bodyPr>
          <a:lstStyle/>
          <a:p>
            <a:pPr algn="l">
              <a:lnSpc>
                <a:spcPts val="3359"/>
              </a:lnSpc>
              <a:spcBef>
                <a:spcPct val="0"/>
              </a:spcBef>
            </a:pPr>
            <a:r>
              <a:rPr lang="en-US" sz="2399" dirty="0">
                <a:solidFill>
                  <a:srgbClr val="000000"/>
                </a:solidFill>
                <a:latin typeface="Roboto"/>
                <a:ea typeface="Roboto"/>
                <a:cs typeface="Roboto"/>
                <a:sym typeface="Roboto"/>
              </a:rPr>
              <a:t>Model </a:t>
            </a:r>
            <a:r>
              <a:rPr lang="en-US" sz="2399" dirty="0" err="1">
                <a:solidFill>
                  <a:srgbClr val="000000"/>
                </a:solidFill>
                <a:latin typeface="Roboto"/>
                <a:ea typeface="Roboto"/>
                <a:cs typeface="Roboto"/>
                <a:sym typeface="Roboto"/>
              </a:rPr>
              <a:t>Mimarisi</a:t>
            </a:r>
            <a:r>
              <a:rPr lang="en-US" sz="2399" dirty="0">
                <a:solidFill>
                  <a:srgbClr val="000000"/>
                </a:solidFill>
                <a:latin typeface="Roboto"/>
                <a:ea typeface="Roboto"/>
                <a:cs typeface="Roboto"/>
                <a:sym typeface="Roboto"/>
              </a:rPr>
              <a:t>: ResNet18 - Son </a:t>
            </a:r>
            <a:r>
              <a:rPr lang="en-US" sz="2399" dirty="0" err="1">
                <a:solidFill>
                  <a:srgbClr val="000000"/>
                </a:solidFill>
                <a:latin typeface="Roboto"/>
                <a:ea typeface="Roboto"/>
                <a:cs typeface="Roboto"/>
                <a:sym typeface="Roboto"/>
              </a:rPr>
              <a:t>Katmanı</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Değiştirilmiş</a:t>
            </a:r>
            <a:endParaRPr lang="en-US" sz="2399" dirty="0">
              <a:solidFill>
                <a:srgbClr val="000000"/>
              </a:solidFill>
              <a:latin typeface="Roboto"/>
              <a:ea typeface="Roboto"/>
              <a:cs typeface="Roboto"/>
              <a:sym typeface="Roboto"/>
            </a:endParaRPr>
          </a:p>
        </p:txBody>
      </p:sp>
      <p:sp>
        <p:nvSpPr>
          <p:cNvPr id="16" name="TextBox 16"/>
          <p:cNvSpPr txBox="1"/>
          <p:nvPr/>
        </p:nvSpPr>
        <p:spPr>
          <a:xfrm>
            <a:off x="9784372" y="2779996"/>
            <a:ext cx="6433344" cy="834390"/>
          </a:xfrm>
          <a:prstGeom prst="rect">
            <a:avLst/>
          </a:prstGeom>
        </p:spPr>
        <p:txBody>
          <a:bodyPr lIns="0" tIns="0" rIns="0" bIns="0" rtlCol="0" anchor="t">
            <a:spAutoFit/>
          </a:bodyPr>
          <a:lstStyle/>
          <a:p>
            <a:pPr algn="l">
              <a:lnSpc>
                <a:spcPts val="3359"/>
              </a:lnSpc>
              <a:spcBef>
                <a:spcPct val="0"/>
              </a:spcBef>
            </a:pPr>
            <a:r>
              <a:rPr lang="en-US" sz="2399" dirty="0">
                <a:solidFill>
                  <a:srgbClr val="000000"/>
                </a:solidFill>
                <a:latin typeface="Roboto"/>
                <a:ea typeface="Roboto"/>
                <a:cs typeface="Roboto"/>
                <a:sym typeface="Roboto"/>
              </a:rPr>
              <a:t>Model </a:t>
            </a:r>
            <a:r>
              <a:rPr lang="en-US" sz="2399" dirty="0" err="1">
                <a:solidFill>
                  <a:srgbClr val="000000"/>
                </a:solidFill>
                <a:latin typeface="Roboto"/>
                <a:ea typeface="Roboto"/>
                <a:cs typeface="Roboto"/>
                <a:sym typeface="Roboto"/>
              </a:rPr>
              <a:t>Mimarisi</a:t>
            </a:r>
            <a:r>
              <a:rPr lang="en-US" sz="2399" dirty="0">
                <a:solidFill>
                  <a:srgbClr val="000000"/>
                </a:solidFill>
                <a:latin typeface="Roboto"/>
                <a:ea typeface="Roboto"/>
                <a:cs typeface="Roboto"/>
                <a:sym typeface="Roboto"/>
              </a:rPr>
              <a:t>: ResNet18 - Layer4, </a:t>
            </a:r>
            <a:r>
              <a:rPr lang="en-US" sz="2399" dirty="0" err="1">
                <a:solidFill>
                  <a:srgbClr val="000000"/>
                </a:solidFill>
                <a:latin typeface="Roboto"/>
                <a:ea typeface="Roboto"/>
                <a:cs typeface="Roboto"/>
                <a:sym typeface="Roboto"/>
              </a:rPr>
              <a:t>avgpool</a:t>
            </a:r>
            <a:r>
              <a:rPr lang="en-US" sz="2399" dirty="0">
                <a:solidFill>
                  <a:srgbClr val="000000"/>
                </a:solidFill>
                <a:latin typeface="Roboto"/>
                <a:ea typeface="Roboto"/>
                <a:cs typeface="Roboto"/>
                <a:sym typeface="Roboto"/>
              </a:rPr>
              <a:t>, fc </a:t>
            </a:r>
            <a:r>
              <a:rPr lang="en-US" sz="2399" dirty="0" err="1">
                <a:solidFill>
                  <a:srgbClr val="000000"/>
                </a:solidFill>
                <a:latin typeface="Roboto"/>
                <a:ea typeface="Roboto"/>
                <a:cs typeface="Roboto"/>
                <a:sym typeface="Roboto"/>
              </a:rPr>
              <a:t>Katmanları</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Değiştirilmiş</a:t>
            </a:r>
            <a:r>
              <a:rPr lang="en-US" sz="2399" dirty="0">
                <a:solidFill>
                  <a:srgbClr val="000000"/>
                </a:solidFill>
                <a:latin typeface="Roboto"/>
                <a:ea typeface="Roboto"/>
                <a:cs typeface="Roboto"/>
                <a:sym typeface="Roboto"/>
              </a:rPr>
              <a:t> </a:t>
            </a:r>
          </a:p>
        </p:txBody>
      </p:sp>
      <p:sp>
        <p:nvSpPr>
          <p:cNvPr id="17" name="TextBox 17"/>
          <p:cNvSpPr txBox="1"/>
          <p:nvPr/>
        </p:nvSpPr>
        <p:spPr>
          <a:xfrm>
            <a:off x="9784372" y="3672059"/>
            <a:ext cx="3855428" cy="436017"/>
          </a:xfrm>
          <a:prstGeom prst="rect">
            <a:avLst/>
          </a:prstGeom>
        </p:spPr>
        <p:txBody>
          <a:bodyPr wrap="square" lIns="0" tIns="0" rIns="0" bIns="0" rtlCol="0" anchor="t">
            <a:spAutoFit/>
          </a:bodyPr>
          <a:lstStyle/>
          <a:p>
            <a:pPr algn="l">
              <a:lnSpc>
                <a:spcPts val="3359"/>
              </a:lnSpc>
              <a:spcBef>
                <a:spcPct val="0"/>
              </a:spcBef>
            </a:pPr>
            <a:r>
              <a:rPr lang="en-US" sz="2400" dirty="0">
                <a:solidFill>
                  <a:srgbClr val="000000"/>
                </a:solidFill>
                <a:latin typeface="Roboto"/>
                <a:ea typeface="Roboto"/>
                <a:cs typeface="Roboto"/>
                <a:sym typeface="Roboto"/>
              </a:rPr>
              <a:t>Accuracy: 94.91%</a:t>
            </a:r>
          </a:p>
        </p:txBody>
      </p:sp>
      <p:sp>
        <p:nvSpPr>
          <p:cNvPr id="18" name="TextBox 18"/>
          <p:cNvSpPr txBox="1"/>
          <p:nvPr/>
        </p:nvSpPr>
        <p:spPr>
          <a:xfrm>
            <a:off x="994400" y="3585812"/>
            <a:ext cx="4000500" cy="436017"/>
          </a:xfrm>
          <a:prstGeom prst="rect">
            <a:avLst/>
          </a:prstGeom>
        </p:spPr>
        <p:txBody>
          <a:bodyPr wrap="square" lIns="0" tIns="0" rIns="0" bIns="0" rtlCol="0" anchor="t">
            <a:spAutoFit/>
          </a:bodyPr>
          <a:lstStyle/>
          <a:p>
            <a:pPr>
              <a:lnSpc>
                <a:spcPts val="3359"/>
              </a:lnSpc>
              <a:spcBef>
                <a:spcPct val="0"/>
              </a:spcBef>
            </a:pPr>
            <a:r>
              <a:rPr lang="en-US" sz="2400" dirty="0">
                <a:solidFill>
                  <a:srgbClr val="000000"/>
                </a:solidFill>
                <a:latin typeface="Roboto"/>
                <a:ea typeface="Roboto"/>
                <a:cs typeface="Roboto"/>
                <a:sym typeface="Roboto"/>
              </a:rPr>
              <a:t>Accuracy</a:t>
            </a:r>
            <a:r>
              <a:rPr lang="en-US" sz="2400" dirty="0" smtClean="0">
                <a:solidFill>
                  <a:srgbClr val="000000"/>
                </a:solidFill>
                <a:latin typeface="Roboto"/>
                <a:ea typeface="Roboto"/>
                <a:cs typeface="Roboto"/>
                <a:sym typeface="Roboto"/>
              </a:rPr>
              <a:t>:</a:t>
            </a:r>
            <a:r>
              <a:rPr lang="tr-TR" sz="2400" dirty="0" smtClean="0">
                <a:solidFill>
                  <a:srgbClr val="000000"/>
                </a:solidFill>
                <a:latin typeface="Roboto"/>
                <a:ea typeface="Roboto"/>
                <a:cs typeface="Roboto"/>
                <a:sym typeface="Roboto"/>
              </a:rPr>
              <a:t> </a:t>
            </a:r>
            <a:r>
              <a:rPr lang="en-US" sz="2400" dirty="0" smtClean="0">
                <a:solidFill>
                  <a:srgbClr val="000000"/>
                </a:solidFill>
                <a:latin typeface="Roboto"/>
                <a:ea typeface="Roboto"/>
                <a:cs typeface="Roboto"/>
                <a:sym typeface="Roboto"/>
              </a:rPr>
              <a:t>97.97</a:t>
            </a:r>
            <a:endParaRPr lang="en-US" sz="2400" dirty="0">
              <a:solidFill>
                <a:srgbClr val="000000"/>
              </a:solidFill>
              <a:latin typeface="Roboto"/>
              <a:ea typeface="Roboto"/>
              <a:cs typeface="Roboto"/>
              <a:sym typeface="Roboto"/>
            </a:endParaRPr>
          </a:p>
        </p:txBody>
      </p:sp>
      <p:sp>
        <p:nvSpPr>
          <p:cNvPr id="19" name="TextBox 19"/>
          <p:cNvSpPr txBox="1"/>
          <p:nvPr/>
        </p:nvSpPr>
        <p:spPr>
          <a:xfrm>
            <a:off x="14706600" y="1967944"/>
            <a:ext cx="2546247"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Epoch: 100</a:t>
            </a:r>
          </a:p>
        </p:txBody>
      </p:sp>
      <p:sp>
        <p:nvSpPr>
          <p:cNvPr id="20" name="TextBox 20"/>
          <p:cNvSpPr txBox="1"/>
          <p:nvPr/>
        </p:nvSpPr>
        <p:spPr>
          <a:xfrm>
            <a:off x="7171282" y="4052537"/>
            <a:ext cx="2250712" cy="4940300"/>
          </a:xfrm>
          <a:prstGeom prst="rect">
            <a:avLst/>
          </a:prstGeom>
        </p:spPr>
        <p:txBody>
          <a:bodyPr lIns="0" tIns="0" rIns="0" bIns="0" rtlCol="0" anchor="t">
            <a:spAutoFit/>
          </a:bodyPr>
          <a:lstStyle/>
          <a:p>
            <a:pPr algn="l">
              <a:lnSpc>
                <a:spcPts val="2800"/>
              </a:lnSpc>
            </a:pPr>
            <a:r>
              <a:rPr lang="en-US" sz="2000" b="1">
                <a:solidFill>
                  <a:srgbClr val="000000"/>
                </a:solidFill>
                <a:latin typeface="Roboto Bold"/>
                <a:ea typeface="Roboto Bold"/>
                <a:cs typeface="Roboto Bold"/>
                <a:sym typeface="Roboto Bold"/>
              </a:rPr>
              <a:t>Cat:</a:t>
            </a:r>
          </a:p>
          <a:p>
            <a:pPr algn="l">
              <a:lnSpc>
                <a:spcPts val="2800"/>
              </a:lnSpc>
            </a:pPr>
            <a:r>
              <a:rPr lang="en-US" sz="2000">
                <a:solidFill>
                  <a:srgbClr val="000000"/>
                </a:solidFill>
                <a:latin typeface="Roboto"/>
                <a:ea typeface="Roboto"/>
                <a:cs typeface="Roboto"/>
                <a:sym typeface="Roboto"/>
              </a:rPr>
              <a:t>Precision: 0.99</a:t>
            </a:r>
          </a:p>
          <a:p>
            <a:pPr algn="l">
              <a:lnSpc>
                <a:spcPts val="2800"/>
              </a:lnSpc>
            </a:pPr>
            <a:r>
              <a:rPr lang="en-US" sz="2000">
                <a:solidFill>
                  <a:srgbClr val="000000"/>
                </a:solidFill>
                <a:latin typeface="Roboto"/>
                <a:ea typeface="Roboto"/>
                <a:cs typeface="Roboto"/>
                <a:sym typeface="Roboto"/>
              </a:rPr>
              <a:t>Recall: 0.96</a:t>
            </a:r>
          </a:p>
          <a:p>
            <a:pPr algn="l">
              <a:lnSpc>
                <a:spcPts val="2800"/>
              </a:lnSpc>
            </a:pPr>
            <a:r>
              <a:rPr lang="en-US" sz="2000">
                <a:solidFill>
                  <a:srgbClr val="000000"/>
                </a:solidFill>
                <a:latin typeface="Roboto"/>
                <a:ea typeface="Roboto"/>
                <a:cs typeface="Roboto"/>
                <a:sym typeface="Roboto"/>
              </a:rPr>
              <a:t>F1 Score: 0.97</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Dog:</a:t>
            </a:r>
          </a:p>
          <a:p>
            <a:pPr algn="l">
              <a:lnSpc>
                <a:spcPts val="2800"/>
              </a:lnSpc>
            </a:pPr>
            <a:r>
              <a:rPr lang="en-US" sz="2000">
                <a:solidFill>
                  <a:srgbClr val="000000"/>
                </a:solidFill>
                <a:latin typeface="Roboto"/>
                <a:ea typeface="Roboto"/>
                <a:cs typeface="Roboto"/>
                <a:sym typeface="Roboto"/>
              </a:rPr>
              <a:t>Precision: 0.96</a:t>
            </a:r>
          </a:p>
          <a:p>
            <a:pPr algn="l">
              <a:lnSpc>
                <a:spcPts val="2800"/>
              </a:lnSpc>
            </a:pPr>
            <a:r>
              <a:rPr lang="en-US" sz="2000">
                <a:solidFill>
                  <a:srgbClr val="000000"/>
                </a:solidFill>
                <a:latin typeface="Roboto"/>
                <a:ea typeface="Roboto"/>
                <a:cs typeface="Roboto"/>
                <a:sym typeface="Roboto"/>
              </a:rPr>
              <a:t>Recall: 0.99</a:t>
            </a:r>
          </a:p>
          <a:p>
            <a:pPr algn="l">
              <a:lnSpc>
                <a:spcPts val="2800"/>
              </a:lnSpc>
            </a:pPr>
            <a:r>
              <a:rPr lang="en-US" sz="2000">
                <a:solidFill>
                  <a:srgbClr val="000000"/>
                </a:solidFill>
                <a:latin typeface="Roboto"/>
                <a:ea typeface="Roboto"/>
                <a:cs typeface="Roboto"/>
                <a:sym typeface="Roboto"/>
              </a:rPr>
              <a:t>F1 Score: 0.97</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Macro Avg:</a:t>
            </a:r>
          </a:p>
          <a:p>
            <a:pPr algn="l">
              <a:lnSpc>
                <a:spcPts val="2800"/>
              </a:lnSpc>
            </a:pPr>
            <a:r>
              <a:rPr lang="en-US" sz="2000">
                <a:solidFill>
                  <a:srgbClr val="000000"/>
                </a:solidFill>
                <a:latin typeface="Roboto"/>
                <a:ea typeface="Roboto"/>
                <a:cs typeface="Roboto"/>
                <a:sym typeface="Roboto"/>
              </a:rPr>
              <a:t>Precision: 0.97</a:t>
            </a:r>
          </a:p>
          <a:p>
            <a:pPr algn="l">
              <a:lnSpc>
                <a:spcPts val="2800"/>
              </a:lnSpc>
            </a:pPr>
            <a:r>
              <a:rPr lang="en-US" sz="2000">
                <a:solidFill>
                  <a:srgbClr val="000000"/>
                </a:solidFill>
                <a:latin typeface="Roboto"/>
                <a:ea typeface="Roboto"/>
                <a:cs typeface="Roboto"/>
                <a:sym typeface="Roboto"/>
              </a:rPr>
              <a:t>Recall: 0.97</a:t>
            </a:r>
          </a:p>
          <a:p>
            <a:pPr algn="l">
              <a:lnSpc>
                <a:spcPts val="2800"/>
              </a:lnSpc>
            </a:pPr>
            <a:r>
              <a:rPr lang="en-US" sz="2000">
                <a:solidFill>
                  <a:srgbClr val="000000"/>
                </a:solidFill>
                <a:latin typeface="Roboto"/>
                <a:ea typeface="Roboto"/>
                <a:cs typeface="Roboto"/>
                <a:sym typeface="Roboto"/>
              </a:rPr>
              <a:t>F1 Score: 0.97</a:t>
            </a:r>
          </a:p>
        </p:txBody>
      </p:sp>
      <p:sp>
        <p:nvSpPr>
          <p:cNvPr id="21" name="TextBox 21"/>
          <p:cNvSpPr txBox="1"/>
          <p:nvPr/>
        </p:nvSpPr>
        <p:spPr>
          <a:xfrm>
            <a:off x="13001044" y="1559488"/>
            <a:ext cx="4258256" cy="436017"/>
          </a:xfrm>
          <a:prstGeom prst="rect">
            <a:avLst/>
          </a:prstGeom>
        </p:spPr>
        <p:txBody>
          <a:bodyPr wrap="square" lIns="0" tIns="0" rIns="0" bIns="0" rtlCol="0" anchor="t">
            <a:spAutoFit/>
          </a:bodyPr>
          <a:lstStyle/>
          <a:p>
            <a:pPr algn="r">
              <a:lnSpc>
                <a:spcPts val="3359"/>
              </a:lnSpc>
            </a:pPr>
            <a:r>
              <a:rPr lang="en-US" sz="2399" dirty="0" err="1">
                <a:solidFill>
                  <a:srgbClr val="000000"/>
                </a:solidFill>
                <a:latin typeface="Roboto"/>
                <a:ea typeface="Roboto"/>
                <a:cs typeface="Roboto"/>
                <a:sym typeface="Roboto"/>
              </a:rPr>
              <a:t>Veri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Seti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Kedi-Köpek</a:t>
            </a:r>
            <a:endParaRPr lang="en-US" sz="2399" dirty="0">
              <a:solidFill>
                <a:srgbClr val="000000"/>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24</a:t>
            </a:r>
          </a:p>
        </p:txBody>
      </p:sp>
      <p:sp>
        <p:nvSpPr>
          <p:cNvPr id="9" name="TextBox 9"/>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0" name="TextBox 10"/>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Deneysel Çalışma</a:t>
            </a:r>
          </a:p>
        </p:txBody>
      </p:sp>
      <p:sp>
        <p:nvSpPr>
          <p:cNvPr id="11" name="TextBox 11"/>
          <p:cNvSpPr txBox="1"/>
          <p:nvPr/>
        </p:nvSpPr>
        <p:spPr>
          <a:xfrm>
            <a:off x="1028700" y="1609804"/>
            <a:ext cx="12029968" cy="415290"/>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Roboto Bold"/>
                <a:ea typeface="Roboto Bold"/>
                <a:cs typeface="Roboto Bold"/>
                <a:sym typeface="Roboto Bold"/>
              </a:rPr>
              <a:t>Test 4:  Resnet-18, DenseNet ve MobileNetV3 Model Mimarilerinin Karşılaştırılması</a:t>
            </a:r>
          </a:p>
        </p:txBody>
      </p:sp>
      <p:sp>
        <p:nvSpPr>
          <p:cNvPr id="12" name="Freeform 12"/>
          <p:cNvSpPr/>
          <p:nvPr/>
        </p:nvSpPr>
        <p:spPr>
          <a:xfrm>
            <a:off x="755612" y="3987532"/>
            <a:ext cx="5975046" cy="4694546"/>
          </a:xfrm>
          <a:custGeom>
            <a:avLst/>
            <a:gdLst/>
            <a:ahLst/>
            <a:cxnLst/>
            <a:rect l="l" t="t" r="r" b="b"/>
            <a:pathLst>
              <a:path w="5975046" h="4694546">
                <a:moveTo>
                  <a:pt x="0" y="0"/>
                </a:moveTo>
                <a:lnTo>
                  <a:pt x="5975046" y="0"/>
                </a:lnTo>
                <a:lnTo>
                  <a:pt x="5975046" y="4694546"/>
                </a:lnTo>
                <a:lnTo>
                  <a:pt x="0" y="4694546"/>
                </a:lnTo>
                <a:lnTo>
                  <a:pt x="0" y="0"/>
                </a:lnTo>
                <a:close/>
              </a:path>
            </a:pathLst>
          </a:custGeom>
          <a:blipFill>
            <a:blip r:embed="rId2"/>
            <a:stretch>
              <a:fillRect l="-49576" t="-65642" r="-131085" b="-35291"/>
            </a:stretch>
          </a:blipFill>
        </p:spPr>
      </p:sp>
      <p:sp>
        <p:nvSpPr>
          <p:cNvPr id="13" name="TextBox 13"/>
          <p:cNvSpPr txBox="1"/>
          <p:nvPr/>
        </p:nvSpPr>
        <p:spPr>
          <a:xfrm>
            <a:off x="7114918" y="3930382"/>
            <a:ext cx="1888762" cy="4940300"/>
          </a:xfrm>
          <a:prstGeom prst="rect">
            <a:avLst/>
          </a:prstGeom>
        </p:spPr>
        <p:txBody>
          <a:bodyPr lIns="0" tIns="0" rIns="0" bIns="0" rtlCol="0" anchor="t">
            <a:spAutoFit/>
          </a:bodyPr>
          <a:lstStyle/>
          <a:p>
            <a:pPr algn="l">
              <a:lnSpc>
                <a:spcPts val="2800"/>
              </a:lnSpc>
            </a:pPr>
            <a:r>
              <a:rPr lang="en-US" sz="2000" b="1">
                <a:solidFill>
                  <a:srgbClr val="000000"/>
                </a:solidFill>
                <a:latin typeface="Roboto Bold"/>
                <a:ea typeface="Roboto Bold"/>
                <a:cs typeface="Roboto Bold"/>
                <a:sym typeface="Roboto Bold"/>
              </a:rPr>
              <a:t>Cat:</a:t>
            </a:r>
          </a:p>
          <a:p>
            <a:pPr algn="l">
              <a:lnSpc>
                <a:spcPts val="2800"/>
              </a:lnSpc>
            </a:pPr>
            <a:r>
              <a:rPr lang="en-US" sz="2000">
                <a:solidFill>
                  <a:srgbClr val="000000"/>
                </a:solidFill>
                <a:latin typeface="Roboto"/>
                <a:ea typeface="Roboto"/>
                <a:cs typeface="Roboto"/>
                <a:sym typeface="Roboto"/>
              </a:rPr>
              <a:t>Precision: 0.93</a:t>
            </a:r>
          </a:p>
          <a:p>
            <a:pPr algn="l">
              <a:lnSpc>
                <a:spcPts val="2800"/>
              </a:lnSpc>
            </a:pPr>
            <a:r>
              <a:rPr lang="en-US" sz="2000">
                <a:solidFill>
                  <a:srgbClr val="000000"/>
                </a:solidFill>
                <a:latin typeface="Roboto"/>
                <a:ea typeface="Roboto"/>
                <a:cs typeface="Roboto"/>
                <a:sym typeface="Roboto"/>
              </a:rPr>
              <a:t>Recall: 1.00</a:t>
            </a:r>
          </a:p>
          <a:p>
            <a:pPr algn="l">
              <a:lnSpc>
                <a:spcPts val="2800"/>
              </a:lnSpc>
            </a:pPr>
            <a:r>
              <a:rPr lang="en-US" sz="2000">
                <a:solidFill>
                  <a:srgbClr val="000000"/>
                </a:solidFill>
                <a:latin typeface="Roboto"/>
                <a:ea typeface="Roboto"/>
                <a:cs typeface="Roboto"/>
                <a:sym typeface="Roboto"/>
              </a:rPr>
              <a:t>F1 Score: 0.96</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Dog:</a:t>
            </a:r>
          </a:p>
          <a:p>
            <a:pPr algn="l">
              <a:lnSpc>
                <a:spcPts val="2800"/>
              </a:lnSpc>
            </a:pPr>
            <a:r>
              <a:rPr lang="en-US" sz="2000">
                <a:solidFill>
                  <a:srgbClr val="000000"/>
                </a:solidFill>
                <a:latin typeface="Roboto"/>
                <a:ea typeface="Roboto"/>
                <a:cs typeface="Roboto"/>
                <a:sym typeface="Roboto"/>
              </a:rPr>
              <a:t>Precision: 1.00</a:t>
            </a:r>
          </a:p>
          <a:p>
            <a:pPr algn="l">
              <a:lnSpc>
                <a:spcPts val="2800"/>
              </a:lnSpc>
            </a:pPr>
            <a:r>
              <a:rPr lang="en-US" sz="2000">
                <a:solidFill>
                  <a:srgbClr val="000000"/>
                </a:solidFill>
                <a:latin typeface="Roboto"/>
                <a:ea typeface="Roboto"/>
                <a:cs typeface="Roboto"/>
                <a:sym typeface="Roboto"/>
              </a:rPr>
              <a:t>Recall: 0.93</a:t>
            </a:r>
          </a:p>
          <a:p>
            <a:pPr algn="l">
              <a:lnSpc>
                <a:spcPts val="2800"/>
              </a:lnSpc>
            </a:pPr>
            <a:r>
              <a:rPr lang="en-US" sz="2000">
                <a:solidFill>
                  <a:srgbClr val="000000"/>
                </a:solidFill>
                <a:latin typeface="Roboto"/>
                <a:ea typeface="Roboto"/>
                <a:cs typeface="Roboto"/>
                <a:sym typeface="Roboto"/>
              </a:rPr>
              <a:t>F1 Score: 0.96</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Macro Avg:</a:t>
            </a:r>
          </a:p>
          <a:p>
            <a:pPr algn="l">
              <a:lnSpc>
                <a:spcPts val="2800"/>
              </a:lnSpc>
            </a:pPr>
            <a:r>
              <a:rPr lang="en-US" sz="2000">
                <a:solidFill>
                  <a:srgbClr val="000000"/>
                </a:solidFill>
                <a:latin typeface="Roboto"/>
                <a:ea typeface="Roboto"/>
                <a:cs typeface="Roboto"/>
                <a:sym typeface="Roboto"/>
              </a:rPr>
              <a:t>Precision: 0.96</a:t>
            </a:r>
          </a:p>
          <a:p>
            <a:pPr algn="l">
              <a:lnSpc>
                <a:spcPts val="2800"/>
              </a:lnSpc>
            </a:pPr>
            <a:r>
              <a:rPr lang="en-US" sz="2000">
                <a:solidFill>
                  <a:srgbClr val="000000"/>
                </a:solidFill>
                <a:latin typeface="Roboto"/>
                <a:ea typeface="Roboto"/>
                <a:cs typeface="Roboto"/>
                <a:sym typeface="Roboto"/>
              </a:rPr>
              <a:t>Recall: 0.96</a:t>
            </a:r>
          </a:p>
          <a:p>
            <a:pPr algn="l">
              <a:lnSpc>
                <a:spcPts val="2800"/>
              </a:lnSpc>
            </a:pPr>
            <a:r>
              <a:rPr lang="en-US" sz="2000">
                <a:solidFill>
                  <a:srgbClr val="000000"/>
                </a:solidFill>
                <a:latin typeface="Roboto"/>
                <a:ea typeface="Roboto"/>
                <a:cs typeface="Roboto"/>
                <a:sym typeface="Roboto"/>
              </a:rPr>
              <a:t>F1 Score: 0.96</a:t>
            </a:r>
          </a:p>
        </p:txBody>
      </p:sp>
      <p:sp>
        <p:nvSpPr>
          <p:cNvPr id="14" name="TextBox 14"/>
          <p:cNvSpPr txBox="1"/>
          <p:nvPr/>
        </p:nvSpPr>
        <p:spPr>
          <a:xfrm>
            <a:off x="15164770" y="3894422"/>
            <a:ext cx="1888762" cy="4940300"/>
          </a:xfrm>
          <a:prstGeom prst="rect">
            <a:avLst/>
          </a:prstGeom>
        </p:spPr>
        <p:txBody>
          <a:bodyPr lIns="0" tIns="0" rIns="0" bIns="0" rtlCol="0" anchor="t">
            <a:spAutoFit/>
          </a:bodyPr>
          <a:lstStyle/>
          <a:p>
            <a:pPr algn="l">
              <a:lnSpc>
                <a:spcPts val="2800"/>
              </a:lnSpc>
            </a:pPr>
            <a:r>
              <a:rPr lang="en-US" sz="2000" b="1">
                <a:solidFill>
                  <a:srgbClr val="000000"/>
                </a:solidFill>
                <a:latin typeface="Roboto Bold"/>
                <a:ea typeface="Roboto Bold"/>
                <a:cs typeface="Roboto Bold"/>
                <a:sym typeface="Roboto Bold"/>
              </a:rPr>
              <a:t>Cat:</a:t>
            </a:r>
          </a:p>
          <a:p>
            <a:pPr algn="l">
              <a:lnSpc>
                <a:spcPts val="2800"/>
              </a:lnSpc>
            </a:pPr>
            <a:r>
              <a:rPr lang="en-US" sz="2000">
                <a:solidFill>
                  <a:srgbClr val="000000"/>
                </a:solidFill>
                <a:latin typeface="Roboto"/>
                <a:ea typeface="Roboto"/>
                <a:cs typeface="Roboto"/>
                <a:sym typeface="Roboto"/>
              </a:rPr>
              <a:t>Precision: 0.97</a:t>
            </a:r>
          </a:p>
          <a:p>
            <a:pPr algn="l">
              <a:lnSpc>
                <a:spcPts val="2800"/>
              </a:lnSpc>
            </a:pPr>
            <a:r>
              <a:rPr lang="en-US" sz="2000">
                <a:solidFill>
                  <a:srgbClr val="000000"/>
                </a:solidFill>
                <a:latin typeface="Roboto"/>
                <a:ea typeface="Roboto"/>
                <a:cs typeface="Roboto"/>
                <a:sym typeface="Roboto"/>
              </a:rPr>
              <a:t>Recall: 0.95</a:t>
            </a:r>
          </a:p>
          <a:p>
            <a:pPr algn="l">
              <a:lnSpc>
                <a:spcPts val="2800"/>
              </a:lnSpc>
            </a:pPr>
            <a:r>
              <a:rPr lang="en-US" sz="2000">
                <a:solidFill>
                  <a:srgbClr val="000000"/>
                </a:solidFill>
                <a:latin typeface="Roboto"/>
                <a:ea typeface="Roboto"/>
                <a:cs typeface="Roboto"/>
                <a:sym typeface="Roboto"/>
              </a:rPr>
              <a:t>F1 Score: 0.96</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Dog:</a:t>
            </a:r>
          </a:p>
          <a:p>
            <a:pPr algn="l">
              <a:lnSpc>
                <a:spcPts val="2800"/>
              </a:lnSpc>
            </a:pPr>
            <a:r>
              <a:rPr lang="en-US" sz="2000">
                <a:solidFill>
                  <a:srgbClr val="000000"/>
                </a:solidFill>
                <a:latin typeface="Roboto"/>
                <a:ea typeface="Roboto"/>
                <a:cs typeface="Roboto"/>
                <a:sym typeface="Roboto"/>
              </a:rPr>
              <a:t>Precision: 0.95</a:t>
            </a:r>
          </a:p>
          <a:p>
            <a:pPr algn="l">
              <a:lnSpc>
                <a:spcPts val="2800"/>
              </a:lnSpc>
            </a:pPr>
            <a:r>
              <a:rPr lang="en-US" sz="2000">
                <a:solidFill>
                  <a:srgbClr val="000000"/>
                </a:solidFill>
                <a:latin typeface="Roboto"/>
                <a:ea typeface="Roboto"/>
                <a:cs typeface="Roboto"/>
                <a:sym typeface="Roboto"/>
              </a:rPr>
              <a:t>Recall: 0.98</a:t>
            </a:r>
          </a:p>
          <a:p>
            <a:pPr algn="l">
              <a:lnSpc>
                <a:spcPts val="2800"/>
              </a:lnSpc>
            </a:pPr>
            <a:r>
              <a:rPr lang="en-US" sz="2000">
                <a:solidFill>
                  <a:srgbClr val="000000"/>
                </a:solidFill>
                <a:latin typeface="Roboto"/>
                <a:ea typeface="Roboto"/>
                <a:cs typeface="Roboto"/>
                <a:sym typeface="Roboto"/>
              </a:rPr>
              <a:t>F1 Score: 0.96</a:t>
            </a:r>
          </a:p>
          <a:p>
            <a:pPr algn="l">
              <a:lnSpc>
                <a:spcPts val="2800"/>
              </a:lnSpc>
            </a:pPr>
            <a:endParaRPr lang="en-US" sz="2000">
              <a:solidFill>
                <a:srgbClr val="000000"/>
              </a:solidFill>
              <a:latin typeface="Roboto"/>
              <a:ea typeface="Roboto"/>
              <a:cs typeface="Roboto"/>
              <a:sym typeface="Roboto"/>
            </a:endParaRPr>
          </a:p>
          <a:p>
            <a:pPr algn="l">
              <a:lnSpc>
                <a:spcPts val="2800"/>
              </a:lnSpc>
            </a:pPr>
            <a:r>
              <a:rPr lang="en-US" sz="2000" b="1">
                <a:solidFill>
                  <a:srgbClr val="000000"/>
                </a:solidFill>
                <a:latin typeface="Roboto Bold"/>
                <a:ea typeface="Roboto Bold"/>
                <a:cs typeface="Roboto Bold"/>
                <a:sym typeface="Roboto Bold"/>
              </a:rPr>
              <a:t>Macro Avg:</a:t>
            </a:r>
          </a:p>
          <a:p>
            <a:pPr algn="l">
              <a:lnSpc>
                <a:spcPts val="2800"/>
              </a:lnSpc>
            </a:pPr>
            <a:r>
              <a:rPr lang="en-US" sz="2000">
                <a:solidFill>
                  <a:srgbClr val="000000"/>
                </a:solidFill>
                <a:latin typeface="Roboto"/>
                <a:ea typeface="Roboto"/>
                <a:cs typeface="Roboto"/>
                <a:sym typeface="Roboto"/>
              </a:rPr>
              <a:t>Precision: 0.96</a:t>
            </a:r>
          </a:p>
          <a:p>
            <a:pPr algn="l">
              <a:lnSpc>
                <a:spcPts val="2800"/>
              </a:lnSpc>
            </a:pPr>
            <a:r>
              <a:rPr lang="en-US" sz="2000">
                <a:solidFill>
                  <a:srgbClr val="000000"/>
                </a:solidFill>
                <a:latin typeface="Roboto"/>
                <a:ea typeface="Roboto"/>
                <a:cs typeface="Roboto"/>
                <a:sym typeface="Roboto"/>
              </a:rPr>
              <a:t>Recall: 0.96</a:t>
            </a:r>
          </a:p>
          <a:p>
            <a:pPr algn="l">
              <a:lnSpc>
                <a:spcPts val="2800"/>
              </a:lnSpc>
            </a:pPr>
            <a:r>
              <a:rPr lang="en-US" sz="2000">
                <a:solidFill>
                  <a:srgbClr val="000000"/>
                </a:solidFill>
                <a:latin typeface="Roboto"/>
                <a:ea typeface="Roboto"/>
                <a:cs typeface="Roboto"/>
                <a:sym typeface="Roboto"/>
              </a:rPr>
              <a:t>F1 Score: 0.96</a:t>
            </a:r>
          </a:p>
        </p:txBody>
      </p:sp>
      <p:sp>
        <p:nvSpPr>
          <p:cNvPr id="15" name="Freeform 15"/>
          <p:cNvSpPr/>
          <p:nvPr/>
        </p:nvSpPr>
        <p:spPr>
          <a:xfrm>
            <a:off x="9238960" y="4081917"/>
            <a:ext cx="5758279" cy="4622460"/>
          </a:xfrm>
          <a:custGeom>
            <a:avLst/>
            <a:gdLst/>
            <a:ahLst/>
            <a:cxnLst/>
            <a:rect l="l" t="t" r="r" b="b"/>
            <a:pathLst>
              <a:path w="5758279" h="4622460">
                <a:moveTo>
                  <a:pt x="0" y="0"/>
                </a:moveTo>
                <a:lnTo>
                  <a:pt x="5758279" y="0"/>
                </a:lnTo>
                <a:lnTo>
                  <a:pt x="5758279" y="4622460"/>
                </a:lnTo>
                <a:lnTo>
                  <a:pt x="0" y="4622460"/>
                </a:lnTo>
                <a:lnTo>
                  <a:pt x="0" y="0"/>
                </a:lnTo>
                <a:close/>
              </a:path>
            </a:pathLst>
          </a:custGeom>
          <a:blipFill>
            <a:blip r:embed="rId3"/>
            <a:stretch>
              <a:fillRect l="-124827" t="-135719" r="-248905" b="-96232"/>
            </a:stretch>
          </a:blipFill>
        </p:spPr>
      </p:sp>
      <p:sp>
        <p:nvSpPr>
          <p:cNvPr id="16" name="TextBox 16"/>
          <p:cNvSpPr txBox="1"/>
          <p:nvPr/>
        </p:nvSpPr>
        <p:spPr>
          <a:xfrm>
            <a:off x="1147195" y="2920967"/>
            <a:ext cx="7538707" cy="415290"/>
          </a:xfrm>
          <a:prstGeom prst="rect">
            <a:avLst/>
          </a:prstGeom>
        </p:spPr>
        <p:txBody>
          <a:bodyPr lIns="0" tIns="0" rIns="0" bIns="0" rtlCol="0" anchor="t">
            <a:spAutoFit/>
          </a:bodyPr>
          <a:lstStyle/>
          <a:p>
            <a:pPr algn="l">
              <a:lnSpc>
                <a:spcPts val="3359"/>
              </a:lnSpc>
              <a:spcBef>
                <a:spcPct val="0"/>
              </a:spcBef>
            </a:pPr>
            <a:r>
              <a:rPr lang="en-US" sz="2399">
                <a:solidFill>
                  <a:srgbClr val="000000"/>
                </a:solidFill>
                <a:latin typeface="Roboto"/>
                <a:ea typeface="Roboto"/>
                <a:cs typeface="Roboto"/>
                <a:sym typeface="Roboto"/>
              </a:rPr>
              <a:t>Model Mimarisi: DenseNet - Son Katmanı Değiştirilmiş</a:t>
            </a:r>
          </a:p>
        </p:txBody>
      </p:sp>
      <p:sp>
        <p:nvSpPr>
          <p:cNvPr id="17" name="TextBox 17"/>
          <p:cNvSpPr txBox="1"/>
          <p:nvPr/>
        </p:nvSpPr>
        <p:spPr>
          <a:xfrm>
            <a:off x="9526389" y="2885006"/>
            <a:ext cx="7804337" cy="415290"/>
          </a:xfrm>
          <a:prstGeom prst="rect">
            <a:avLst/>
          </a:prstGeom>
        </p:spPr>
        <p:txBody>
          <a:bodyPr lIns="0" tIns="0" rIns="0" bIns="0" rtlCol="0" anchor="t">
            <a:spAutoFit/>
          </a:bodyPr>
          <a:lstStyle/>
          <a:p>
            <a:pPr algn="l">
              <a:lnSpc>
                <a:spcPts val="3359"/>
              </a:lnSpc>
              <a:spcBef>
                <a:spcPct val="0"/>
              </a:spcBef>
            </a:pPr>
            <a:r>
              <a:rPr lang="en-US" sz="2399">
                <a:solidFill>
                  <a:srgbClr val="000000"/>
                </a:solidFill>
                <a:latin typeface="Roboto"/>
                <a:ea typeface="Roboto"/>
                <a:cs typeface="Roboto"/>
                <a:sym typeface="Roboto"/>
              </a:rPr>
              <a:t>Model Mimarisi: MobileNetV3 - Son Katmanı Değiştirilmiş</a:t>
            </a:r>
          </a:p>
        </p:txBody>
      </p:sp>
      <p:sp>
        <p:nvSpPr>
          <p:cNvPr id="18" name="TextBox 18"/>
          <p:cNvSpPr txBox="1"/>
          <p:nvPr/>
        </p:nvSpPr>
        <p:spPr>
          <a:xfrm>
            <a:off x="9526388" y="3279107"/>
            <a:ext cx="3532279" cy="436017"/>
          </a:xfrm>
          <a:prstGeom prst="rect">
            <a:avLst/>
          </a:prstGeom>
        </p:spPr>
        <p:txBody>
          <a:bodyPr wrap="square" lIns="0" tIns="0" rIns="0" bIns="0" rtlCol="0" anchor="t">
            <a:spAutoFit/>
          </a:bodyPr>
          <a:lstStyle/>
          <a:p>
            <a:pPr algn="l">
              <a:lnSpc>
                <a:spcPts val="3359"/>
              </a:lnSpc>
              <a:spcBef>
                <a:spcPct val="0"/>
              </a:spcBef>
            </a:pPr>
            <a:r>
              <a:rPr lang="en-US" sz="2400" dirty="0">
                <a:solidFill>
                  <a:srgbClr val="000000"/>
                </a:solidFill>
                <a:latin typeface="Roboto"/>
                <a:ea typeface="Roboto"/>
                <a:cs typeface="Roboto"/>
                <a:sym typeface="Roboto"/>
              </a:rPr>
              <a:t>Accuracy: 97.53%</a:t>
            </a:r>
          </a:p>
        </p:txBody>
      </p:sp>
      <p:sp>
        <p:nvSpPr>
          <p:cNvPr id="19" name="TextBox 19"/>
          <p:cNvSpPr txBox="1"/>
          <p:nvPr/>
        </p:nvSpPr>
        <p:spPr>
          <a:xfrm>
            <a:off x="1147194" y="3279107"/>
            <a:ext cx="4415405" cy="436017"/>
          </a:xfrm>
          <a:prstGeom prst="rect">
            <a:avLst/>
          </a:prstGeom>
        </p:spPr>
        <p:txBody>
          <a:bodyPr wrap="square" lIns="0" tIns="0" rIns="0" bIns="0" rtlCol="0" anchor="t">
            <a:spAutoFit/>
          </a:bodyPr>
          <a:lstStyle/>
          <a:p>
            <a:pPr algn="l">
              <a:lnSpc>
                <a:spcPts val="3359"/>
              </a:lnSpc>
              <a:spcBef>
                <a:spcPct val="0"/>
              </a:spcBef>
            </a:pPr>
            <a:r>
              <a:rPr lang="en-US" sz="2400" dirty="0">
                <a:solidFill>
                  <a:srgbClr val="000000"/>
                </a:solidFill>
                <a:latin typeface="Roboto"/>
                <a:ea typeface="Roboto"/>
                <a:cs typeface="Roboto"/>
                <a:sym typeface="Roboto"/>
              </a:rPr>
              <a:t>Accuracy: 98.71%</a:t>
            </a:r>
          </a:p>
        </p:txBody>
      </p:sp>
      <p:sp>
        <p:nvSpPr>
          <p:cNvPr id="20" name="TextBox 20"/>
          <p:cNvSpPr txBox="1"/>
          <p:nvPr/>
        </p:nvSpPr>
        <p:spPr>
          <a:xfrm>
            <a:off x="14554200" y="1967944"/>
            <a:ext cx="2698647"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Epoch: 100</a:t>
            </a:r>
          </a:p>
        </p:txBody>
      </p:sp>
      <p:sp>
        <p:nvSpPr>
          <p:cNvPr id="21" name="TextBox 21"/>
          <p:cNvSpPr txBox="1"/>
          <p:nvPr/>
        </p:nvSpPr>
        <p:spPr>
          <a:xfrm>
            <a:off x="13428557" y="1559488"/>
            <a:ext cx="3830743" cy="436017"/>
          </a:xfrm>
          <a:prstGeom prst="rect">
            <a:avLst/>
          </a:prstGeom>
        </p:spPr>
        <p:txBody>
          <a:bodyPr wrap="square" lIns="0" tIns="0" rIns="0" bIns="0" rtlCol="0" anchor="t">
            <a:spAutoFit/>
          </a:bodyPr>
          <a:lstStyle/>
          <a:p>
            <a:pPr algn="r">
              <a:lnSpc>
                <a:spcPts val="3359"/>
              </a:lnSpc>
            </a:pPr>
            <a:r>
              <a:rPr lang="en-US" sz="2399" dirty="0" err="1">
                <a:solidFill>
                  <a:srgbClr val="000000"/>
                </a:solidFill>
                <a:latin typeface="Roboto"/>
                <a:ea typeface="Roboto"/>
                <a:cs typeface="Roboto"/>
                <a:sym typeface="Roboto"/>
              </a:rPr>
              <a:t>Veri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Seti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Kedi-Köpek</a:t>
            </a:r>
            <a:endParaRPr lang="en-US" sz="2399" dirty="0">
              <a:solidFill>
                <a:srgbClr val="000000"/>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
        <p:nvSpPr>
          <p:cNvPr id="9" name="TextBox 9"/>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0" name="TextBox 10"/>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TRANSFER ÖĞRENME (TRANSFER LEARNING) - Deneysel Çalışma</a:t>
            </a:r>
          </a:p>
        </p:txBody>
      </p:sp>
      <p:sp>
        <p:nvSpPr>
          <p:cNvPr id="11" name="TextBox 11"/>
          <p:cNvSpPr txBox="1"/>
          <p:nvPr/>
        </p:nvSpPr>
        <p:spPr>
          <a:xfrm>
            <a:off x="1028700" y="1609804"/>
            <a:ext cx="12029968" cy="415290"/>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Roboto Bold"/>
                <a:ea typeface="Roboto Bold"/>
                <a:cs typeface="Roboto Bold"/>
                <a:sym typeface="Roboto Bold"/>
              </a:rPr>
              <a:t>Test 4:  Resnet-18, DenseNet ve MobileNetV3 Model Mimarilerinin Karşılaştırılması</a:t>
            </a:r>
          </a:p>
        </p:txBody>
      </p:sp>
      <p:sp>
        <p:nvSpPr>
          <p:cNvPr id="12" name="TextBox 12"/>
          <p:cNvSpPr txBox="1"/>
          <p:nvPr/>
        </p:nvSpPr>
        <p:spPr>
          <a:xfrm>
            <a:off x="14554200" y="1967944"/>
            <a:ext cx="2698647" cy="436017"/>
          </a:xfrm>
          <a:prstGeom prst="rect">
            <a:avLst/>
          </a:prstGeom>
        </p:spPr>
        <p:txBody>
          <a:bodyPr wrap="square" lIns="0" tIns="0" rIns="0" bIns="0" rtlCol="0" anchor="t">
            <a:spAutoFit/>
          </a:bodyPr>
          <a:lstStyle/>
          <a:p>
            <a:pPr algn="r">
              <a:lnSpc>
                <a:spcPts val="3359"/>
              </a:lnSpc>
              <a:spcBef>
                <a:spcPct val="0"/>
              </a:spcBef>
            </a:pPr>
            <a:r>
              <a:rPr lang="en-US" sz="2400" dirty="0">
                <a:solidFill>
                  <a:srgbClr val="000000"/>
                </a:solidFill>
                <a:latin typeface="Roboto"/>
                <a:ea typeface="Roboto"/>
                <a:cs typeface="Roboto"/>
                <a:sym typeface="Roboto"/>
              </a:rPr>
              <a:t>Epoch: 100</a:t>
            </a:r>
          </a:p>
        </p:txBody>
      </p:sp>
      <p:sp>
        <p:nvSpPr>
          <p:cNvPr id="13" name="TextBox 13"/>
          <p:cNvSpPr txBox="1"/>
          <p:nvPr/>
        </p:nvSpPr>
        <p:spPr>
          <a:xfrm>
            <a:off x="13182600" y="1559488"/>
            <a:ext cx="4076700" cy="436017"/>
          </a:xfrm>
          <a:prstGeom prst="rect">
            <a:avLst/>
          </a:prstGeom>
        </p:spPr>
        <p:txBody>
          <a:bodyPr wrap="square" lIns="0" tIns="0" rIns="0" bIns="0" rtlCol="0" anchor="t">
            <a:spAutoFit/>
          </a:bodyPr>
          <a:lstStyle/>
          <a:p>
            <a:pPr algn="r">
              <a:lnSpc>
                <a:spcPts val="3359"/>
              </a:lnSpc>
            </a:pPr>
            <a:r>
              <a:rPr lang="en-US" sz="2399" dirty="0" err="1">
                <a:solidFill>
                  <a:srgbClr val="000000"/>
                </a:solidFill>
                <a:latin typeface="Roboto"/>
                <a:ea typeface="Roboto"/>
                <a:cs typeface="Roboto"/>
                <a:sym typeface="Roboto"/>
              </a:rPr>
              <a:t>Veri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Seti</a:t>
            </a:r>
            <a:r>
              <a:rPr lang="en-US" sz="2399" dirty="0">
                <a:solidFill>
                  <a:srgbClr val="000000"/>
                </a:solidFill>
                <a:latin typeface="Roboto"/>
                <a:ea typeface="Roboto"/>
                <a:cs typeface="Roboto"/>
                <a:sym typeface="Roboto"/>
              </a:rPr>
              <a:t>: </a:t>
            </a:r>
            <a:r>
              <a:rPr lang="en-US" sz="2399" dirty="0" err="1">
                <a:solidFill>
                  <a:srgbClr val="000000"/>
                </a:solidFill>
                <a:latin typeface="Roboto"/>
                <a:ea typeface="Roboto"/>
                <a:cs typeface="Roboto"/>
                <a:sym typeface="Roboto"/>
              </a:rPr>
              <a:t>Kedi-Köpek</a:t>
            </a:r>
            <a:endParaRPr lang="en-US" sz="2399" dirty="0">
              <a:solidFill>
                <a:srgbClr val="000000"/>
              </a:solidFill>
              <a:latin typeface="Roboto"/>
              <a:ea typeface="Roboto"/>
              <a:cs typeface="Roboto"/>
              <a:sym typeface="Roboto"/>
            </a:endParaRPr>
          </a:p>
        </p:txBody>
      </p:sp>
      <p:graphicFrame>
        <p:nvGraphicFramePr>
          <p:cNvPr id="14" name="Table 14"/>
          <p:cNvGraphicFramePr>
            <a:graphicFrameLocks noGrp="1"/>
          </p:cNvGraphicFramePr>
          <p:nvPr/>
        </p:nvGraphicFramePr>
        <p:xfrm>
          <a:off x="1069316" y="2663269"/>
          <a:ext cx="10744236" cy="4410075"/>
        </p:xfrm>
        <a:graphic>
          <a:graphicData uri="http://schemas.openxmlformats.org/drawingml/2006/table">
            <a:tbl>
              <a:tblPr/>
              <a:tblGrid>
                <a:gridCol w="2686059"/>
                <a:gridCol w="2686059"/>
                <a:gridCol w="2686059"/>
                <a:gridCol w="2686059"/>
              </a:tblGrid>
              <a:tr h="882015">
                <a:tc>
                  <a:txBody>
                    <a:bodyPr/>
                    <a:lstStyle/>
                    <a:p>
                      <a:pPr algn="ctr">
                        <a:lnSpc>
                          <a:spcPts val="3359"/>
                        </a:lnSpc>
                        <a:defRPr/>
                      </a:pPr>
                      <a:r>
                        <a:rPr lang="en-US" sz="2400" b="1">
                          <a:solidFill>
                            <a:srgbClr val="000000"/>
                          </a:solidFill>
                          <a:latin typeface="Roboto Bold"/>
                          <a:ea typeface="Roboto Bold"/>
                          <a:cs typeface="Roboto Bold"/>
                          <a:sym typeface="Roboto Bold"/>
                        </a:rPr>
                        <a:t>Mimari</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Roboto Bold"/>
                          <a:ea typeface="Roboto Bold"/>
                          <a:cs typeface="Roboto Bold"/>
                          <a:sym typeface="Roboto Bold"/>
                        </a:rPr>
                        <a:t>ResNet-18</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Roboto Bold"/>
                          <a:ea typeface="Roboto Bold"/>
                          <a:cs typeface="Roboto Bold"/>
                          <a:sym typeface="Roboto Bold"/>
                        </a:rPr>
                        <a:t>DenseNet</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Roboto Bold"/>
                          <a:ea typeface="Roboto Bold"/>
                          <a:cs typeface="Roboto Bold"/>
                          <a:sym typeface="Roboto Bold"/>
                        </a:rPr>
                        <a:t>MobileNetV3</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r h="882015">
                <a:tc>
                  <a:txBody>
                    <a:bodyPr/>
                    <a:lstStyle/>
                    <a:p>
                      <a:pPr algn="ctr">
                        <a:lnSpc>
                          <a:spcPts val="3359"/>
                        </a:lnSpc>
                        <a:defRPr/>
                      </a:pPr>
                      <a:r>
                        <a:rPr lang="en-US" sz="2400" b="1">
                          <a:solidFill>
                            <a:srgbClr val="000000"/>
                          </a:solidFill>
                          <a:latin typeface="Roboto Bold"/>
                          <a:ea typeface="Roboto Bold"/>
                          <a:cs typeface="Roboto Bold"/>
                          <a:sym typeface="Roboto Bold"/>
                        </a:rPr>
                        <a:t>Accuracy</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97.97%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98.71%</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97.53%</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r h="882015">
                <a:tc>
                  <a:txBody>
                    <a:bodyPr/>
                    <a:lstStyle/>
                    <a:p>
                      <a:pPr algn="ctr">
                        <a:lnSpc>
                          <a:spcPts val="3359"/>
                        </a:lnSpc>
                        <a:defRPr/>
                      </a:pPr>
                      <a:r>
                        <a:rPr lang="en-US" sz="2400" b="1">
                          <a:solidFill>
                            <a:srgbClr val="000000"/>
                          </a:solidFill>
                          <a:latin typeface="Roboto Bold"/>
                          <a:ea typeface="Roboto Bold"/>
                          <a:cs typeface="Roboto Bold"/>
                          <a:sym typeface="Roboto Bold"/>
                        </a:rPr>
                        <a:t>Precision</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0.96</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0.96</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r h="882015">
                <a:tc>
                  <a:txBody>
                    <a:bodyPr/>
                    <a:lstStyle/>
                    <a:p>
                      <a:pPr algn="ctr">
                        <a:lnSpc>
                          <a:spcPts val="3359"/>
                        </a:lnSpc>
                        <a:defRPr/>
                      </a:pPr>
                      <a:r>
                        <a:rPr lang="en-US" sz="2400" b="1">
                          <a:solidFill>
                            <a:srgbClr val="000000"/>
                          </a:solidFill>
                          <a:latin typeface="Roboto Bold"/>
                          <a:ea typeface="Roboto Bold"/>
                          <a:cs typeface="Roboto Bold"/>
                          <a:sym typeface="Roboto Bold"/>
                        </a:rPr>
                        <a:t>Recall</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0.96</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0.96</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r h="882015">
                <a:tc>
                  <a:txBody>
                    <a:bodyPr/>
                    <a:lstStyle/>
                    <a:p>
                      <a:pPr algn="ctr">
                        <a:lnSpc>
                          <a:spcPts val="3359"/>
                        </a:lnSpc>
                        <a:defRPr/>
                      </a:pPr>
                      <a:r>
                        <a:rPr lang="en-US" sz="2400" b="1">
                          <a:solidFill>
                            <a:srgbClr val="000000"/>
                          </a:solidFill>
                          <a:latin typeface="Roboto Bold"/>
                          <a:ea typeface="Roboto Bold"/>
                          <a:cs typeface="Roboto Bold"/>
                          <a:sym typeface="Roboto Bold"/>
                        </a:rPr>
                        <a:t>F1 Score</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0.97</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0.96</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Roboto"/>
                          <a:ea typeface="Roboto"/>
                          <a:cs typeface="Roboto"/>
                          <a:sym typeface="Roboto"/>
                        </a:rPr>
                        <a:t>0.96</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26</a:t>
            </a:r>
          </a:p>
        </p:txBody>
      </p:sp>
      <p:sp>
        <p:nvSpPr>
          <p:cNvPr id="3" name="Freeform 3"/>
          <p:cNvSpPr/>
          <p:nvPr/>
        </p:nvSpPr>
        <p:spPr>
          <a:xfrm>
            <a:off x="1038225" y="2164842"/>
            <a:ext cx="10278759" cy="6440123"/>
          </a:xfrm>
          <a:custGeom>
            <a:avLst/>
            <a:gdLst/>
            <a:ahLst/>
            <a:cxnLst/>
            <a:rect l="l" t="t" r="r" b="b"/>
            <a:pathLst>
              <a:path w="10278759" h="6440123">
                <a:moveTo>
                  <a:pt x="0" y="0"/>
                </a:moveTo>
                <a:lnTo>
                  <a:pt x="10278759" y="0"/>
                </a:lnTo>
                <a:lnTo>
                  <a:pt x="10278759" y="6440123"/>
                </a:lnTo>
                <a:lnTo>
                  <a:pt x="0" y="6440123"/>
                </a:lnTo>
                <a:lnTo>
                  <a:pt x="0" y="0"/>
                </a:lnTo>
                <a:close/>
              </a:path>
            </a:pathLst>
          </a:custGeom>
          <a:blipFill>
            <a:blip r:embed="rId2"/>
            <a:stretch>
              <a:fillRect t="-3029" r="-1474" b="-2650"/>
            </a:stretch>
          </a:blipFill>
        </p:spPr>
      </p:sp>
      <p:sp>
        <p:nvSpPr>
          <p:cNvPr id="4" name="TextBox 4"/>
          <p:cNvSpPr txBox="1"/>
          <p:nvPr/>
        </p:nvSpPr>
        <p:spPr>
          <a:xfrm>
            <a:off x="11745184" y="3440430"/>
            <a:ext cx="5523641" cy="3348990"/>
          </a:xfrm>
          <a:prstGeom prst="rect">
            <a:avLst/>
          </a:prstGeom>
        </p:spPr>
        <p:txBody>
          <a:bodyPr lIns="0" tIns="0" rIns="0" bIns="0" rtlCol="0" anchor="t">
            <a:spAutoFit/>
          </a:bodyPr>
          <a:lstStyle/>
          <a:p>
            <a:pPr algn="just">
              <a:lnSpc>
                <a:spcPts val="3359"/>
              </a:lnSpc>
            </a:pPr>
            <a:r>
              <a:rPr lang="en-US" sz="2400">
                <a:solidFill>
                  <a:srgbClr val="000000"/>
                </a:solidFill>
                <a:latin typeface="Roboto"/>
                <a:ea typeface="Roboto"/>
                <a:cs typeface="Roboto"/>
                <a:sym typeface="Roboto"/>
              </a:rPr>
              <a:t>Bilgi damıtma, bir büyük ve karmaşık modelin (öğretmen modeli) öğrendiği bilgilerin, daha küçük ve daha basit bir modele (öğrenci modeli) aktarılması işlemidir.</a:t>
            </a:r>
          </a:p>
          <a:p>
            <a:pPr algn="just">
              <a:lnSpc>
                <a:spcPts val="3359"/>
              </a:lnSpc>
            </a:pPr>
            <a:endParaRPr lang="en-US" sz="2400">
              <a:solidFill>
                <a:srgbClr val="000000"/>
              </a:solidFill>
              <a:latin typeface="Roboto"/>
              <a:ea typeface="Roboto"/>
              <a:cs typeface="Roboto"/>
              <a:sym typeface="Roboto"/>
            </a:endParaRPr>
          </a:p>
          <a:p>
            <a:pPr algn="just">
              <a:lnSpc>
                <a:spcPts val="3359"/>
              </a:lnSpc>
              <a:spcBef>
                <a:spcPct val="0"/>
              </a:spcBef>
            </a:pPr>
            <a:r>
              <a:rPr lang="en-US" sz="2400">
                <a:solidFill>
                  <a:srgbClr val="000000"/>
                </a:solidFill>
                <a:latin typeface="Roboto"/>
                <a:ea typeface="Roboto"/>
                <a:cs typeface="Roboto"/>
                <a:sym typeface="Roboto"/>
              </a:rPr>
              <a:t>Mobil cihazlarda ve gömülü sistemlerde hafif modeller geliştirmek için kullanılır. </a:t>
            </a:r>
          </a:p>
        </p:txBody>
      </p:sp>
      <p:grpSp>
        <p:nvGrpSpPr>
          <p:cNvPr id="5" name="Group 5"/>
          <p:cNvGrpSpPr/>
          <p:nvPr/>
        </p:nvGrpSpPr>
        <p:grpSpPr>
          <a:xfrm>
            <a:off x="0" y="9820130"/>
            <a:ext cx="18288000" cy="466870"/>
            <a:chOff x="0" y="0"/>
            <a:chExt cx="4816593" cy="122962"/>
          </a:xfrm>
        </p:grpSpPr>
        <p:sp>
          <p:nvSpPr>
            <p:cNvPr id="6" name="Freeform 6"/>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7" name="TextBox 7"/>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9" name="Group 9"/>
          <p:cNvGrpSpPr/>
          <p:nvPr/>
        </p:nvGrpSpPr>
        <p:grpSpPr>
          <a:xfrm>
            <a:off x="-257457" y="0"/>
            <a:ext cx="18802914" cy="1028700"/>
            <a:chOff x="0" y="0"/>
            <a:chExt cx="4952208" cy="270933"/>
          </a:xfrm>
        </p:grpSpPr>
        <p:sp>
          <p:nvSpPr>
            <p:cNvPr id="10" name="Freeform 10"/>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11" name="TextBox 11"/>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69316" y="144780"/>
            <a:ext cx="134376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393589" y="2325249"/>
            <a:ext cx="11301259" cy="5636503"/>
          </a:xfrm>
          <a:custGeom>
            <a:avLst/>
            <a:gdLst/>
            <a:ahLst/>
            <a:cxnLst/>
            <a:rect l="l" t="t" r="r" b="b"/>
            <a:pathLst>
              <a:path w="11301259" h="5636503">
                <a:moveTo>
                  <a:pt x="0" y="0"/>
                </a:moveTo>
                <a:lnTo>
                  <a:pt x="11301259" y="0"/>
                </a:lnTo>
                <a:lnTo>
                  <a:pt x="11301259" y="5636502"/>
                </a:lnTo>
                <a:lnTo>
                  <a:pt x="0" y="5636502"/>
                </a:lnTo>
                <a:lnTo>
                  <a:pt x="0" y="0"/>
                </a:lnTo>
                <a:close/>
              </a:path>
            </a:pathLst>
          </a:custGeom>
          <a:blipFill>
            <a:blip r:embed="rId2"/>
            <a:stretch>
              <a:fillRect/>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27</a:t>
            </a:r>
          </a:p>
        </p:txBody>
      </p:sp>
      <p:sp>
        <p:nvSpPr>
          <p:cNvPr id="10" name="TextBox 10"/>
          <p:cNvSpPr txBox="1"/>
          <p:nvPr/>
        </p:nvSpPr>
        <p:spPr>
          <a:xfrm>
            <a:off x="11675798" y="3021330"/>
            <a:ext cx="5726154" cy="4187190"/>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Roboto Bold"/>
                <a:ea typeface="Roboto Bold"/>
                <a:cs typeface="Roboto Bold"/>
                <a:sym typeface="Roboto Bold"/>
              </a:rPr>
              <a:t>T: </a:t>
            </a:r>
            <a:r>
              <a:rPr lang="en-US" sz="2399">
                <a:solidFill>
                  <a:srgbClr val="000000"/>
                </a:solidFill>
                <a:latin typeface="Roboto"/>
                <a:ea typeface="Roboto"/>
                <a:cs typeface="Roboto"/>
                <a:sym typeface="Roboto"/>
              </a:rPr>
              <a:t>Sıcaklık, çıkış dağılımlarının düzgünlüğünü kontrol eder. </a:t>
            </a:r>
          </a:p>
          <a:p>
            <a:pPr algn="l">
              <a:lnSpc>
                <a:spcPts val="3359"/>
              </a:lnSpc>
              <a:spcBef>
                <a:spcPct val="0"/>
              </a:spcBef>
            </a:pPr>
            <a:endParaRPr lang="en-US" sz="2399">
              <a:solidFill>
                <a:srgbClr val="000000"/>
              </a:solidFill>
              <a:latin typeface="Roboto"/>
              <a:ea typeface="Roboto"/>
              <a:cs typeface="Roboto"/>
              <a:sym typeface="Roboto"/>
            </a:endParaRPr>
          </a:p>
          <a:p>
            <a:pPr algn="l">
              <a:lnSpc>
                <a:spcPts val="3359"/>
              </a:lnSpc>
              <a:spcBef>
                <a:spcPct val="0"/>
              </a:spcBef>
            </a:pPr>
            <a:r>
              <a:rPr lang="en-US" sz="2399" b="1">
                <a:solidFill>
                  <a:srgbClr val="000000"/>
                </a:solidFill>
                <a:latin typeface="Roboto Bold"/>
                <a:ea typeface="Roboto Bold"/>
                <a:cs typeface="Roboto Bold"/>
                <a:sym typeface="Roboto Bold"/>
              </a:rPr>
              <a:t>Soft Target Loss Weight: </a:t>
            </a:r>
            <a:r>
              <a:rPr lang="en-US" sz="2399">
                <a:solidFill>
                  <a:srgbClr val="000000"/>
                </a:solidFill>
                <a:latin typeface="Roboto"/>
                <a:ea typeface="Roboto"/>
                <a:cs typeface="Roboto"/>
                <a:sym typeface="Roboto"/>
              </a:rPr>
              <a:t>Eklemek üzere olduğumuz ekstra hedefe atanan ağırlık. </a:t>
            </a:r>
          </a:p>
          <a:p>
            <a:pPr algn="l">
              <a:lnSpc>
                <a:spcPts val="3359"/>
              </a:lnSpc>
              <a:spcBef>
                <a:spcPct val="0"/>
              </a:spcBef>
            </a:pPr>
            <a:endParaRPr lang="en-US" sz="2399">
              <a:solidFill>
                <a:srgbClr val="000000"/>
              </a:solidFill>
              <a:latin typeface="Roboto"/>
              <a:ea typeface="Roboto"/>
              <a:cs typeface="Roboto"/>
              <a:sym typeface="Roboto"/>
            </a:endParaRPr>
          </a:p>
          <a:p>
            <a:pPr algn="l">
              <a:lnSpc>
                <a:spcPts val="3359"/>
              </a:lnSpc>
              <a:spcBef>
                <a:spcPct val="0"/>
              </a:spcBef>
            </a:pPr>
            <a:r>
              <a:rPr lang="en-US" sz="2399" b="1">
                <a:solidFill>
                  <a:srgbClr val="000000"/>
                </a:solidFill>
                <a:latin typeface="Roboto Bold"/>
                <a:ea typeface="Roboto Bold"/>
                <a:cs typeface="Roboto Bold"/>
                <a:sym typeface="Roboto Bold"/>
              </a:rPr>
              <a:t>Cross Entropy Loss Weight: </a:t>
            </a:r>
            <a:r>
              <a:rPr lang="en-US" sz="2399">
                <a:solidFill>
                  <a:srgbClr val="000000"/>
                </a:solidFill>
                <a:latin typeface="Roboto"/>
                <a:ea typeface="Roboto"/>
                <a:cs typeface="Roboto"/>
                <a:sym typeface="Roboto"/>
              </a:rPr>
              <a:t>Çarpraz entropiye atanan ağırlık. Bu ağırlıkların ayarlanması, ağı her iki hedef için de optimizasyona doğru iter</a:t>
            </a:r>
          </a:p>
        </p:txBody>
      </p:sp>
      <p:sp>
        <p:nvSpPr>
          <p:cNvPr id="11" name="TextBox 11"/>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2" name="TextBox 12"/>
          <p:cNvSpPr txBox="1"/>
          <p:nvPr/>
        </p:nvSpPr>
        <p:spPr>
          <a:xfrm>
            <a:off x="1069316" y="144780"/>
            <a:ext cx="134376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9705698" y="1579121"/>
            <a:ext cx="6769034" cy="7128758"/>
          </a:xfrm>
          <a:custGeom>
            <a:avLst/>
            <a:gdLst/>
            <a:ahLst/>
            <a:cxnLst/>
            <a:rect l="l" t="t" r="r" b="b"/>
            <a:pathLst>
              <a:path w="6769034" h="7128758">
                <a:moveTo>
                  <a:pt x="0" y="0"/>
                </a:moveTo>
                <a:lnTo>
                  <a:pt x="6769033" y="0"/>
                </a:lnTo>
                <a:lnTo>
                  <a:pt x="6769033" y="7128758"/>
                </a:lnTo>
                <a:lnTo>
                  <a:pt x="0" y="7128758"/>
                </a:lnTo>
                <a:lnTo>
                  <a:pt x="0" y="0"/>
                </a:lnTo>
                <a:close/>
              </a:path>
            </a:pathLst>
          </a:custGeom>
          <a:blipFill>
            <a:blip r:embed="rId2"/>
            <a:stretch>
              <a:fillRect l="-7826" r="-7500" b="-5264"/>
            </a:stretch>
          </a:blipFill>
        </p:spPr>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28</a:t>
            </a:r>
          </a:p>
        </p:txBody>
      </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TextBox 11"/>
          <p:cNvSpPr txBox="1"/>
          <p:nvPr/>
        </p:nvSpPr>
        <p:spPr>
          <a:xfrm>
            <a:off x="1069316" y="144780"/>
            <a:ext cx="13771346"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Veri Kümesi</a:t>
            </a:r>
          </a:p>
        </p:txBody>
      </p:sp>
      <p:sp>
        <p:nvSpPr>
          <p:cNvPr id="12" name="TextBox 12"/>
          <p:cNvSpPr txBox="1"/>
          <p:nvPr/>
        </p:nvSpPr>
        <p:spPr>
          <a:xfrm>
            <a:off x="660460" y="2329884"/>
            <a:ext cx="7976874" cy="6701790"/>
          </a:xfrm>
          <a:prstGeom prst="rect">
            <a:avLst/>
          </a:prstGeom>
        </p:spPr>
        <p:txBody>
          <a:bodyPr lIns="0" tIns="0" rIns="0" bIns="0" rtlCol="0" anchor="t">
            <a:spAutoFit/>
          </a:bodyPr>
          <a:lstStyle/>
          <a:p>
            <a:pPr marL="518157" lvl="1" indent="-259078" algn="l">
              <a:lnSpc>
                <a:spcPts val="3359"/>
              </a:lnSpc>
              <a:buFont typeface="Arial"/>
              <a:buChar char="•"/>
            </a:pPr>
            <a:r>
              <a:rPr lang="en-US" sz="2399">
                <a:solidFill>
                  <a:srgbClr val="000000"/>
                </a:solidFill>
                <a:latin typeface="Roboto"/>
                <a:ea typeface="Roboto"/>
                <a:cs typeface="Roboto"/>
                <a:sym typeface="Roboto"/>
              </a:rPr>
              <a:t>Yapılan çalışmada CIFAR-10 veri seti kullanılmıştır.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Sınıf başına 6000 görüntü olmak üzere 10 sınıfta 60000 renkli görüntüden oluşur. 50000'i eğitim görseli, 10000'i test görselidir.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Her bir resim 32x32 boyutunda 3 renk kanalından oluşur.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Sınıflar uçaklar, arabalar, kuşlar, kediler, geyikler, köpekler, kurbağalar, atlar, gemiler ve kamyonlardır.</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Veri setinde her bir özelliğin image, label bilgisi bulunur. </a:t>
            </a:r>
          </a:p>
          <a:p>
            <a:pPr algn="l">
              <a:lnSpc>
                <a:spcPts val="3359"/>
              </a:lnSpc>
            </a:pPr>
            <a:endParaRPr lang="en-US" sz="2399">
              <a:solidFill>
                <a:srgbClr val="000000"/>
              </a:solidFill>
              <a:latin typeface="Roboto"/>
              <a:ea typeface="Roboto"/>
              <a:cs typeface="Roboto"/>
              <a:sym typeface="Roboto"/>
            </a:endParaRPr>
          </a:p>
          <a:p>
            <a:pPr algn="l">
              <a:lnSpc>
                <a:spcPts val="3359"/>
              </a:lnSpc>
            </a:pPr>
            <a:endParaRPr lang="en-US" sz="2399">
              <a:solidFill>
                <a:srgbClr val="000000"/>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820130"/>
            <a:ext cx="18288000" cy="466870"/>
            <a:chOff x="0" y="0"/>
            <a:chExt cx="4816593" cy="122962"/>
          </a:xfrm>
        </p:grpSpPr>
        <p:sp>
          <p:nvSpPr>
            <p:cNvPr id="3" name="Freeform 3"/>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4" name="TextBox 4"/>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57457" y="0"/>
            <a:ext cx="18802914" cy="1028700"/>
            <a:chOff x="0" y="0"/>
            <a:chExt cx="4952208" cy="270933"/>
          </a:xfrm>
        </p:grpSpPr>
        <p:sp>
          <p:nvSpPr>
            <p:cNvPr id="6" name="Freeform 6"/>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7" name="TextBox 7"/>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29</a:t>
            </a:r>
          </a:p>
        </p:txBody>
      </p:sp>
      <p:sp>
        <p:nvSpPr>
          <p:cNvPr id="9" name="TextBox 9"/>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0" name="TextBox 10"/>
          <p:cNvSpPr txBox="1"/>
          <p:nvPr/>
        </p:nvSpPr>
        <p:spPr>
          <a:xfrm>
            <a:off x="1069316" y="144780"/>
            <a:ext cx="1633928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Hiperparametreler</a:t>
            </a:r>
          </a:p>
        </p:txBody>
      </p:sp>
      <p:sp>
        <p:nvSpPr>
          <p:cNvPr id="11" name="TextBox 11"/>
          <p:cNvSpPr txBox="1"/>
          <p:nvPr/>
        </p:nvSpPr>
        <p:spPr>
          <a:xfrm>
            <a:off x="1028700" y="2068443"/>
            <a:ext cx="7481261" cy="12534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Normalizasyon:</a:t>
            </a:r>
          </a:p>
          <a:p>
            <a:pPr marL="518160" lvl="1" indent="-259080" algn="l">
              <a:lnSpc>
                <a:spcPts val="3359"/>
              </a:lnSpc>
              <a:spcBef>
                <a:spcPct val="0"/>
              </a:spcBef>
              <a:buFont typeface="Arial"/>
              <a:buChar char="•"/>
            </a:pPr>
            <a:r>
              <a:rPr lang="en-US" sz="2400">
                <a:solidFill>
                  <a:srgbClr val="000000"/>
                </a:solidFill>
                <a:latin typeface="Roboto"/>
                <a:ea typeface="Roboto"/>
                <a:cs typeface="Roboto"/>
                <a:sym typeface="Roboto"/>
              </a:rPr>
              <a:t>Ortalama değerler: [0.485, 0.456, 0.406]</a:t>
            </a:r>
          </a:p>
          <a:p>
            <a:pPr marL="518160" lvl="1" indent="-259080" algn="l">
              <a:lnSpc>
                <a:spcPts val="3359"/>
              </a:lnSpc>
              <a:spcBef>
                <a:spcPct val="0"/>
              </a:spcBef>
              <a:buFont typeface="Arial"/>
              <a:buChar char="•"/>
            </a:pPr>
            <a:r>
              <a:rPr lang="en-US" sz="2400">
                <a:solidFill>
                  <a:srgbClr val="000000"/>
                </a:solidFill>
                <a:latin typeface="Roboto"/>
                <a:ea typeface="Roboto"/>
                <a:cs typeface="Roboto"/>
                <a:sym typeface="Roboto"/>
              </a:rPr>
              <a:t>Standart sapma değerleri: [0.229, 0.224, 0.225]</a:t>
            </a:r>
          </a:p>
        </p:txBody>
      </p:sp>
      <p:sp>
        <p:nvSpPr>
          <p:cNvPr id="12" name="TextBox 12"/>
          <p:cNvSpPr txBox="1"/>
          <p:nvPr/>
        </p:nvSpPr>
        <p:spPr>
          <a:xfrm>
            <a:off x="1028700" y="3701028"/>
            <a:ext cx="4596871"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Yığın boyutu:</a:t>
            </a:r>
            <a:r>
              <a:rPr lang="en-US" sz="2400">
                <a:solidFill>
                  <a:srgbClr val="000000"/>
                </a:solidFill>
                <a:latin typeface="Roboto"/>
                <a:ea typeface="Roboto"/>
                <a:cs typeface="Roboto"/>
                <a:sym typeface="Roboto"/>
              </a:rPr>
              <a:t> 128</a:t>
            </a:r>
          </a:p>
        </p:txBody>
      </p:sp>
      <p:sp>
        <p:nvSpPr>
          <p:cNvPr id="13" name="TextBox 13"/>
          <p:cNvSpPr txBox="1"/>
          <p:nvPr/>
        </p:nvSpPr>
        <p:spPr>
          <a:xfrm>
            <a:off x="1028700" y="4497318"/>
            <a:ext cx="5301972"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Kayıp fonksiyonu: </a:t>
            </a:r>
            <a:r>
              <a:rPr lang="en-US" sz="2400">
                <a:solidFill>
                  <a:srgbClr val="000000"/>
                </a:solidFill>
                <a:latin typeface="Roboto"/>
                <a:ea typeface="Roboto"/>
                <a:cs typeface="Roboto"/>
                <a:sym typeface="Roboto"/>
              </a:rPr>
              <a:t>Çapraz Entropi kaybı</a:t>
            </a:r>
          </a:p>
        </p:txBody>
      </p:sp>
      <p:sp>
        <p:nvSpPr>
          <p:cNvPr id="14" name="TextBox 14"/>
          <p:cNvSpPr txBox="1"/>
          <p:nvPr/>
        </p:nvSpPr>
        <p:spPr>
          <a:xfrm>
            <a:off x="1028700" y="5293608"/>
            <a:ext cx="5301972"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Optimize edici: </a:t>
            </a:r>
            <a:r>
              <a:rPr lang="en-US" sz="2400">
                <a:solidFill>
                  <a:srgbClr val="000000"/>
                </a:solidFill>
                <a:latin typeface="Roboto"/>
                <a:ea typeface="Roboto"/>
                <a:cs typeface="Roboto"/>
                <a:sym typeface="Roboto"/>
              </a:rPr>
              <a:t>Adam</a:t>
            </a:r>
          </a:p>
        </p:txBody>
      </p:sp>
      <p:sp>
        <p:nvSpPr>
          <p:cNvPr id="15" name="TextBox 15"/>
          <p:cNvSpPr txBox="1"/>
          <p:nvPr/>
        </p:nvSpPr>
        <p:spPr>
          <a:xfrm>
            <a:off x="1028700" y="6886188"/>
            <a:ext cx="4162903"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Epoch sayısı: </a:t>
            </a:r>
            <a:r>
              <a:rPr lang="en-US" sz="2400">
                <a:solidFill>
                  <a:srgbClr val="000000"/>
                </a:solidFill>
                <a:latin typeface="Roboto"/>
                <a:ea typeface="Roboto"/>
                <a:cs typeface="Roboto"/>
                <a:sym typeface="Roboto"/>
              </a:rPr>
              <a:t>100, 200, 300</a:t>
            </a:r>
          </a:p>
        </p:txBody>
      </p:sp>
      <p:sp>
        <p:nvSpPr>
          <p:cNvPr id="16" name="TextBox 16"/>
          <p:cNvSpPr txBox="1"/>
          <p:nvPr/>
        </p:nvSpPr>
        <p:spPr>
          <a:xfrm>
            <a:off x="1028700" y="6089898"/>
            <a:ext cx="5301972"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Öğrenme oranı: </a:t>
            </a:r>
            <a:r>
              <a:rPr lang="en-US" sz="2400">
                <a:solidFill>
                  <a:srgbClr val="000000"/>
                </a:solidFill>
                <a:latin typeface="Roboto"/>
                <a:ea typeface="Roboto"/>
                <a:cs typeface="Roboto"/>
                <a:sym typeface="Roboto"/>
              </a:rPr>
              <a:t>0.001</a:t>
            </a:r>
          </a:p>
        </p:txBody>
      </p:sp>
      <p:sp>
        <p:nvSpPr>
          <p:cNvPr id="17" name="TextBox 17"/>
          <p:cNvSpPr txBox="1"/>
          <p:nvPr/>
        </p:nvSpPr>
        <p:spPr>
          <a:xfrm>
            <a:off x="1069316" y="7597382"/>
            <a:ext cx="4162903"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T: </a:t>
            </a:r>
            <a:r>
              <a:rPr lang="en-US" sz="2400">
                <a:solidFill>
                  <a:srgbClr val="000000"/>
                </a:solidFill>
                <a:latin typeface="Roboto"/>
                <a:ea typeface="Roboto"/>
                <a:cs typeface="Roboto"/>
                <a:sym typeface="Roboto"/>
              </a:rPr>
              <a:t>2</a:t>
            </a:r>
          </a:p>
        </p:txBody>
      </p:sp>
      <p:sp>
        <p:nvSpPr>
          <p:cNvPr id="18" name="TextBox 18"/>
          <p:cNvSpPr txBox="1"/>
          <p:nvPr/>
        </p:nvSpPr>
        <p:spPr>
          <a:xfrm>
            <a:off x="1069316" y="8307947"/>
            <a:ext cx="4162903"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Soft Target Loss Weight: </a:t>
            </a:r>
            <a:r>
              <a:rPr lang="en-US" sz="2400">
                <a:solidFill>
                  <a:srgbClr val="000000"/>
                </a:solidFill>
                <a:latin typeface="Roboto"/>
                <a:ea typeface="Roboto"/>
                <a:cs typeface="Roboto"/>
                <a:sym typeface="Roboto"/>
              </a:rPr>
              <a:t>0.25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30</a:t>
            </a:r>
          </a:p>
        </p:txBody>
      </p:sp>
      <p:grpSp>
        <p:nvGrpSpPr>
          <p:cNvPr id="3" name="Group 3"/>
          <p:cNvGrpSpPr/>
          <p:nvPr/>
        </p:nvGrpSpPr>
        <p:grpSpPr>
          <a:xfrm>
            <a:off x="0" y="9820130"/>
            <a:ext cx="18288000" cy="466870"/>
            <a:chOff x="0" y="0"/>
            <a:chExt cx="4816593" cy="122962"/>
          </a:xfrm>
        </p:grpSpPr>
        <p:sp>
          <p:nvSpPr>
            <p:cNvPr id="4" name="Freeform 4"/>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5" name="TextBox 5"/>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7" name="Group 7"/>
          <p:cNvGrpSpPr/>
          <p:nvPr/>
        </p:nvGrpSpPr>
        <p:grpSpPr>
          <a:xfrm>
            <a:off x="-257457" y="0"/>
            <a:ext cx="18802914" cy="1028700"/>
            <a:chOff x="0" y="0"/>
            <a:chExt cx="4952208" cy="270933"/>
          </a:xfrm>
        </p:grpSpPr>
        <p:sp>
          <p:nvSpPr>
            <p:cNvPr id="8" name="Freeform 8"/>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9" name="TextBox 9"/>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69316" y="144780"/>
            <a:ext cx="1531335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Deneysel Çalışma</a:t>
            </a:r>
          </a:p>
        </p:txBody>
      </p:sp>
      <p:sp>
        <p:nvSpPr>
          <p:cNvPr id="11" name="Freeform 11"/>
          <p:cNvSpPr/>
          <p:nvPr/>
        </p:nvSpPr>
        <p:spPr>
          <a:xfrm>
            <a:off x="4651317" y="2239515"/>
            <a:ext cx="8832668" cy="6309876"/>
          </a:xfrm>
          <a:custGeom>
            <a:avLst/>
            <a:gdLst/>
            <a:ahLst/>
            <a:cxnLst/>
            <a:rect l="l" t="t" r="r" b="b"/>
            <a:pathLst>
              <a:path w="8832668" h="6309876">
                <a:moveTo>
                  <a:pt x="0" y="0"/>
                </a:moveTo>
                <a:lnTo>
                  <a:pt x="8832668" y="0"/>
                </a:lnTo>
                <a:lnTo>
                  <a:pt x="8832668" y="6309876"/>
                </a:lnTo>
                <a:lnTo>
                  <a:pt x="0" y="6309876"/>
                </a:lnTo>
                <a:lnTo>
                  <a:pt x="0" y="0"/>
                </a:lnTo>
                <a:close/>
              </a:path>
            </a:pathLst>
          </a:custGeom>
          <a:blipFill>
            <a:blip r:embed="rId2"/>
            <a:stretch>
              <a:fillRect l="-9297" t="-14709" r="-17821" b="-5401"/>
            </a:stretch>
          </a:blipFill>
        </p:spPr>
      </p:sp>
      <p:sp>
        <p:nvSpPr>
          <p:cNvPr id="12" name="TextBox 12"/>
          <p:cNvSpPr txBox="1"/>
          <p:nvPr/>
        </p:nvSpPr>
        <p:spPr>
          <a:xfrm>
            <a:off x="6604790" y="8707437"/>
            <a:ext cx="5078420" cy="701675"/>
          </a:xfrm>
          <a:prstGeom prst="rect">
            <a:avLst/>
          </a:prstGeom>
        </p:spPr>
        <p:txBody>
          <a:bodyPr lIns="0" tIns="0" rIns="0" bIns="0" rtlCol="0" anchor="t">
            <a:spAutoFit/>
          </a:bodyPr>
          <a:lstStyle/>
          <a:p>
            <a:pPr algn="ctr">
              <a:lnSpc>
                <a:spcPts val="2799"/>
              </a:lnSpc>
              <a:spcBef>
                <a:spcPct val="0"/>
              </a:spcBef>
            </a:pPr>
            <a:r>
              <a:rPr lang="en-US" sz="1999">
                <a:solidFill>
                  <a:srgbClr val="000000"/>
                </a:solidFill>
                <a:latin typeface="Roboto"/>
                <a:ea typeface="Roboto"/>
                <a:cs typeface="Roboto"/>
                <a:sym typeface="Roboto"/>
              </a:rPr>
              <a:t>300 epoch ile Bilgi Damıtma Öncesi Öğretmen Modeli için Confusion Matrix</a:t>
            </a:r>
          </a:p>
        </p:txBody>
      </p:sp>
      <p:sp>
        <p:nvSpPr>
          <p:cNvPr id="13" name="TextBox 13"/>
          <p:cNvSpPr txBox="1"/>
          <p:nvPr/>
        </p:nvSpPr>
        <p:spPr>
          <a:xfrm>
            <a:off x="14654102" y="1609804"/>
            <a:ext cx="2746465" cy="2473325"/>
          </a:xfrm>
          <a:prstGeom prst="rect">
            <a:avLst/>
          </a:prstGeom>
        </p:spPr>
        <p:txBody>
          <a:bodyPr lIns="0" tIns="0" rIns="0" bIns="0" rtlCol="0" anchor="t">
            <a:spAutoFit/>
          </a:bodyPr>
          <a:lstStyle/>
          <a:p>
            <a:pPr algn="r">
              <a:lnSpc>
                <a:spcPts val="2800"/>
              </a:lnSpc>
            </a:pPr>
            <a:r>
              <a:rPr lang="en-US" sz="2000">
                <a:solidFill>
                  <a:srgbClr val="000000"/>
                </a:solidFill>
                <a:latin typeface="Roboto"/>
                <a:ea typeface="Roboto"/>
                <a:cs typeface="Roboto"/>
                <a:sym typeface="Roboto"/>
              </a:rPr>
              <a:t>Veri Seti: CIFAR-10</a:t>
            </a:r>
          </a:p>
          <a:p>
            <a:pPr algn="r">
              <a:lnSpc>
                <a:spcPts val="2800"/>
              </a:lnSpc>
            </a:pPr>
            <a:r>
              <a:rPr lang="en-US" sz="2000">
                <a:solidFill>
                  <a:srgbClr val="000000"/>
                </a:solidFill>
                <a:latin typeface="Roboto"/>
                <a:ea typeface="Roboto"/>
                <a:cs typeface="Roboto"/>
                <a:sym typeface="Roboto"/>
              </a:rPr>
              <a:t>Epoch = 300</a:t>
            </a:r>
          </a:p>
          <a:p>
            <a:pPr algn="r">
              <a:lnSpc>
                <a:spcPts val="2800"/>
              </a:lnSpc>
            </a:pPr>
            <a:r>
              <a:rPr lang="en-US" sz="2000">
                <a:solidFill>
                  <a:srgbClr val="000000"/>
                </a:solidFill>
                <a:latin typeface="Roboto"/>
                <a:ea typeface="Roboto"/>
                <a:cs typeface="Roboto"/>
                <a:sym typeface="Roboto"/>
              </a:rPr>
              <a:t>Accuracy: 74.68%</a:t>
            </a:r>
          </a:p>
          <a:p>
            <a:pPr algn="r">
              <a:lnSpc>
                <a:spcPts val="2800"/>
              </a:lnSpc>
            </a:pPr>
            <a:r>
              <a:rPr lang="en-US" sz="2000">
                <a:solidFill>
                  <a:srgbClr val="000000"/>
                </a:solidFill>
                <a:latin typeface="Roboto"/>
                <a:ea typeface="Roboto"/>
                <a:cs typeface="Roboto"/>
                <a:sym typeface="Roboto"/>
              </a:rPr>
              <a:t>Precision: 74.49%</a:t>
            </a:r>
          </a:p>
          <a:p>
            <a:pPr algn="r">
              <a:lnSpc>
                <a:spcPts val="2800"/>
              </a:lnSpc>
            </a:pPr>
            <a:r>
              <a:rPr lang="en-US" sz="2000">
                <a:solidFill>
                  <a:srgbClr val="000000"/>
                </a:solidFill>
                <a:latin typeface="Roboto"/>
                <a:ea typeface="Roboto"/>
                <a:cs typeface="Roboto"/>
                <a:sym typeface="Roboto"/>
              </a:rPr>
              <a:t>Recall : 74.68%</a:t>
            </a:r>
          </a:p>
          <a:p>
            <a:pPr algn="r">
              <a:lnSpc>
                <a:spcPts val="2800"/>
              </a:lnSpc>
            </a:pPr>
            <a:r>
              <a:rPr lang="en-US" sz="2000">
                <a:solidFill>
                  <a:srgbClr val="000000"/>
                </a:solidFill>
                <a:latin typeface="Roboto"/>
                <a:ea typeface="Roboto"/>
                <a:cs typeface="Roboto"/>
                <a:sym typeface="Roboto"/>
              </a:rPr>
              <a:t>F1 Score: 74.45%</a:t>
            </a:r>
          </a:p>
          <a:p>
            <a:pPr algn="l">
              <a:lnSpc>
                <a:spcPts val="2800"/>
              </a:lnSpc>
            </a:pPr>
            <a:endParaRPr lang="en-US" sz="2000">
              <a:solidFill>
                <a:srgbClr val="000000"/>
              </a:solidFill>
              <a:latin typeface="Roboto"/>
              <a:ea typeface="Roboto"/>
              <a:cs typeface="Roboto"/>
              <a:sym typeface="Roboto"/>
            </a:endParaRPr>
          </a:p>
        </p:txBody>
      </p:sp>
      <p:sp>
        <p:nvSpPr>
          <p:cNvPr id="14" name="TextBox 14"/>
          <p:cNvSpPr txBox="1"/>
          <p:nvPr/>
        </p:nvSpPr>
        <p:spPr>
          <a:xfrm>
            <a:off x="989960" y="1609804"/>
            <a:ext cx="11125840" cy="436017"/>
          </a:xfrm>
          <a:prstGeom prst="rect">
            <a:avLst/>
          </a:prstGeom>
        </p:spPr>
        <p:txBody>
          <a:bodyPr wrap="square" lIns="0" tIns="0" rIns="0" bIns="0" rtlCol="0" anchor="t">
            <a:spAutoFit/>
          </a:bodyPr>
          <a:lstStyle/>
          <a:p>
            <a:pPr algn="l">
              <a:lnSpc>
                <a:spcPts val="3359"/>
              </a:lnSpc>
              <a:spcBef>
                <a:spcPct val="0"/>
              </a:spcBef>
            </a:pPr>
            <a:r>
              <a:rPr lang="en-US" sz="2399" b="1" dirty="0">
                <a:solidFill>
                  <a:srgbClr val="000000"/>
                </a:solidFill>
                <a:latin typeface="Roboto Bold"/>
                <a:ea typeface="Roboto Bold"/>
                <a:cs typeface="Roboto Bold"/>
                <a:sym typeface="Roboto Bold"/>
              </a:rPr>
              <a:t>Test 1: </a:t>
            </a:r>
            <a:r>
              <a:rPr lang="en-US" sz="2399" b="1" dirty="0" err="1">
                <a:solidFill>
                  <a:srgbClr val="000000"/>
                </a:solidFill>
                <a:latin typeface="Roboto Bold"/>
                <a:ea typeface="Roboto Bold"/>
                <a:cs typeface="Roboto Bold"/>
                <a:sym typeface="Roboto Bold"/>
              </a:rPr>
              <a:t>Öğretmen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ve</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öğrenci</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modelinin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aynı</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olduğu</a:t>
            </a:r>
            <a:r>
              <a:rPr lang="en-US" sz="2399" b="1" dirty="0">
                <a:solidFill>
                  <a:srgbClr val="000000"/>
                </a:solidFill>
                <a:latin typeface="Roboto Bold"/>
                <a:ea typeface="Roboto Bold"/>
                <a:cs typeface="Roboto Bold"/>
                <a:sym typeface="Roboto Bold"/>
              </a:rPr>
              <a:t> durum.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31</a:t>
            </a:r>
          </a:p>
        </p:txBody>
      </p:sp>
      <p:grpSp>
        <p:nvGrpSpPr>
          <p:cNvPr id="3" name="Group 3"/>
          <p:cNvGrpSpPr/>
          <p:nvPr/>
        </p:nvGrpSpPr>
        <p:grpSpPr>
          <a:xfrm>
            <a:off x="0" y="9820130"/>
            <a:ext cx="18288000" cy="466870"/>
            <a:chOff x="0" y="0"/>
            <a:chExt cx="4816593" cy="122962"/>
          </a:xfrm>
        </p:grpSpPr>
        <p:sp>
          <p:nvSpPr>
            <p:cNvPr id="4" name="Freeform 4"/>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5" name="TextBox 5"/>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7" name="Group 7"/>
          <p:cNvGrpSpPr/>
          <p:nvPr/>
        </p:nvGrpSpPr>
        <p:grpSpPr>
          <a:xfrm>
            <a:off x="-257457" y="0"/>
            <a:ext cx="18802914" cy="1028700"/>
            <a:chOff x="0" y="0"/>
            <a:chExt cx="4952208" cy="270933"/>
          </a:xfrm>
        </p:grpSpPr>
        <p:sp>
          <p:nvSpPr>
            <p:cNvPr id="8" name="Freeform 8"/>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9" name="TextBox 9"/>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69316" y="144780"/>
            <a:ext cx="14975328"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Deneysel Çalışma</a:t>
            </a:r>
          </a:p>
        </p:txBody>
      </p:sp>
      <p:sp>
        <p:nvSpPr>
          <p:cNvPr id="11" name="Freeform 11"/>
          <p:cNvSpPr/>
          <p:nvPr/>
        </p:nvSpPr>
        <p:spPr>
          <a:xfrm>
            <a:off x="4896756" y="2303409"/>
            <a:ext cx="8494488" cy="6242012"/>
          </a:xfrm>
          <a:custGeom>
            <a:avLst/>
            <a:gdLst/>
            <a:ahLst/>
            <a:cxnLst/>
            <a:rect l="l" t="t" r="r" b="b"/>
            <a:pathLst>
              <a:path w="8494488" h="6242012">
                <a:moveTo>
                  <a:pt x="0" y="0"/>
                </a:moveTo>
                <a:lnTo>
                  <a:pt x="8494488" y="0"/>
                </a:lnTo>
                <a:lnTo>
                  <a:pt x="8494488" y="6242012"/>
                </a:lnTo>
                <a:lnTo>
                  <a:pt x="0" y="6242012"/>
                </a:lnTo>
                <a:lnTo>
                  <a:pt x="0" y="0"/>
                </a:lnTo>
                <a:close/>
              </a:path>
            </a:pathLst>
          </a:custGeom>
          <a:blipFill>
            <a:blip r:embed="rId2"/>
            <a:stretch>
              <a:fillRect l="-10267" t="-13637" r="-19238" b="-5324"/>
            </a:stretch>
          </a:blipFill>
        </p:spPr>
      </p:sp>
      <p:sp>
        <p:nvSpPr>
          <p:cNvPr id="12" name="TextBox 12"/>
          <p:cNvSpPr txBox="1"/>
          <p:nvPr/>
        </p:nvSpPr>
        <p:spPr>
          <a:xfrm>
            <a:off x="6248752" y="8697913"/>
            <a:ext cx="5556330" cy="71120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300 epoch ile Bilgi Damıtma Öncesi Öğrenci Modeli için Confusion Matrix</a:t>
            </a:r>
          </a:p>
        </p:txBody>
      </p:sp>
      <p:sp>
        <p:nvSpPr>
          <p:cNvPr id="13" name="TextBox 13"/>
          <p:cNvSpPr txBox="1"/>
          <p:nvPr/>
        </p:nvSpPr>
        <p:spPr>
          <a:xfrm>
            <a:off x="14656245" y="1609804"/>
            <a:ext cx="2746465" cy="2473325"/>
          </a:xfrm>
          <a:prstGeom prst="rect">
            <a:avLst/>
          </a:prstGeom>
        </p:spPr>
        <p:txBody>
          <a:bodyPr lIns="0" tIns="0" rIns="0" bIns="0" rtlCol="0" anchor="t">
            <a:spAutoFit/>
          </a:bodyPr>
          <a:lstStyle/>
          <a:p>
            <a:pPr algn="r">
              <a:lnSpc>
                <a:spcPts val="2800"/>
              </a:lnSpc>
            </a:pPr>
            <a:r>
              <a:rPr lang="en-US" sz="2000">
                <a:solidFill>
                  <a:srgbClr val="000000"/>
                </a:solidFill>
                <a:latin typeface="Roboto"/>
                <a:ea typeface="Roboto"/>
                <a:cs typeface="Roboto"/>
                <a:sym typeface="Roboto"/>
              </a:rPr>
              <a:t>Veri Seti: CIFAR-10</a:t>
            </a:r>
          </a:p>
          <a:p>
            <a:pPr algn="r">
              <a:lnSpc>
                <a:spcPts val="2800"/>
              </a:lnSpc>
            </a:pPr>
            <a:r>
              <a:rPr lang="en-US" sz="2000">
                <a:solidFill>
                  <a:srgbClr val="000000"/>
                </a:solidFill>
                <a:latin typeface="Roboto"/>
                <a:ea typeface="Roboto"/>
                <a:cs typeface="Roboto"/>
                <a:sym typeface="Roboto"/>
              </a:rPr>
              <a:t>Epoch = 300</a:t>
            </a:r>
          </a:p>
          <a:p>
            <a:pPr algn="r">
              <a:lnSpc>
                <a:spcPts val="2800"/>
              </a:lnSpc>
            </a:pPr>
            <a:r>
              <a:rPr lang="en-US" sz="2000">
                <a:solidFill>
                  <a:srgbClr val="000000"/>
                </a:solidFill>
                <a:latin typeface="Roboto"/>
                <a:ea typeface="Roboto"/>
                <a:cs typeface="Roboto"/>
                <a:sym typeface="Roboto"/>
              </a:rPr>
              <a:t>Accuracy: 74.16%</a:t>
            </a:r>
          </a:p>
          <a:p>
            <a:pPr algn="r">
              <a:lnSpc>
                <a:spcPts val="2800"/>
              </a:lnSpc>
            </a:pPr>
            <a:r>
              <a:rPr lang="en-US" sz="2000">
                <a:solidFill>
                  <a:srgbClr val="000000"/>
                </a:solidFill>
                <a:latin typeface="Roboto"/>
                <a:ea typeface="Roboto"/>
                <a:cs typeface="Roboto"/>
                <a:sym typeface="Roboto"/>
              </a:rPr>
              <a:t>Precision: 74.37%</a:t>
            </a:r>
          </a:p>
          <a:p>
            <a:pPr algn="r">
              <a:lnSpc>
                <a:spcPts val="2800"/>
              </a:lnSpc>
            </a:pPr>
            <a:r>
              <a:rPr lang="en-US" sz="2000">
                <a:solidFill>
                  <a:srgbClr val="000000"/>
                </a:solidFill>
                <a:latin typeface="Roboto"/>
                <a:ea typeface="Roboto"/>
                <a:cs typeface="Roboto"/>
                <a:sym typeface="Roboto"/>
              </a:rPr>
              <a:t>Recall : 74.16%</a:t>
            </a:r>
          </a:p>
          <a:p>
            <a:pPr algn="r">
              <a:lnSpc>
                <a:spcPts val="2800"/>
              </a:lnSpc>
            </a:pPr>
            <a:r>
              <a:rPr lang="en-US" sz="2000">
                <a:solidFill>
                  <a:srgbClr val="000000"/>
                </a:solidFill>
                <a:latin typeface="Roboto"/>
                <a:ea typeface="Roboto"/>
                <a:cs typeface="Roboto"/>
                <a:sym typeface="Roboto"/>
              </a:rPr>
              <a:t>F1 Score: 74.20%</a:t>
            </a:r>
          </a:p>
          <a:p>
            <a:pPr algn="l">
              <a:lnSpc>
                <a:spcPts val="2800"/>
              </a:lnSpc>
            </a:pPr>
            <a:endParaRPr lang="en-US" sz="2000">
              <a:solidFill>
                <a:srgbClr val="000000"/>
              </a:solidFill>
              <a:latin typeface="Roboto"/>
              <a:ea typeface="Roboto"/>
              <a:cs typeface="Roboto"/>
              <a:sym typeface="Roboto"/>
            </a:endParaRPr>
          </a:p>
        </p:txBody>
      </p:sp>
      <p:sp>
        <p:nvSpPr>
          <p:cNvPr id="14" name="TextBox 14"/>
          <p:cNvSpPr txBox="1"/>
          <p:nvPr/>
        </p:nvSpPr>
        <p:spPr>
          <a:xfrm>
            <a:off x="989960" y="1609804"/>
            <a:ext cx="9830440" cy="436017"/>
          </a:xfrm>
          <a:prstGeom prst="rect">
            <a:avLst/>
          </a:prstGeom>
        </p:spPr>
        <p:txBody>
          <a:bodyPr wrap="square" lIns="0" tIns="0" rIns="0" bIns="0" rtlCol="0" anchor="t">
            <a:spAutoFit/>
          </a:bodyPr>
          <a:lstStyle/>
          <a:p>
            <a:pPr algn="l">
              <a:lnSpc>
                <a:spcPts val="3359"/>
              </a:lnSpc>
              <a:spcBef>
                <a:spcPct val="0"/>
              </a:spcBef>
            </a:pPr>
            <a:r>
              <a:rPr lang="en-US" sz="2399" b="1" dirty="0">
                <a:solidFill>
                  <a:srgbClr val="000000"/>
                </a:solidFill>
                <a:latin typeface="Roboto Bold"/>
                <a:ea typeface="Roboto Bold"/>
                <a:cs typeface="Roboto Bold"/>
                <a:sym typeface="Roboto Bold"/>
              </a:rPr>
              <a:t>Test 1: </a:t>
            </a:r>
            <a:r>
              <a:rPr lang="en-US" sz="2399" b="1" dirty="0" err="1">
                <a:solidFill>
                  <a:srgbClr val="000000"/>
                </a:solidFill>
                <a:latin typeface="Roboto Bold"/>
                <a:ea typeface="Roboto Bold"/>
                <a:cs typeface="Roboto Bold"/>
                <a:sym typeface="Roboto Bold"/>
              </a:rPr>
              <a:t>Öğretmen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ve</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öğrenci</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modelinin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aynı</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olduğu</a:t>
            </a:r>
            <a:r>
              <a:rPr lang="en-US" sz="2399" b="1" dirty="0">
                <a:solidFill>
                  <a:srgbClr val="000000"/>
                </a:solidFill>
                <a:latin typeface="Roboto Bold"/>
                <a:ea typeface="Roboto Bold"/>
                <a:cs typeface="Roboto Bold"/>
                <a:sym typeface="Roboto Bold"/>
              </a:rPr>
              <a:t> durum.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32</a:t>
            </a:r>
          </a:p>
        </p:txBody>
      </p:sp>
      <p:grpSp>
        <p:nvGrpSpPr>
          <p:cNvPr id="3" name="Group 3"/>
          <p:cNvGrpSpPr/>
          <p:nvPr/>
        </p:nvGrpSpPr>
        <p:grpSpPr>
          <a:xfrm>
            <a:off x="0" y="9820130"/>
            <a:ext cx="18288000" cy="466870"/>
            <a:chOff x="0" y="0"/>
            <a:chExt cx="4816593" cy="122962"/>
          </a:xfrm>
        </p:grpSpPr>
        <p:sp>
          <p:nvSpPr>
            <p:cNvPr id="4" name="Freeform 4"/>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5" name="TextBox 5"/>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7" name="Group 7"/>
          <p:cNvGrpSpPr/>
          <p:nvPr/>
        </p:nvGrpSpPr>
        <p:grpSpPr>
          <a:xfrm>
            <a:off x="-257457" y="0"/>
            <a:ext cx="18802914" cy="1028700"/>
            <a:chOff x="0" y="0"/>
            <a:chExt cx="4952208" cy="270933"/>
          </a:xfrm>
        </p:grpSpPr>
        <p:sp>
          <p:nvSpPr>
            <p:cNvPr id="8" name="Freeform 8"/>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9" name="TextBox 9"/>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69316" y="144780"/>
            <a:ext cx="15280157"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Deneysel Çalışma</a:t>
            </a:r>
          </a:p>
        </p:txBody>
      </p:sp>
      <p:sp>
        <p:nvSpPr>
          <p:cNvPr id="11" name="Freeform 11"/>
          <p:cNvSpPr/>
          <p:nvPr/>
        </p:nvSpPr>
        <p:spPr>
          <a:xfrm>
            <a:off x="4879567" y="2353943"/>
            <a:ext cx="8528865" cy="6239194"/>
          </a:xfrm>
          <a:custGeom>
            <a:avLst/>
            <a:gdLst/>
            <a:ahLst/>
            <a:cxnLst/>
            <a:rect l="l" t="t" r="r" b="b"/>
            <a:pathLst>
              <a:path w="8528865" h="6239194">
                <a:moveTo>
                  <a:pt x="0" y="0"/>
                </a:moveTo>
                <a:lnTo>
                  <a:pt x="8528866" y="0"/>
                </a:lnTo>
                <a:lnTo>
                  <a:pt x="8528866" y="6239195"/>
                </a:lnTo>
                <a:lnTo>
                  <a:pt x="0" y="6239195"/>
                </a:lnTo>
                <a:lnTo>
                  <a:pt x="0" y="0"/>
                </a:lnTo>
                <a:close/>
              </a:path>
            </a:pathLst>
          </a:custGeom>
          <a:blipFill>
            <a:blip r:embed="rId2"/>
            <a:stretch>
              <a:fillRect l="-10787" t="-13619" r="-18835" b="-5985"/>
            </a:stretch>
          </a:blipFill>
        </p:spPr>
      </p:sp>
      <p:sp>
        <p:nvSpPr>
          <p:cNvPr id="12" name="TextBox 12"/>
          <p:cNvSpPr txBox="1"/>
          <p:nvPr/>
        </p:nvSpPr>
        <p:spPr>
          <a:xfrm>
            <a:off x="7108498" y="8697913"/>
            <a:ext cx="4639416" cy="71120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300 epoch ile Bilgi Damıtma Sonrası Öğrenci Modeli İçin Confusion Matrix</a:t>
            </a:r>
          </a:p>
        </p:txBody>
      </p:sp>
      <p:sp>
        <p:nvSpPr>
          <p:cNvPr id="13" name="TextBox 13"/>
          <p:cNvSpPr txBox="1"/>
          <p:nvPr/>
        </p:nvSpPr>
        <p:spPr>
          <a:xfrm>
            <a:off x="14660174" y="1609804"/>
            <a:ext cx="2746465" cy="2120900"/>
          </a:xfrm>
          <a:prstGeom prst="rect">
            <a:avLst/>
          </a:prstGeom>
        </p:spPr>
        <p:txBody>
          <a:bodyPr lIns="0" tIns="0" rIns="0" bIns="0" rtlCol="0" anchor="t">
            <a:spAutoFit/>
          </a:bodyPr>
          <a:lstStyle/>
          <a:p>
            <a:pPr algn="r">
              <a:lnSpc>
                <a:spcPts val="2800"/>
              </a:lnSpc>
            </a:pPr>
            <a:r>
              <a:rPr lang="en-US" sz="2000">
                <a:solidFill>
                  <a:srgbClr val="000000"/>
                </a:solidFill>
                <a:latin typeface="Roboto"/>
                <a:ea typeface="Roboto"/>
                <a:cs typeface="Roboto"/>
                <a:sym typeface="Roboto"/>
              </a:rPr>
              <a:t>Veri Seti: CIFAR-10</a:t>
            </a:r>
          </a:p>
          <a:p>
            <a:pPr algn="r">
              <a:lnSpc>
                <a:spcPts val="2800"/>
              </a:lnSpc>
            </a:pPr>
            <a:r>
              <a:rPr lang="en-US" sz="2000">
                <a:solidFill>
                  <a:srgbClr val="000000"/>
                </a:solidFill>
                <a:latin typeface="Roboto"/>
                <a:ea typeface="Roboto"/>
                <a:cs typeface="Roboto"/>
                <a:sym typeface="Roboto"/>
              </a:rPr>
              <a:t>Epoch = 300</a:t>
            </a:r>
          </a:p>
          <a:p>
            <a:pPr algn="r">
              <a:lnSpc>
                <a:spcPts val="2800"/>
              </a:lnSpc>
            </a:pPr>
            <a:r>
              <a:rPr lang="en-US" sz="2000">
                <a:solidFill>
                  <a:srgbClr val="000000"/>
                </a:solidFill>
                <a:latin typeface="Roboto"/>
                <a:ea typeface="Roboto"/>
                <a:cs typeface="Roboto"/>
                <a:sym typeface="Roboto"/>
              </a:rPr>
              <a:t>Accuracy: 74.58%</a:t>
            </a:r>
          </a:p>
          <a:p>
            <a:pPr algn="r">
              <a:lnSpc>
                <a:spcPts val="2800"/>
              </a:lnSpc>
            </a:pPr>
            <a:r>
              <a:rPr lang="en-US" sz="2000">
                <a:solidFill>
                  <a:srgbClr val="000000"/>
                </a:solidFill>
                <a:latin typeface="Roboto"/>
                <a:ea typeface="Roboto"/>
                <a:cs typeface="Roboto"/>
                <a:sym typeface="Roboto"/>
              </a:rPr>
              <a:t>Precision: 74.63% </a:t>
            </a:r>
          </a:p>
          <a:p>
            <a:pPr algn="r">
              <a:lnSpc>
                <a:spcPts val="2800"/>
              </a:lnSpc>
            </a:pPr>
            <a:r>
              <a:rPr lang="en-US" sz="2000">
                <a:solidFill>
                  <a:srgbClr val="000000"/>
                </a:solidFill>
                <a:latin typeface="Roboto"/>
                <a:ea typeface="Roboto"/>
                <a:cs typeface="Roboto"/>
                <a:sym typeface="Roboto"/>
              </a:rPr>
              <a:t>Recall : 74.58%</a:t>
            </a:r>
          </a:p>
          <a:p>
            <a:pPr algn="r">
              <a:lnSpc>
                <a:spcPts val="2800"/>
              </a:lnSpc>
            </a:pPr>
            <a:r>
              <a:rPr lang="en-US" sz="2000">
                <a:solidFill>
                  <a:srgbClr val="000000"/>
                </a:solidFill>
                <a:latin typeface="Roboto"/>
                <a:ea typeface="Roboto"/>
                <a:cs typeface="Roboto"/>
                <a:sym typeface="Roboto"/>
              </a:rPr>
              <a:t>F1 Score: 74.55%</a:t>
            </a:r>
          </a:p>
        </p:txBody>
      </p:sp>
      <p:sp>
        <p:nvSpPr>
          <p:cNvPr id="14" name="TextBox 14"/>
          <p:cNvSpPr txBox="1"/>
          <p:nvPr/>
        </p:nvSpPr>
        <p:spPr>
          <a:xfrm>
            <a:off x="989960" y="1609804"/>
            <a:ext cx="9601840" cy="436017"/>
          </a:xfrm>
          <a:prstGeom prst="rect">
            <a:avLst/>
          </a:prstGeom>
        </p:spPr>
        <p:txBody>
          <a:bodyPr wrap="square" lIns="0" tIns="0" rIns="0" bIns="0" rtlCol="0" anchor="t">
            <a:spAutoFit/>
          </a:bodyPr>
          <a:lstStyle/>
          <a:p>
            <a:pPr algn="l">
              <a:lnSpc>
                <a:spcPts val="3359"/>
              </a:lnSpc>
              <a:spcBef>
                <a:spcPct val="0"/>
              </a:spcBef>
            </a:pPr>
            <a:r>
              <a:rPr lang="en-US" sz="2399" b="1" dirty="0">
                <a:solidFill>
                  <a:srgbClr val="000000"/>
                </a:solidFill>
                <a:latin typeface="Roboto Bold"/>
                <a:ea typeface="Roboto Bold"/>
                <a:cs typeface="Roboto Bold"/>
                <a:sym typeface="Roboto Bold"/>
              </a:rPr>
              <a:t>Test 1: </a:t>
            </a:r>
            <a:r>
              <a:rPr lang="en-US" sz="2399" b="1" dirty="0" err="1">
                <a:solidFill>
                  <a:srgbClr val="000000"/>
                </a:solidFill>
                <a:latin typeface="Roboto Bold"/>
                <a:ea typeface="Roboto Bold"/>
                <a:cs typeface="Roboto Bold"/>
                <a:sym typeface="Roboto Bold"/>
              </a:rPr>
              <a:t>Öğretmen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ve</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öğrenci</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modelinin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aynı</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olduğu</a:t>
            </a:r>
            <a:r>
              <a:rPr lang="en-US" sz="2399" b="1" dirty="0">
                <a:solidFill>
                  <a:srgbClr val="000000"/>
                </a:solidFill>
                <a:latin typeface="Roboto Bold"/>
                <a:ea typeface="Roboto Bold"/>
                <a:cs typeface="Roboto Bold"/>
                <a:sym typeface="Roboto Bold"/>
              </a:rPr>
              <a:t> durum.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33</a:t>
            </a:r>
          </a:p>
        </p:txBody>
      </p:sp>
      <p:sp>
        <p:nvSpPr>
          <p:cNvPr id="3" name="Freeform 3"/>
          <p:cNvSpPr/>
          <p:nvPr/>
        </p:nvSpPr>
        <p:spPr>
          <a:xfrm>
            <a:off x="3756587" y="2663269"/>
            <a:ext cx="10774827" cy="6402413"/>
          </a:xfrm>
          <a:custGeom>
            <a:avLst/>
            <a:gdLst/>
            <a:ahLst/>
            <a:cxnLst/>
            <a:rect l="l" t="t" r="r" b="b"/>
            <a:pathLst>
              <a:path w="10774827" h="6402413">
                <a:moveTo>
                  <a:pt x="0" y="0"/>
                </a:moveTo>
                <a:lnTo>
                  <a:pt x="10774826" y="0"/>
                </a:lnTo>
                <a:lnTo>
                  <a:pt x="10774826" y="6402412"/>
                </a:lnTo>
                <a:lnTo>
                  <a:pt x="0" y="6402412"/>
                </a:lnTo>
                <a:lnTo>
                  <a:pt x="0" y="0"/>
                </a:lnTo>
                <a:close/>
              </a:path>
            </a:pathLst>
          </a:custGeom>
          <a:blipFill>
            <a:blip r:embed="rId2"/>
            <a:stretch>
              <a:fillRect l="-87321" t="-80233" r="-93959" b="-86040"/>
            </a:stretch>
          </a:blipFill>
        </p:spPr>
      </p:sp>
      <p:grpSp>
        <p:nvGrpSpPr>
          <p:cNvPr id="4" name="Group 4"/>
          <p:cNvGrpSpPr/>
          <p:nvPr/>
        </p:nvGrpSpPr>
        <p:grpSpPr>
          <a:xfrm>
            <a:off x="0" y="9820130"/>
            <a:ext cx="18288000" cy="466870"/>
            <a:chOff x="0" y="0"/>
            <a:chExt cx="4816593" cy="122962"/>
          </a:xfrm>
        </p:grpSpPr>
        <p:sp>
          <p:nvSpPr>
            <p:cNvPr id="5" name="Freeform 5"/>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6" name="TextBox 6"/>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8" name="Group 8"/>
          <p:cNvGrpSpPr/>
          <p:nvPr/>
        </p:nvGrpSpPr>
        <p:grpSpPr>
          <a:xfrm>
            <a:off x="-257457" y="0"/>
            <a:ext cx="18802914" cy="1028700"/>
            <a:chOff x="0" y="0"/>
            <a:chExt cx="4952208" cy="270933"/>
          </a:xfrm>
        </p:grpSpPr>
        <p:sp>
          <p:nvSpPr>
            <p:cNvPr id="9" name="Freeform 9"/>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10" name="TextBox 10"/>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69316" y="144780"/>
            <a:ext cx="15227823"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Deneysel Çalışma</a:t>
            </a:r>
          </a:p>
        </p:txBody>
      </p:sp>
      <p:sp>
        <p:nvSpPr>
          <p:cNvPr id="12" name="TextBox 12"/>
          <p:cNvSpPr txBox="1"/>
          <p:nvPr/>
        </p:nvSpPr>
        <p:spPr>
          <a:xfrm>
            <a:off x="989960" y="1609804"/>
            <a:ext cx="10135240" cy="436017"/>
          </a:xfrm>
          <a:prstGeom prst="rect">
            <a:avLst/>
          </a:prstGeom>
        </p:spPr>
        <p:txBody>
          <a:bodyPr wrap="square" lIns="0" tIns="0" rIns="0" bIns="0" rtlCol="0" anchor="t">
            <a:spAutoFit/>
          </a:bodyPr>
          <a:lstStyle/>
          <a:p>
            <a:pPr algn="l">
              <a:lnSpc>
                <a:spcPts val="3359"/>
              </a:lnSpc>
              <a:spcBef>
                <a:spcPct val="0"/>
              </a:spcBef>
            </a:pPr>
            <a:r>
              <a:rPr lang="en-US" sz="2399" b="1" dirty="0">
                <a:solidFill>
                  <a:srgbClr val="000000"/>
                </a:solidFill>
                <a:latin typeface="Roboto Bold"/>
                <a:ea typeface="Roboto Bold"/>
                <a:cs typeface="Roboto Bold"/>
                <a:sym typeface="Roboto Bold"/>
              </a:rPr>
              <a:t>Test 1: </a:t>
            </a:r>
            <a:r>
              <a:rPr lang="en-US" sz="2399" b="1" dirty="0" err="1">
                <a:solidFill>
                  <a:srgbClr val="000000"/>
                </a:solidFill>
                <a:latin typeface="Roboto Bold"/>
                <a:ea typeface="Roboto Bold"/>
                <a:cs typeface="Roboto Bold"/>
                <a:sym typeface="Roboto Bold"/>
              </a:rPr>
              <a:t>Öğretmen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ve</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öğrenci</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modelinin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aynı</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olduğu</a:t>
            </a:r>
            <a:r>
              <a:rPr lang="en-US" sz="2399" b="1" dirty="0">
                <a:solidFill>
                  <a:srgbClr val="000000"/>
                </a:solidFill>
                <a:latin typeface="Roboto Bold"/>
                <a:ea typeface="Roboto Bold"/>
                <a:cs typeface="Roboto Bold"/>
                <a:sym typeface="Roboto Bold"/>
              </a:rPr>
              <a:t> durum.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34</a:t>
            </a:r>
          </a:p>
        </p:txBody>
      </p:sp>
      <p:grpSp>
        <p:nvGrpSpPr>
          <p:cNvPr id="3" name="Group 3"/>
          <p:cNvGrpSpPr/>
          <p:nvPr/>
        </p:nvGrpSpPr>
        <p:grpSpPr>
          <a:xfrm>
            <a:off x="-257457" y="0"/>
            <a:ext cx="18802914" cy="1028700"/>
            <a:chOff x="0" y="0"/>
            <a:chExt cx="4952208" cy="270933"/>
          </a:xfrm>
        </p:grpSpPr>
        <p:sp>
          <p:nvSpPr>
            <p:cNvPr id="4" name="Freeform 4"/>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5" name="TextBox 5"/>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69316" y="144780"/>
            <a:ext cx="1576784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Deneysel Çalışma</a:t>
            </a:r>
          </a:p>
        </p:txBody>
      </p:sp>
      <p:grpSp>
        <p:nvGrpSpPr>
          <p:cNvPr id="7" name="Group 7"/>
          <p:cNvGrpSpPr/>
          <p:nvPr/>
        </p:nvGrpSpPr>
        <p:grpSpPr>
          <a:xfrm>
            <a:off x="0" y="9820130"/>
            <a:ext cx="18288000" cy="466870"/>
            <a:chOff x="0" y="0"/>
            <a:chExt cx="4816593" cy="122962"/>
          </a:xfrm>
        </p:grpSpPr>
        <p:sp>
          <p:nvSpPr>
            <p:cNvPr id="8" name="Freeform 8"/>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9" name="TextBox 9"/>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Freeform 11"/>
          <p:cNvSpPr/>
          <p:nvPr/>
        </p:nvSpPr>
        <p:spPr>
          <a:xfrm>
            <a:off x="5125363" y="2244392"/>
            <a:ext cx="8037275" cy="5938948"/>
          </a:xfrm>
          <a:custGeom>
            <a:avLst/>
            <a:gdLst/>
            <a:ahLst/>
            <a:cxnLst/>
            <a:rect l="l" t="t" r="r" b="b"/>
            <a:pathLst>
              <a:path w="8037275" h="5938948">
                <a:moveTo>
                  <a:pt x="0" y="0"/>
                </a:moveTo>
                <a:lnTo>
                  <a:pt x="8037274" y="0"/>
                </a:lnTo>
                <a:lnTo>
                  <a:pt x="8037274" y="5938948"/>
                </a:lnTo>
                <a:lnTo>
                  <a:pt x="0" y="5938948"/>
                </a:lnTo>
                <a:lnTo>
                  <a:pt x="0" y="0"/>
                </a:lnTo>
                <a:close/>
              </a:path>
            </a:pathLst>
          </a:custGeom>
          <a:blipFill>
            <a:blip r:embed="rId2"/>
            <a:stretch>
              <a:fillRect l="-10584" t="-13327" r="-18934" b="-4985"/>
            </a:stretch>
          </a:blipFill>
        </p:spPr>
      </p:sp>
      <p:sp>
        <p:nvSpPr>
          <p:cNvPr id="12" name="TextBox 12"/>
          <p:cNvSpPr txBox="1"/>
          <p:nvPr/>
        </p:nvSpPr>
        <p:spPr>
          <a:xfrm>
            <a:off x="7255859" y="8345488"/>
            <a:ext cx="3776278" cy="1063625"/>
          </a:xfrm>
          <a:prstGeom prst="rect">
            <a:avLst/>
          </a:prstGeom>
        </p:spPr>
        <p:txBody>
          <a:bodyPr lIns="0" tIns="0" rIns="0" bIns="0" rtlCol="0" anchor="t">
            <a:spAutoFit/>
          </a:bodyPr>
          <a:lstStyle/>
          <a:p>
            <a:pPr algn="ctr">
              <a:lnSpc>
                <a:spcPts val="2800"/>
              </a:lnSpc>
              <a:spcBef>
                <a:spcPct val="0"/>
              </a:spcBef>
            </a:pPr>
            <a:r>
              <a:rPr lang="en-US" sz="2000" dirty="0">
                <a:solidFill>
                  <a:srgbClr val="000000"/>
                </a:solidFill>
                <a:latin typeface="Roboto"/>
                <a:ea typeface="Roboto"/>
                <a:cs typeface="Roboto"/>
                <a:sym typeface="Roboto"/>
              </a:rPr>
              <a:t>200 epoch </a:t>
            </a:r>
            <a:r>
              <a:rPr lang="en-US" sz="2000" dirty="0" err="1">
                <a:solidFill>
                  <a:srgbClr val="000000"/>
                </a:solidFill>
                <a:latin typeface="Roboto"/>
                <a:ea typeface="Roboto"/>
                <a:cs typeface="Roboto"/>
                <a:sym typeface="Roboto"/>
              </a:rPr>
              <a:t>ile</a:t>
            </a:r>
            <a:r>
              <a:rPr lang="en-US" sz="2000" dirty="0">
                <a:solidFill>
                  <a:srgbClr val="000000"/>
                </a:solidFill>
                <a:latin typeface="Roboto"/>
                <a:ea typeface="Roboto"/>
                <a:cs typeface="Roboto"/>
                <a:sym typeface="Roboto"/>
              </a:rPr>
              <a:t> </a:t>
            </a:r>
            <a:r>
              <a:rPr lang="en-US" sz="2000" dirty="0" err="1">
                <a:solidFill>
                  <a:srgbClr val="000000"/>
                </a:solidFill>
                <a:latin typeface="Roboto"/>
                <a:ea typeface="Roboto"/>
                <a:cs typeface="Roboto"/>
                <a:sym typeface="Roboto"/>
              </a:rPr>
              <a:t>Bilgi</a:t>
            </a:r>
            <a:r>
              <a:rPr lang="en-US" sz="2000" dirty="0">
                <a:solidFill>
                  <a:srgbClr val="000000"/>
                </a:solidFill>
                <a:latin typeface="Roboto"/>
                <a:ea typeface="Roboto"/>
                <a:cs typeface="Roboto"/>
                <a:sym typeface="Roboto"/>
              </a:rPr>
              <a:t> </a:t>
            </a:r>
            <a:r>
              <a:rPr lang="en-US" sz="2000" dirty="0" err="1">
                <a:solidFill>
                  <a:srgbClr val="000000"/>
                </a:solidFill>
                <a:latin typeface="Roboto"/>
                <a:ea typeface="Roboto"/>
                <a:cs typeface="Roboto"/>
                <a:sym typeface="Roboto"/>
              </a:rPr>
              <a:t>Damıtma</a:t>
            </a:r>
            <a:r>
              <a:rPr lang="en-US" sz="2000" dirty="0">
                <a:solidFill>
                  <a:srgbClr val="000000"/>
                </a:solidFill>
                <a:latin typeface="Roboto"/>
                <a:ea typeface="Roboto"/>
                <a:cs typeface="Roboto"/>
                <a:sym typeface="Roboto"/>
              </a:rPr>
              <a:t> </a:t>
            </a:r>
            <a:r>
              <a:rPr lang="en-US" sz="2000" dirty="0" err="1">
                <a:solidFill>
                  <a:srgbClr val="000000"/>
                </a:solidFill>
                <a:latin typeface="Roboto"/>
                <a:ea typeface="Roboto"/>
                <a:cs typeface="Roboto"/>
                <a:sym typeface="Roboto"/>
              </a:rPr>
              <a:t>Öncesi</a:t>
            </a:r>
            <a:r>
              <a:rPr lang="en-US" sz="2000" dirty="0">
                <a:solidFill>
                  <a:srgbClr val="000000"/>
                </a:solidFill>
                <a:latin typeface="Roboto"/>
                <a:ea typeface="Roboto"/>
                <a:cs typeface="Roboto"/>
                <a:sym typeface="Roboto"/>
              </a:rPr>
              <a:t> </a:t>
            </a:r>
            <a:r>
              <a:rPr lang="en-US" sz="2000" dirty="0" err="1">
                <a:solidFill>
                  <a:srgbClr val="000000"/>
                </a:solidFill>
                <a:latin typeface="Roboto"/>
                <a:ea typeface="Roboto"/>
                <a:cs typeface="Roboto"/>
                <a:sym typeface="Roboto"/>
              </a:rPr>
              <a:t>Öğretmen</a:t>
            </a:r>
            <a:r>
              <a:rPr lang="en-US" sz="2000" dirty="0">
                <a:solidFill>
                  <a:srgbClr val="000000"/>
                </a:solidFill>
                <a:latin typeface="Roboto"/>
                <a:ea typeface="Roboto"/>
                <a:cs typeface="Roboto"/>
                <a:sym typeface="Roboto"/>
              </a:rPr>
              <a:t> </a:t>
            </a:r>
            <a:r>
              <a:rPr lang="en-US" sz="2000" dirty="0" err="1">
                <a:solidFill>
                  <a:srgbClr val="000000"/>
                </a:solidFill>
                <a:latin typeface="Roboto"/>
                <a:ea typeface="Roboto"/>
                <a:cs typeface="Roboto"/>
                <a:sym typeface="Roboto"/>
              </a:rPr>
              <a:t>Modeli</a:t>
            </a:r>
            <a:r>
              <a:rPr lang="en-US" sz="2000" dirty="0">
                <a:solidFill>
                  <a:srgbClr val="000000"/>
                </a:solidFill>
                <a:latin typeface="Roboto"/>
                <a:ea typeface="Roboto"/>
                <a:cs typeface="Roboto"/>
                <a:sym typeface="Roboto"/>
              </a:rPr>
              <a:t> </a:t>
            </a:r>
            <a:r>
              <a:rPr lang="en-US" sz="2000" dirty="0" err="1">
                <a:solidFill>
                  <a:srgbClr val="000000"/>
                </a:solidFill>
                <a:latin typeface="Roboto"/>
                <a:ea typeface="Roboto"/>
                <a:cs typeface="Roboto"/>
                <a:sym typeface="Roboto"/>
              </a:rPr>
              <a:t>için</a:t>
            </a:r>
            <a:r>
              <a:rPr lang="en-US" sz="2000" dirty="0">
                <a:solidFill>
                  <a:srgbClr val="000000"/>
                </a:solidFill>
                <a:latin typeface="Roboto"/>
                <a:ea typeface="Roboto"/>
                <a:cs typeface="Roboto"/>
                <a:sym typeface="Roboto"/>
              </a:rPr>
              <a:t> Confusion Matrix</a:t>
            </a:r>
          </a:p>
        </p:txBody>
      </p:sp>
      <p:sp>
        <p:nvSpPr>
          <p:cNvPr id="13" name="TextBox 13"/>
          <p:cNvSpPr txBox="1"/>
          <p:nvPr/>
        </p:nvSpPr>
        <p:spPr>
          <a:xfrm>
            <a:off x="14661544" y="1609804"/>
            <a:ext cx="2746465" cy="2473325"/>
          </a:xfrm>
          <a:prstGeom prst="rect">
            <a:avLst/>
          </a:prstGeom>
        </p:spPr>
        <p:txBody>
          <a:bodyPr lIns="0" tIns="0" rIns="0" bIns="0" rtlCol="0" anchor="t">
            <a:spAutoFit/>
          </a:bodyPr>
          <a:lstStyle/>
          <a:p>
            <a:pPr algn="r">
              <a:lnSpc>
                <a:spcPts val="2800"/>
              </a:lnSpc>
            </a:pPr>
            <a:r>
              <a:rPr lang="en-US" sz="2000">
                <a:solidFill>
                  <a:srgbClr val="000000"/>
                </a:solidFill>
                <a:latin typeface="Roboto"/>
                <a:ea typeface="Roboto"/>
                <a:cs typeface="Roboto"/>
                <a:sym typeface="Roboto"/>
              </a:rPr>
              <a:t>Veri Seti: CIFAR-10</a:t>
            </a:r>
          </a:p>
          <a:p>
            <a:pPr algn="r">
              <a:lnSpc>
                <a:spcPts val="2800"/>
              </a:lnSpc>
            </a:pPr>
            <a:r>
              <a:rPr lang="en-US" sz="2000">
                <a:solidFill>
                  <a:srgbClr val="000000"/>
                </a:solidFill>
                <a:latin typeface="Roboto"/>
                <a:ea typeface="Roboto"/>
                <a:cs typeface="Roboto"/>
                <a:sym typeface="Roboto"/>
              </a:rPr>
              <a:t>Epoch = 200</a:t>
            </a:r>
          </a:p>
          <a:p>
            <a:pPr algn="r">
              <a:lnSpc>
                <a:spcPts val="2800"/>
              </a:lnSpc>
            </a:pPr>
            <a:r>
              <a:rPr lang="en-US" sz="2000">
                <a:solidFill>
                  <a:srgbClr val="000000"/>
                </a:solidFill>
                <a:latin typeface="Roboto"/>
                <a:ea typeface="Roboto"/>
                <a:cs typeface="Roboto"/>
                <a:sym typeface="Roboto"/>
              </a:rPr>
              <a:t>Accuracy: 74.45%</a:t>
            </a:r>
          </a:p>
          <a:p>
            <a:pPr algn="r">
              <a:lnSpc>
                <a:spcPts val="2800"/>
              </a:lnSpc>
            </a:pPr>
            <a:r>
              <a:rPr lang="en-US" sz="2000">
                <a:solidFill>
                  <a:srgbClr val="000000"/>
                </a:solidFill>
                <a:latin typeface="Roboto"/>
                <a:ea typeface="Roboto"/>
                <a:cs typeface="Roboto"/>
                <a:sym typeface="Roboto"/>
              </a:rPr>
              <a:t>Precision: 74.69%</a:t>
            </a:r>
          </a:p>
          <a:p>
            <a:pPr algn="r">
              <a:lnSpc>
                <a:spcPts val="2800"/>
              </a:lnSpc>
            </a:pPr>
            <a:r>
              <a:rPr lang="en-US" sz="2000">
                <a:solidFill>
                  <a:srgbClr val="000000"/>
                </a:solidFill>
                <a:latin typeface="Roboto"/>
                <a:ea typeface="Roboto"/>
                <a:cs typeface="Roboto"/>
                <a:sym typeface="Roboto"/>
              </a:rPr>
              <a:t>Recall : 74.45%</a:t>
            </a:r>
          </a:p>
          <a:p>
            <a:pPr algn="r">
              <a:lnSpc>
                <a:spcPts val="2800"/>
              </a:lnSpc>
            </a:pPr>
            <a:r>
              <a:rPr lang="en-US" sz="2000">
                <a:solidFill>
                  <a:srgbClr val="000000"/>
                </a:solidFill>
                <a:latin typeface="Roboto"/>
                <a:ea typeface="Roboto"/>
                <a:cs typeface="Roboto"/>
                <a:sym typeface="Roboto"/>
              </a:rPr>
              <a:t>F1 Score: 74.42%</a:t>
            </a:r>
          </a:p>
          <a:p>
            <a:pPr algn="r">
              <a:lnSpc>
                <a:spcPts val="2800"/>
              </a:lnSpc>
            </a:pPr>
            <a:endParaRPr lang="en-US" sz="2000">
              <a:solidFill>
                <a:srgbClr val="000000"/>
              </a:solidFill>
              <a:latin typeface="Roboto"/>
              <a:ea typeface="Roboto"/>
              <a:cs typeface="Roboto"/>
              <a:sym typeface="Roboto"/>
            </a:endParaRPr>
          </a:p>
        </p:txBody>
      </p:sp>
      <p:sp>
        <p:nvSpPr>
          <p:cNvPr id="14" name="TextBox 14"/>
          <p:cNvSpPr txBox="1"/>
          <p:nvPr/>
        </p:nvSpPr>
        <p:spPr>
          <a:xfrm>
            <a:off x="989960" y="1609804"/>
            <a:ext cx="12794099" cy="415290"/>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Roboto Bold"/>
                <a:ea typeface="Roboto Bold"/>
                <a:cs typeface="Roboto Bold"/>
                <a:sym typeface="Roboto Bold"/>
              </a:rPr>
              <a:t>Test 2: Öğrenci modelinin, öğretmen modeline kıyasla özelliklerin yarıya düşürüldüğü durum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35</a:t>
            </a:r>
          </a:p>
        </p:txBody>
      </p:sp>
      <p:grpSp>
        <p:nvGrpSpPr>
          <p:cNvPr id="3" name="Group 3"/>
          <p:cNvGrpSpPr/>
          <p:nvPr/>
        </p:nvGrpSpPr>
        <p:grpSpPr>
          <a:xfrm>
            <a:off x="-257457" y="0"/>
            <a:ext cx="18802914" cy="1028700"/>
            <a:chOff x="0" y="0"/>
            <a:chExt cx="4952208" cy="270933"/>
          </a:xfrm>
        </p:grpSpPr>
        <p:sp>
          <p:nvSpPr>
            <p:cNvPr id="4" name="Freeform 4"/>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5" name="TextBox 5"/>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69316" y="144780"/>
            <a:ext cx="15618455"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Deneysel Çalışma</a:t>
            </a:r>
          </a:p>
        </p:txBody>
      </p:sp>
      <p:grpSp>
        <p:nvGrpSpPr>
          <p:cNvPr id="7" name="Group 7"/>
          <p:cNvGrpSpPr/>
          <p:nvPr/>
        </p:nvGrpSpPr>
        <p:grpSpPr>
          <a:xfrm>
            <a:off x="0" y="9820130"/>
            <a:ext cx="18288000" cy="466870"/>
            <a:chOff x="0" y="0"/>
            <a:chExt cx="4816593" cy="122962"/>
          </a:xfrm>
        </p:grpSpPr>
        <p:sp>
          <p:nvSpPr>
            <p:cNvPr id="8" name="Freeform 8"/>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9" name="TextBox 9"/>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Freeform 11"/>
          <p:cNvSpPr/>
          <p:nvPr/>
        </p:nvSpPr>
        <p:spPr>
          <a:xfrm>
            <a:off x="5031092" y="2239125"/>
            <a:ext cx="8225815" cy="5808750"/>
          </a:xfrm>
          <a:custGeom>
            <a:avLst/>
            <a:gdLst/>
            <a:ahLst/>
            <a:cxnLst/>
            <a:rect l="l" t="t" r="r" b="b"/>
            <a:pathLst>
              <a:path w="8225815" h="5808750">
                <a:moveTo>
                  <a:pt x="0" y="0"/>
                </a:moveTo>
                <a:lnTo>
                  <a:pt x="8225816" y="0"/>
                </a:lnTo>
                <a:lnTo>
                  <a:pt x="8225816" y="5808750"/>
                </a:lnTo>
                <a:lnTo>
                  <a:pt x="0" y="5808750"/>
                </a:lnTo>
                <a:lnTo>
                  <a:pt x="0" y="0"/>
                </a:lnTo>
                <a:close/>
              </a:path>
            </a:pathLst>
          </a:custGeom>
          <a:blipFill>
            <a:blip r:embed="rId2"/>
            <a:stretch>
              <a:fillRect l="-9256" t="-14216" r="-17089" b="-6554"/>
            </a:stretch>
          </a:blipFill>
        </p:spPr>
      </p:sp>
      <p:sp>
        <p:nvSpPr>
          <p:cNvPr id="12" name="TextBox 12"/>
          <p:cNvSpPr txBox="1"/>
          <p:nvPr/>
        </p:nvSpPr>
        <p:spPr>
          <a:xfrm>
            <a:off x="7387010" y="8345488"/>
            <a:ext cx="3828342" cy="106362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200 Epoch ile Bilgi Damıtma Öncesi Öğrenci Modeli için Confusion Matrix’i</a:t>
            </a:r>
          </a:p>
        </p:txBody>
      </p:sp>
      <p:sp>
        <p:nvSpPr>
          <p:cNvPr id="13" name="TextBox 13"/>
          <p:cNvSpPr txBox="1"/>
          <p:nvPr/>
        </p:nvSpPr>
        <p:spPr>
          <a:xfrm>
            <a:off x="14668211" y="1609804"/>
            <a:ext cx="2746465" cy="2473325"/>
          </a:xfrm>
          <a:prstGeom prst="rect">
            <a:avLst/>
          </a:prstGeom>
        </p:spPr>
        <p:txBody>
          <a:bodyPr lIns="0" tIns="0" rIns="0" bIns="0" rtlCol="0" anchor="t">
            <a:spAutoFit/>
          </a:bodyPr>
          <a:lstStyle/>
          <a:p>
            <a:pPr algn="r">
              <a:lnSpc>
                <a:spcPts val="2800"/>
              </a:lnSpc>
            </a:pPr>
            <a:r>
              <a:rPr lang="en-US" sz="2000">
                <a:solidFill>
                  <a:srgbClr val="000000"/>
                </a:solidFill>
                <a:latin typeface="Roboto"/>
                <a:ea typeface="Roboto"/>
                <a:cs typeface="Roboto"/>
                <a:sym typeface="Roboto"/>
              </a:rPr>
              <a:t>Veri Seti: CIFAR-10</a:t>
            </a:r>
          </a:p>
          <a:p>
            <a:pPr algn="r">
              <a:lnSpc>
                <a:spcPts val="2800"/>
              </a:lnSpc>
            </a:pPr>
            <a:r>
              <a:rPr lang="en-US" sz="2000">
                <a:solidFill>
                  <a:srgbClr val="000000"/>
                </a:solidFill>
                <a:latin typeface="Roboto"/>
                <a:ea typeface="Roboto"/>
                <a:cs typeface="Roboto"/>
                <a:sym typeface="Roboto"/>
              </a:rPr>
              <a:t>Epoch = 200</a:t>
            </a:r>
          </a:p>
          <a:p>
            <a:pPr algn="r">
              <a:lnSpc>
                <a:spcPts val="2800"/>
              </a:lnSpc>
            </a:pPr>
            <a:r>
              <a:rPr lang="en-US" sz="2000">
                <a:solidFill>
                  <a:srgbClr val="000000"/>
                </a:solidFill>
                <a:latin typeface="Roboto"/>
                <a:ea typeface="Roboto"/>
                <a:cs typeface="Roboto"/>
                <a:sym typeface="Roboto"/>
              </a:rPr>
              <a:t>Accuracy: 72.26%</a:t>
            </a:r>
          </a:p>
          <a:p>
            <a:pPr algn="r">
              <a:lnSpc>
                <a:spcPts val="2800"/>
              </a:lnSpc>
            </a:pPr>
            <a:r>
              <a:rPr lang="en-US" sz="2000">
                <a:solidFill>
                  <a:srgbClr val="000000"/>
                </a:solidFill>
                <a:latin typeface="Roboto"/>
                <a:ea typeface="Roboto"/>
                <a:cs typeface="Roboto"/>
                <a:sym typeface="Roboto"/>
              </a:rPr>
              <a:t>Precision: 72.54%</a:t>
            </a:r>
          </a:p>
          <a:p>
            <a:pPr algn="r">
              <a:lnSpc>
                <a:spcPts val="2800"/>
              </a:lnSpc>
            </a:pPr>
            <a:r>
              <a:rPr lang="en-US" sz="2000">
                <a:solidFill>
                  <a:srgbClr val="000000"/>
                </a:solidFill>
                <a:latin typeface="Roboto"/>
                <a:ea typeface="Roboto"/>
                <a:cs typeface="Roboto"/>
                <a:sym typeface="Roboto"/>
              </a:rPr>
              <a:t>Recall : 72.26%</a:t>
            </a:r>
          </a:p>
          <a:p>
            <a:pPr algn="r">
              <a:lnSpc>
                <a:spcPts val="2800"/>
              </a:lnSpc>
            </a:pPr>
            <a:r>
              <a:rPr lang="en-US" sz="2000">
                <a:solidFill>
                  <a:srgbClr val="000000"/>
                </a:solidFill>
                <a:latin typeface="Roboto"/>
                <a:ea typeface="Roboto"/>
                <a:cs typeface="Roboto"/>
                <a:sym typeface="Roboto"/>
              </a:rPr>
              <a:t>F1 Score: 72.28%</a:t>
            </a:r>
          </a:p>
          <a:p>
            <a:pPr algn="l">
              <a:lnSpc>
                <a:spcPts val="2800"/>
              </a:lnSpc>
            </a:pPr>
            <a:endParaRPr lang="en-US" sz="2000">
              <a:solidFill>
                <a:srgbClr val="000000"/>
              </a:solidFill>
              <a:latin typeface="Roboto"/>
              <a:ea typeface="Roboto"/>
              <a:cs typeface="Roboto"/>
              <a:sym typeface="Roboto"/>
            </a:endParaRPr>
          </a:p>
        </p:txBody>
      </p:sp>
      <p:sp>
        <p:nvSpPr>
          <p:cNvPr id="14" name="TextBox 14"/>
          <p:cNvSpPr txBox="1"/>
          <p:nvPr/>
        </p:nvSpPr>
        <p:spPr>
          <a:xfrm>
            <a:off x="989960" y="1609804"/>
            <a:ext cx="12794099" cy="415290"/>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Roboto Bold"/>
                <a:ea typeface="Roboto Bold"/>
                <a:cs typeface="Roboto Bold"/>
                <a:sym typeface="Roboto Bold"/>
              </a:rPr>
              <a:t>Test 2: Öğrenci modelinin, öğretmen modeline kıyasla özelliklerin yarıya düşürüldüğü durum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36</a:t>
            </a:r>
          </a:p>
        </p:txBody>
      </p:sp>
      <p:grpSp>
        <p:nvGrpSpPr>
          <p:cNvPr id="3" name="Group 3"/>
          <p:cNvGrpSpPr/>
          <p:nvPr/>
        </p:nvGrpSpPr>
        <p:grpSpPr>
          <a:xfrm>
            <a:off x="-257457" y="0"/>
            <a:ext cx="18802914" cy="1028700"/>
            <a:chOff x="0" y="0"/>
            <a:chExt cx="4952208" cy="270933"/>
          </a:xfrm>
        </p:grpSpPr>
        <p:sp>
          <p:nvSpPr>
            <p:cNvPr id="4" name="Freeform 4"/>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5" name="TextBox 5"/>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69316" y="144780"/>
            <a:ext cx="15319676"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Deneysel Çalışma</a:t>
            </a:r>
          </a:p>
        </p:txBody>
      </p:sp>
      <p:grpSp>
        <p:nvGrpSpPr>
          <p:cNvPr id="7" name="Group 7"/>
          <p:cNvGrpSpPr/>
          <p:nvPr/>
        </p:nvGrpSpPr>
        <p:grpSpPr>
          <a:xfrm>
            <a:off x="0" y="9820130"/>
            <a:ext cx="18288000" cy="466870"/>
            <a:chOff x="0" y="0"/>
            <a:chExt cx="4816593" cy="122962"/>
          </a:xfrm>
        </p:grpSpPr>
        <p:sp>
          <p:nvSpPr>
            <p:cNvPr id="8" name="Freeform 8"/>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9" name="TextBox 9"/>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
        <p:nvSpPr>
          <p:cNvPr id="11" name="Freeform 11"/>
          <p:cNvSpPr/>
          <p:nvPr/>
        </p:nvSpPr>
        <p:spPr>
          <a:xfrm>
            <a:off x="5004422" y="2257876"/>
            <a:ext cx="8279157" cy="6062792"/>
          </a:xfrm>
          <a:custGeom>
            <a:avLst/>
            <a:gdLst/>
            <a:ahLst/>
            <a:cxnLst/>
            <a:rect l="l" t="t" r="r" b="b"/>
            <a:pathLst>
              <a:path w="8279157" h="6062792">
                <a:moveTo>
                  <a:pt x="0" y="0"/>
                </a:moveTo>
                <a:lnTo>
                  <a:pt x="8279156" y="0"/>
                </a:lnTo>
                <a:lnTo>
                  <a:pt x="8279156" y="6062792"/>
                </a:lnTo>
                <a:lnTo>
                  <a:pt x="0" y="6062792"/>
                </a:lnTo>
                <a:lnTo>
                  <a:pt x="0" y="0"/>
                </a:lnTo>
                <a:close/>
              </a:path>
            </a:pathLst>
          </a:custGeom>
          <a:blipFill>
            <a:blip r:embed="rId2"/>
            <a:stretch>
              <a:fillRect l="-10040" t="-13812" r="-18063" b="-4268"/>
            </a:stretch>
          </a:blipFill>
        </p:spPr>
      </p:sp>
      <p:sp>
        <p:nvSpPr>
          <p:cNvPr id="12" name="TextBox 12"/>
          <p:cNvSpPr txBox="1"/>
          <p:nvPr/>
        </p:nvSpPr>
        <p:spPr>
          <a:xfrm>
            <a:off x="7114771" y="8496300"/>
            <a:ext cx="4058458" cy="106362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200 Epoch ile Bilgi Damıtma Sonrası Öğrenci Modeli İçin Confusion Matrix</a:t>
            </a:r>
          </a:p>
        </p:txBody>
      </p:sp>
      <p:sp>
        <p:nvSpPr>
          <p:cNvPr id="13" name="TextBox 13"/>
          <p:cNvSpPr txBox="1"/>
          <p:nvPr/>
        </p:nvSpPr>
        <p:spPr>
          <a:xfrm>
            <a:off x="14666425" y="1634141"/>
            <a:ext cx="2746465" cy="2473325"/>
          </a:xfrm>
          <a:prstGeom prst="rect">
            <a:avLst/>
          </a:prstGeom>
        </p:spPr>
        <p:txBody>
          <a:bodyPr lIns="0" tIns="0" rIns="0" bIns="0" rtlCol="0" anchor="t">
            <a:spAutoFit/>
          </a:bodyPr>
          <a:lstStyle/>
          <a:p>
            <a:pPr algn="r">
              <a:lnSpc>
                <a:spcPts val="2800"/>
              </a:lnSpc>
            </a:pPr>
            <a:r>
              <a:rPr lang="en-US" sz="2000">
                <a:solidFill>
                  <a:srgbClr val="000000"/>
                </a:solidFill>
                <a:latin typeface="Roboto"/>
                <a:ea typeface="Roboto"/>
                <a:cs typeface="Roboto"/>
                <a:sym typeface="Roboto"/>
              </a:rPr>
              <a:t>Veri Seti: CIFAR-10</a:t>
            </a:r>
          </a:p>
          <a:p>
            <a:pPr algn="r">
              <a:lnSpc>
                <a:spcPts val="2800"/>
              </a:lnSpc>
            </a:pPr>
            <a:r>
              <a:rPr lang="en-US" sz="2000">
                <a:solidFill>
                  <a:srgbClr val="000000"/>
                </a:solidFill>
                <a:latin typeface="Roboto"/>
                <a:ea typeface="Roboto"/>
                <a:cs typeface="Roboto"/>
                <a:sym typeface="Roboto"/>
              </a:rPr>
              <a:t>Epoch = 200</a:t>
            </a:r>
          </a:p>
          <a:p>
            <a:pPr algn="r">
              <a:lnSpc>
                <a:spcPts val="2800"/>
              </a:lnSpc>
            </a:pPr>
            <a:r>
              <a:rPr lang="en-US" sz="2000">
                <a:solidFill>
                  <a:srgbClr val="000000"/>
                </a:solidFill>
                <a:latin typeface="Roboto"/>
                <a:ea typeface="Roboto"/>
                <a:cs typeface="Roboto"/>
                <a:sym typeface="Roboto"/>
              </a:rPr>
              <a:t>Accuracy: 72.27%</a:t>
            </a:r>
          </a:p>
          <a:p>
            <a:pPr algn="r">
              <a:lnSpc>
                <a:spcPts val="2800"/>
              </a:lnSpc>
            </a:pPr>
            <a:r>
              <a:rPr lang="en-US" sz="2000">
                <a:solidFill>
                  <a:srgbClr val="000000"/>
                </a:solidFill>
                <a:latin typeface="Roboto"/>
                <a:ea typeface="Roboto"/>
                <a:cs typeface="Roboto"/>
                <a:sym typeface="Roboto"/>
              </a:rPr>
              <a:t>Precision: 72.22%</a:t>
            </a:r>
          </a:p>
          <a:p>
            <a:pPr algn="r">
              <a:lnSpc>
                <a:spcPts val="2800"/>
              </a:lnSpc>
            </a:pPr>
            <a:r>
              <a:rPr lang="en-US" sz="2000">
                <a:solidFill>
                  <a:srgbClr val="000000"/>
                </a:solidFill>
                <a:latin typeface="Roboto"/>
                <a:ea typeface="Roboto"/>
                <a:cs typeface="Roboto"/>
                <a:sym typeface="Roboto"/>
              </a:rPr>
              <a:t>Recall : 72.27%</a:t>
            </a:r>
          </a:p>
          <a:p>
            <a:pPr algn="r">
              <a:lnSpc>
                <a:spcPts val="2800"/>
              </a:lnSpc>
            </a:pPr>
            <a:r>
              <a:rPr lang="en-US" sz="2000">
                <a:solidFill>
                  <a:srgbClr val="000000"/>
                </a:solidFill>
                <a:latin typeface="Roboto"/>
                <a:ea typeface="Roboto"/>
                <a:cs typeface="Roboto"/>
                <a:sym typeface="Roboto"/>
              </a:rPr>
              <a:t>F1 Score: 72.10%</a:t>
            </a:r>
          </a:p>
          <a:p>
            <a:pPr algn="l">
              <a:lnSpc>
                <a:spcPts val="2800"/>
              </a:lnSpc>
            </a:pPr>
            <a:endParaRPr lang="en-US" sz="2000">
              <a:solidFill>
                <a:srgbClr val="000000"/>
              </a:solidFill>
              <a:latin typeface="Roboto"/>
              <a:ea typeface="Roboto"/>
              <a:cs typeface="Roboto"/>
              <a:sym typeface="Roboto"/>
            </a:endParaRPr>
          </a:p>
        </p:txBody>
      </p:sp>
      <p:sp>
        <p:nvSpPr>
          <p:cNvPr id="14" name="TextBox 14"/>
          <p:cNvSpPr txBox="1"/>
          <p:nvPr/>
        </p:nvSpPr>
        <p:spPr>
          <a:xfrm>
            <a:off x="989960" y="1609804"/>
            <a:ext cx="12794099" cy="415290"/>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Roboto Bold"/>
                <a:ea typeface="Roboto Bold"/>
                <a:cs typeface="Roboto Bold"/>
                <a:sym typeface="Roboto Bold"/>
              </a:rPr>
              <a:t>Test 2: Öğrenci modelinin, öğretmen modeline kıyasla özelliklerin yarıya düşürüldüğü durum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99835" y="2663269"/>
            <a:ext cx="10888330" cy="6383237"/>
          </a:xfrm>
          <a:custGeom>
            <a:avLst/>
            <a:gdLst/>
            <a:ahLst/>
            <a:cxnLst/>
            <a:rect l="l" t="t" r="r" b="b"/>
            <a:pathLst>
              <a:path w="10888330" h="6383237">
                <a:moveTo>
                  <a:pt x="0" y="0"/>
                </a:moveTo>
                <a:lnTo>
                  <a:pt x="10888330" y="0"/>
                </a:lnTo>
                <a:lnTo>
                  <a:pt x="10888330" y="6383237"/>
                </a:lnTo>
                <a:lnTo>
                  <a:pt x="0" y="6383237"/>
                </a:lnTo>
                <a:lnTo>
                  <a:pt x="0" y="0"/>
                </a:lnTo>
                <a:close/>
              </a:path>
            </a:pathLst>
          </a:custGeom>
          <a:blipFill>
            <a:blip r:embed="rId2"/>
            <a:stretch>
              <a:fillRect l="-75136" t="-97933" r="-77897" b="-44851"/>
            </a:stretch>
          </a:blipFill>
        </p:spPr>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37</a:t>
            </a:r>
          </a:p>
        </p:txBody>
      </p:sp>
      <p:grpSp>
        <p:nvGrpSpPr>
          <p:cNvPr id="4" name="Group 4"/>
          <p:cNvGrpSpPr/>
          <p:nvPr/>
        </p:nvGrpSpPr>
        <p:grpSpPr>
          <a:xfrm>
            <a:off x="0" y="9820130"/>
            <a:ext cx="18288000" cy="466870"/>
            <a:chOff x="0" y="0"/>
            <a:chExt cx="4816593" cy="122962"/>
          </a:xfrm>
        </p:grpSpPr>
        <p:sp>
          <p:nvSpPr>
            <p:cNvPr id="5" name="Freeform 5"/>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6" name="TextBox 6"/>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8" name="Group 8"/>
          <p:cNvGrpSpPr/>
          <p:nvPr/>
        </p:nvGrpSpPr>
        <p:grpSpPr>
          <a:xfrm>
            <a:off x="-257457" y="0"/>
            <a:ext cx="18802914" cy="1028700"/>
            <a:chOff x="0" y="0"/>
            <a:chExt cx="4952208" cy="270933"/>
          </a:xfrm>
        </p:grpSpPr>
        <p:sp>
          <p:nvSpPr>
            <p:cNvPr id="9" name="Freeform 9"/>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10" name="TextBox 10"/>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69316" y="144780"/>
            <a:ext cx="15246959"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BİLGİ DAMITMA (KNOWLEDGE DISTILLATION) - Deneysel Çalışma</a:t>
            </a:r>
          </a:p>
        </p:txBody>
      </p:sp>
      <p:sp>
        <p:nvSpPr>
          <p:cNvPr id="12" name="TextBox 12"/>
          <p:cNvSpPr txBox="1"/>
          <p:nvPr/>
        </p:nvSpPr>
        <p:spPr>
          <a:xfrm>
            <a:off x="989960" y="1609804"/>
            <a:ext cx="13335640" cy="436017"/>
          </a:xfrm>
          <a:prstGeom prst="rect">
            <a:avLst/>
          </a:prstGeom>
        </p:spPr>
        <p:txBody>
          <a:bodyPr wrap="square" lIns="0" tIns="0" rIns="0" bIns="0" rtlCol="0" anchor="t">
            <a:spAutoFit/>
          </a:bodyPr>
          <a:lstStyle/>
          <a:p>
            <a:pPr algn="l">
              <a:lnSpc>
                <a:spcPts val="3359"/>
              </a:lnSpc>
              <a:spcBef>
                <a:spcPct val="0"/>
              </a:spcBef>
            </a:pPr>
            <a:r>
              <a:rPr lang="en-US" sz="2399" b="1" dirty="0">
                <a:solidFill>
                  <a:srgbClr val="000000"/>
                </a:solidFill>
                <a:latin typeface="Roboto Bold"/>
                <a:ea typeface="Roboto Bold"/>
                <a:cs typeface="Roboto Bold"/>
                <a:sym typeface="Roboto Bold"/>
              </a:rPr>
              <a:t>Test 2: </a:t>
            </a:r>
            <a:r>
              <a:rPr lang="en-US" sz="2399" b="1" dirty="0" err="1">
                <a:solidFill>
                  <a:srgbClr val="000000"/>
                </a:solidFill>
                <a:latin typeface="Roboto Bold"/>
                <a:ea typeface="Roboto Bold"/>
                <a:cs typeface="Roboto Bold"/>
                <a:sym typeface="Roboto Bold"/>
              </a:rPr>
              <a:t>Öğrenci</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modelinin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öğretmen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modeline</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kıyasla</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özelliklerin</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yarıya</a:t>
            </a:r>
            <a:r>
              <a:rPr lang="en-US" sz="2399" b="1" dirty="0">
                <a:solidFill>
                  <a:srgbClr val="000000"/>
                </a:solidFill>
                <a:latin typeface="Roboto Bold"/>
                <a:ea typeface="Roboto Bold"/>
                <a:cs typeface="Roboto Bold"/>
                <a:sym typeface="Roboto Bold"/>
              </a:rPr>
              <a:t> </a:t>
            </a:r>
            <a:r>
              <a:rPr lang="en-US" sz="2399" b="1" dirty="0" err="1">
                <a:solidFill>
                  <a:srgbClr val="000000"/>
                </a:solidFill>
                <a:latin typeface="Roboto Bold"/>
                <a:ea typeface="Roboto Bold"/>
                <a:cs typeface="Roboto Bold"/>
                <a:sym typeface="Roboto Bold"/>
              </a:rPr>
              <a:t>düşürüldüğü</a:t>
            </a:r>
            <a:r>
              <a:rPr lang="en-US" sz="2399" b="1" dirty="0">
                <a:solidFill>
                  <a:srgbClr val="000000"/>
                </a:solidFill>
                <a:latin typeface="Roboto Bold"/>
                <a:ea typeface="Roboto Bold"/>
                <a:cs typeface="Roboto Bold"/>
                <a:sym typeface="Roboto Bold"/>
              </a:rPr>
              <a:t> durum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38</a:t>
            </a:r>
          </a:p>
        </p:txBody>
      </p:sp>
      <p:grpSp>
        <p:nvGrpSpPr>
          <p:cNvPr id="3" name="Group 3"/>
          <p:cNvGrpSpPr/>
          <p:nvPr/>
        </p:nvGrpSpPr>
        <p:grpSpPr>
          <a:xfrm>
            <a:off x="-257457" y="0"/>
            <a:ext cx="18802914" cy="1028700"/>
            <a:chOff x="0" y="0"/>
            <a:chExt cx="4952208" cy="270933"/>
          </a:xfrm>
        </p:grpSpPr>
        <p:sp>
          <p:nvSpPr>
            <p:cNvPr id="4" name="Freeform 4"/>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5" name="TextBox 5"/>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660460" y="2329884"/>
            <a:ext cx="7976874" cy="6701790"/>
          </a:xfrm>
          <a:prstGeom prst="rect">
            <a:avLst/>
          </a:prstGeom>
        </p:spPr>
        <p:txBody>
          <a:bodyPr lIns="0" tIns="0" rIns="0" bIns="0" rtlCol="0" anchor="t">
            <a:spAutoFit/>
          </a:bodyPr>
          <a:lstStyle/>
          <a:p>
            <a:pPr marL="518157" lvl="1" indent="-259078" algn="l">
              <a:lnSpc>
                <a:spcPts val="3359"/>
              </a:lnSpc>
              <a:buFont typeface="Arial"/>
              <a:buChar char="•"/>
            </a:pPr>
            <a:r>
              <a:rPr lang="en-US" sz="2399">
                <a:solidFill>
                  <a:srgbClr val="000000"/>
                </a:solidFill>
                <a:latin typeface="Roboto"/>
                <a:ea typeface="Roboto"/>
                <a:cs typeface="Roboto"/>
                <a:sym typeface="Roboto"/>
              </a:rPr>
              <a:t>Yapılan çalışmada CIFAR-10 veri seti kullanılmıştır.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Sınıf başına 6000 görüntü olmak üzere 10 sınıfta 60000 renkli görüntüden oluşur. 50000'i eğitim görseli, 10000'i test görselidir.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Her bir resim 32x32 boyutunda 3 renk kanalından oluşur. </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Sınıflar uçaklar, arabalar, kuşlar, kediler, geyikler, köpekler, kurbağalar, atlar, gemiler ve kamyonlardır.</a:t>
            </a:r>
          </a:p>
          <a:p>
            <a:pPr algn="l">
              <a:lnSpc>
                <a:spcPts val="3359"/>
              </a:lnSpc>
            </a:pPr>
            <a:endParaRPr lang="en-US" sz="2399">
              <a:solidFill>
                <a:srgbClr val="000000"/>
              </a:solidFill>
              <a:latin typeface="Roboto"/>
              <a:ea typeface="Roboto"/>
              <a:cs typeface="Roboto"/>
              <a:sym typeface="Roboto"/>
            </a:endParaRPr>
          </a:p>
          <a:p>
            <a:pPr marL="518157" lvl="1" indent="-259078" algn="l">
              <a:lnSpc>
                <a:spcPts val="3359"/>
              </a:lnSpc>
              <a:buFont typeface="Arial"/>
              <a:buChar char="•"/>
            </a:pPr>
            <a:r>
              <a:rPr lang="en-US" sz="2399">
                <a:solidFill>
                  <a:srgbClr val="000000"/>
                </a:solidFill>
                <a:latin typeface="Roboto"/>
                <a:ea typeface="Roboto"/>
                <a:cs typeface="Roboto"/>
                <a:sym typeface="Roboto"/>
              </a:rPr>
              <a:t>Veri setinde her bir özelliğin image, label bilgisi bulunur. </a:t>
            </a:r>
          </a:p>
          <a:p>
            <a:pPr algn="l">
              <a:lnSpc>
                <a:spcPts val="3359"/>
              </a:lnSpc>
            </a:pPr>
            <a:endParaRPr lang="en-US" sz="2399">
              <a:solidFill>
                <a:srgbClr val="000000"/>
              </a:solidFill>
              <a:latin typeface="Roboto"/>
              <a:ea typeface="Roboto"/>
              <a:cs typeface="Roboto"/>
              <a:sym typeface="Roboto"/>
            </a:endParaRPr>
          </a:p>
          <a:p>
            <a:pPr algn="l">
              <a:lnSpc>
                <a:spcPts val="3359"/>
              </a:lnSpc>
            </a:pPr>
            <a:endParaRPr lang="en-US" sz="2399">
              <a:solidFill>
                <a:srgbClr val="000000"/>
              </a:solidFill>
              <a:latin typeface="Roboto"/>
              <a:ea typeface="Roboto"/>
              <a:cs typeface="Roboto"/>
              <a:sym typeface="Roboto"/>
            </a:endParaRPr>
          </a:p>
        </p:txBody>
      </p:sp>
      <p:sp>
        <p:nvSpPr>
          <p:cNvPr id="7" name="Freeform 7"/>
          <p:cNvSpPr/>
          <p:nvPr/>
        </p:nvSpPr>
        <p:spPr>
          <a:xfrm>
            <a:off x="9705698" y="1579121"/>
            <a:ext cx="6769034" cy="7128758"/>
          </a:xfrm>
          <a:custGeom>
            <a:avLst/>
            <a:gdLst/>
            <a:ahLst/>
            <a:cxnLst/>
            <a:rect l="l" t="t" r="r" b="b"/>
            <a:pathLst>
              <a:path w="6769034" h="7128758">
                <a:moveTo>
                  <a:pt x="0" y="0"/>
                </a:moveTo>
                <a:lnTo>
                  <a:pt x="6769033" y="0"/>
                </a:lnTo>
                <a:lnTo>
                  <a:pt x="6769033" y="7128758"/>
                </a:lnTo>
                <a:lnTo>
                  <a:pt x="0" y="7128758"/>
                </a:lnTo>
                <a:lnTo>
                  <a:pt x="0" y="0"/>
                </a:lnTo>
                <a:close/>
              </a:path>
            </a:pathLst>
          </a:custGeom>
          <a:blipFill>
            <a:blip r:embed="rId2"/>
            <a:stretch>
              <a:fillRect l="-7826" r="-7500" b="-5264"/>
            </a:stretch>
          </a:blipFill>
        </p:spPr>
      </p:sp>
      <p:sp>
        <p:nvSpPr>
          <p:cNvPr id="8" name="TextBox 8"/>
          <p:cNvSpPr txBox="1"/>
          <p:nvPr/>
        </p:nvSpPr>
        <p:spPr>
          <a:xfrm>
            <a:off x="1069316" y="144780"/>
            <a:ext cx="15246959"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YÖNTEMLERİN PERFORMANS KARŞILAŞTIRMASI - Veri Kümesi</a:t>
            </a:r>
          </a:p>
        </p:txBody>
      </p:sp>
      <p:grpSp>
        <p:nvGrpSpPr>
          <p:cNvPr id="9" name="Group 9"/>
          <p:cNvGrpSpPr/>
          <p:nvPr/>
        </p:nvGrpSpPr>
        <p:grpSpPr>
          <a:xfrm>
            <a:off x="0" y="9820130"/>
            <a:ext cx="18288000" cy="466870"/>
            <a:chOff x="0" y="0"/>
            <a:chExt cx="4816593" cy="122962"/>
          </a:xfrm>
        </p:grpSpPr>
        <p:sp>
          <p:nvSpPr>
            <p:cNvPr id="10" name="Freeform 10"/>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1" name="TextBox 11"/>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39</a:t>
            </a:r>
          </a:p>
        </p:txBody>
      </p:sp>
      <p:grpSp>
        <p:nvGrpSpPr>
          <p:cNvPr id="3" name="Group 3"/>
          <p:cNvGrpSpPr/>
          <p:nvPr/>
        </p:nvGrpSpPr>
        <p:grpSpPr>
          <a:xfrm>
            <a:off x="-257457" y="0"/>
            <a:ext cx="18802914" cy="1028700"/>
            <a:chOff x="0" y="0"/>
            <a:chExt cx="4952208" cy="270933"/>
          </a:xfrm>
        </p:grpSpPr>
        <p:sp>
          <p:nvSpPr>
            <p:cNvPr id="4" name="Freeform 4"/>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5" name="TextBox 5"/>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69316" y="1627750"/>
            <a:ext cx="7481261" cy="12534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Normalizasyon:</a:t>
            </a:r>
          </a:p>
          <a:p>
            <a:pPr marL="518160" lvl="1" indent="-259080" algn="l">
              <a:lnSpc>
                <a:spcPts val="3359"/>
              </a:lnSpc>
              <a:spcBef>
                <a:spcPct val="0"/>
              </a:spcBef>
              <a:buFont typeface="Arial"/>
              <a:buChar char="•"/>
            </a:pPr>
            <a:r>
              <a:rPr lang="en-US" sz="2400">
                <a:solidFill>
                  <a:srgbClr val="000000"/>
                </a:solidFill>
                <a:latin typeface="Roboto"/>
                <a:ea typeface="Roboto"/>
                <a:cs typeface="Roboto"/>
                <a:sym typeface="Roboto"/>
              </a:rPr>
              <a:t>Ortalama değerler: [0.485, 0.456, 0.406]</a:t>
            </a:r>
          </a:p>
          <a:p>
            <a:pPr marL="518160" lvl="1" indent="-259080" algn="l">
              <a:lnSpc>
                <a:spcPts val="3359"/>
              </a:lnSpc>
              <a:spcBef>
                <a:spcPct val="0"/>
              </a:spcBef>
              <a:buFont typeface="Arial"/>
              <a:buChar char="•"/>
            </a:pPr>
            <a:r>
              <a:rPr lang="en-US" sz="2400">
                <a:solidFill>
                  <a:srgbClr val="000000"/>
                </a:solidFill>
                <a:latin typeface="Roboto"/>
                <a:ea typeface="Roboto"/>
                <a:cs typeface="Roboto"/>
                <a:sym typeface="Roboto"/>
              </a:rPr>
              <a:t>Standart sapma değerleri: [0.229, 0.224, 0.225]</a:t>
            </a:r>
          </a:p>
        </p:txBody>
      </p:sp>
      <p:sp>
        <p:nvSpPr>
          <p:cNvPr id="7" name="TextBox 7"/>
          <p:cNvSpPr txBox="1"/>
          <p:nvPr/>
        </p:nvSpPr>
        <p:spPr>
          <a:xfrm>
            <a:off x="1069316" y="3260335"/>
            <a:ext cx="4596871"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Yığın boyutu:</a:t>
            </a:r>
            <a:r>
              <a:rPr lang="en-US" sz="2400">
                <a:solidFill>
                  <a:srgbClr val="000000"/>
                </a:solidFill>
                <a:latin typeface="Roboto"/>
                <a:ea typeface="Roboto"/>
                <a:cs typeface="Roboto"/>
                <a:sym typeface="Roboto"/>
              </a:rPr>
              <a:t> 128, 64</a:t>
            </a:r>
          </a:p>
        </p:txBody>
      </p:sp>
      <p:sp>
        <p:nvSpPr>
          <p:cNvPr id="8" name="TextBox 8"/>
          <p:cNvSpPr txBox="1"/>
          <p:nvPr/>
        </p:nvSpPr>
        <p:spPr>
          <a:xfrm>
            <a:off x="1069316" y="4056625"/>
            <a:ext cx="6855484" cy="436017"/>
          </a:xfrm>
          <a:prstGeom prst="rect">
            <a:avLst/>
          </a:prstGeom>
        </p:spPr>
        <p:txBody>
          <a:bodyPr wrap="square" lIns="0" tIns="0" rIns="0" bIns="0" rtlCol="0" anchor="t">
            <a:spAutoFit/>
          </a:bodyPr>
          <a:lstStyle/>
          <a:p>
            <a:pPr algn="l">
              <a:lnSpc>
                <a:spcPts val="3359"/>
              </a:lnSpc>
              <a:spcBef>
                <a:spcPct val="0"/>
              </a:spcBef>
            </a:pPr>
            <a:r>
              <a:rPr lang="en-US" sz="2400" b="1" dirty="0" err="1">
                <a:solidFill>
                  <a:srgbClr val="000000"/>
                </a:solidFill>
                <a:latin typeface="Roboto Bold"/>
                <a:ea typeface="Roboto Bold"/>
                <a:cs typeface="Roboto Bold"/>
                <a:sym typeface="Roboto Bold"/>
              </a:rPr>
              <a:t>Kayıp</a:t>
            </a:r>
            <a:r>
              <a:rPr lang="en-US" sz="2400" b="1" dirty="0">
                <a:solidFill>
                  <a:srgbClr val="000000"/>
                </a:solidFill>
                <a:latin typeface="Roboto Bold"/>
                <a:ea typeface="Roboto Bold"/>
                <a:cs typeface="Roboto Bold"/>
                <a:sym typeface="Roboto Bold"/>
              </a:rPr>
              <a:t> </a:t>
            </a:r>
            <a:r>
              <a:rPr lang="en-US" sz="2400" b="1" dirty="0" err="1">
                <a:solidFill>
                  <a:srgbClr val="000000"/>
                </a:solidFill>
                <a:latin typeface="Roboto Bold"/>
                <a:ea typeface="Roboto Bold"/>
                <a:cs typeface="Roboto Bold"/>
                <a:sym typeface="Roboto Bold"/>
              </a:rPr>
              <a:t>fonksiyonu</a:t>
            </a:r>
            <a:r>
              <a:rPr lang="en-US" sz="2400" b="1" dirty="0">
                <a:solidFill>
                  <a:srgbClr val="000000"/>
                </a:solidFill>
                <a:latin typeface="Roboto Bold"/>
                <a:ea typeface="Roboto Bold"/>
                <a:cs typeface="Roboto Bold"/>
                <a:sym typeface="Roboto Bold"/>
              </a:rPr>
              <a:t>: </a:t>
            </a:r>
            <a:r>
              <a:rPr lang="en-US" sz="2400" dirty="0" err="1">
                <a:solidFill>
                  <a:srgbClr val="000000"/>
                </a:solidFill>
                <a:latin typeface="Roboto"/>
                <a:ea typeface="Roboto"/>
                <a:cs typeface="Roboto"/>
                <a:sym typeface="Roboto"/>
              </a:rPr>
              <a:t>Çapraz</a:t>
            </a:r>
            <a:r>
              <a:rPr lang="en-US" sz="2400" dirty="0">
                <a:solidFill>
                  <a:srgbClr val="000000"/>
                </a:solidFill>
                <a:latin typeface="Roboto"/>
                <a:ea typeface="Roboto"/>
                <a:cs typeface="Roboto"/>
                <a:sym typeface="Roboto"/>
              </a:rPr>
              <a:t> </a:t>
            </a:r>
            <a:r>
              <a:rPr lang="en-US" sz="2400" dirty="0" err="1">
                <a:solidFill>
                  <a:srgbClr val="000000"/>
                </a:solidFill>
                <a:latin typeface="Roboto"/>
                <a:ea typeface="Roboto"/>
                <a:cs typeface="Roboto"/>
                <a:sym typeface="Roboto"/>
              </a:rPr>
              <a:t>Entropi</a:t>
            </a:r>
            <a:r>
              <a:rPr lang="en-US" sz="2400" dirty="0">
                <a:solidFill>
                  <a:srgbClr val="000000"/>
                </a:solidFill>
                <a:latin typeface="Roboto"/>
                <a:ea typeface="Roboto"/>
                <a:cs typeface="Roboto"/>
                <a:sym typeface="Roboto"/>
              </a:rPr>
              <a:t> </a:t>
            </a:r>
            <a:r>
              <a:rPr lang="en-US" sz="2400" dirty="0" err="1">
                <a:solidFill>
                  <a:srgbClr val="000000"/>
                </a:solidFill>
                <a:latin typeface="Roboto"/>
                <a:ea typeface="Roboto"/>
                <a:cs typeface="Roboto"/>
                <a:sym typeface="Roboto"/>
              </a:rPr>
              <a:t>kaybı</a:t>
            </a:r>
            <a:endParaRPr lang="en-US" sz="2400" dirty="0">
              <a:solidFill>
                <a:srgbClr val="000000"/>
              </a:solidFill>
              <a:latin typeface="Roboto"/>
              <a:ea typeface="Roboto"/>
              <a:cs typeface="Roboto"/>
              <a:sym typeface="Roboto"/>
            </a:endParaRPr>
          </a:p>
        </p:txBody>
      </p:sp>
      <p:sp>
        <p:nvSpPr>
          <p:cNvPr id="9" name="TextBox 9"/>
          <p:cNvSpPr txBox="1"/>
          <p:nvPr/>
        </p:nvSpPr>
        <p:spPr>
          <a:xfrm>
            <a:off x="1069316" y="4852915"/>
            <a:ext cx="5301972"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Optimize edici: </a:t>
            </a:r>
            <a:r>
              <a:rPr lang="en-US" sz="2400">
                <a:solidFill>
                  <a:srgbClr val="000000"/>
                </a:solidFill>
                <a:latin typeface="Roboto"/>
                <a:ea typeface="Roboto"/>
                <a:cs typeface="Roboto"/>
                <a:sym typeface="Roboto"/>
              </a:rPr>
              <a:t>Adam, SGD</a:t>
            </a:r>
          </a:p>
        </p:txBody>
      </p:sp>
      <p:sp>
        <p:nvSpPr>
          <p:cNvPr id="10" name="TextBox 10"/>
          <p:cNvSpPr txBox="1"/>
          <p:nvPr/>
        </p:nvSpPr>
        <p:spPr>
          <a:xfrm>
            <a:off x="1069316" y="6445495"/>
            <a:ext cx="4162903"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Epoch sayısı: </a:t>
            </a:r>
            <a:r>
              <a:rPr lang="en-US" sz="2400">
                <a:solidFill>
                  <a:srgbClr val="000000"/>
                </a:solidFill>
                <a:latin typeface="Roboto"/>
                <a:ea typeface="Roboto"/>
                <a:cs typeface="Roboto"/>
                <a:sym typeface="Roboto"/>
              </a:rPr>
              <a:t>200</a:t>
            </a:r>
          </a:p>
        </p:txBody>
      </p:sp>
      <p:sp>
        <p:nvSpPr>
          <p:cNvPr id="11" name="TextBox 11"/>
          <p:cNvSpPr txBox="1"/>
          <p:nvPr/>
        </p:nvSpPr>
        <p:spPr>
          <a:xfrm>
            <a:off x="1069316" y="5649205"/>
            <a:ext cx="5301972" cy="415290"/>
          </a:xfrm>
          <a:prstGeom prst="rect">
            <a:avLst/>
          </a:prstGeom>
        </p:spPr>
        <p:txBody>
          <a:bodyPr lIns="0" tIns="0" rIns="0" bIns="0" rtlCol="0" anchor="t">
            <a:spAutoFit/>
          </a:bodyPr>
          <a:lstStyle/>
          <a:p>
            <a:pPr algn="l">
              <a:lnSpc>
                <a:spcPts val="3359"/>
              </a:lnSpc>
            </a:pPr>
            <a:r>
              <a:rPr lang="en-US" sz="2400" b="1">
                <a:solidFill>
                  <a:srgbClr val="000000"/>
                </a:solidFill>
                <a:latin typeface="Roboto Bold"/>
                <a:ea typeface="Roboto Bold"/>
                <a:cs typeface="Roboto Bold"/>
                <a:sym typeface="Roboto Bold"/>
              </a:rPr>
              <a:t>Öğrenme oranı: </a:t>
            </a:r>
            <a:r>
              <a:rPr lang="en-US" sz="2400">
                <a:solidFill>
                  <a:srgbClr val="000000"/>
                </a:solidFill>
                <a:latin typeface="Roboto"/>
                <a:ea typeface="Roboto"/>
                <a:cs typeface="Roboto"/>
                <a:sym typeface="Roboto"/>
              </a:rPr>
              <a:t>0.001</a:t>
            </a:r>
          </a:p>
        </p:txBody>
      </p:sp>
      <p:sp>
        <p:nvSpPr>
          <p:cNvPr id="12" name="TextBox 12"/>
          <p:cNvSpPr txBox="1"/>
          <p:nvPr/>
        </p:nvSpPr>
        <p:spPr>
          <a:xfrm>
            <a:off x="1069316" y="8038075"/>
            <a:ext cx="4162903"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T: </a:t>
            </a:r>
            <a:r>
              <a:rPr lang="en-US" sz="2400">
                <a:solidFill>
                  <a:srgbClr val="000000"/>
                </a:solidFill>
                <a:latin typeface="Roboto"/>
                <a:ea typeface="Roboto"/>
                <a:cs typeface="Roboto"/>
                <a:sym typeface="Roboto"/>
              </a:rPr>
              <a:t>1.5, 2, 2.5, 3</a:t>
            </a:r>
          </a:p>
        </p:txBody>
      </p:sp>
      <p:sp>
        <p:nvSpPr>
          <p:cNvPr id="13" name="TextBox 13"/>
          <p:cNvSpPr txBox="1"/>
          <p:nvPr/>
        </p:nvSpPr>
        <p:spPr>
          <a:xfrm>
            <a:off x="1069316" y="8748640"/>
            <a:ext cx="5627640"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Soft Target Loss Weight: </a:t>
            </a:r>
            <a:r>
              <a:rPr lang="en-US" sz="2400">
                <a:solidFill>
                  <a:srgbClr val="000000"/>
                </a:solidFill>
                <a:latin typeface="Roboto"/>
                <a:ea typeface="Roboto"/>
                <a:cs typeface="Roboto"/>
                <a:sym typeface="Roboto"/>
              </a:rPr>
              <a:t>0.3, 0.5, 0.7</a:t>
            </a:r>
          </a:p>
        </p:txBody>
      </p:sp>
      <p:sp>
        <p:nvSpPr>
          <p:cNvPr id="14" name="TextBox 14"/>
          <p:cNvSpPr txBox="1"/>
          <p:nvPr/>
        </p:nvSpPr>
        <p:spPr>
          <a:xfrm>
            <a:off x="1069316" y="7241785"/>
            <a:ext cx="4754069" cy="415290"/>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Roboto Bold"/>
                <a:ea typeface="Roboto Bold"/>
                <a:cs typeface="Roboto Bold"/>
                <a:sym typeface="Roboto Bold"/>
              </a:rPr>
              <a:t>Schedular: </a:t>
            </a:r>
            <a:r>
              <a:rPr lang="en-US" sz="2400">
                <a:solidFill>
                  <a:srgbClr val="000000"/>
                </a:solidFill>
                <a:latin typeface="Roboto"/>
                <a:ea typeface="Roboto"/>
                <a:cs typeface="Roboto"/>
                <a:sym typeface="Roboto"/>
              </a:rPr>
              <a:t>Cosine Annealing Lr </a:t>
            </a:r>
          </a:p>
        </p:txBody>
      </p:sp>
      <p:sp>
        <p:nvSpPr>
          <p:cNvPr id="15" name="TextBox 15"/>
          <p:cNvSpPr txBox="1"/>
          <p:nvPr/>
        </p:nvSpPr>
        <p:spPr>
          <a:xfrm>
            <a:off x="9477314" y="1696717"/>
            <a:ext cx="7481261" cy="7120890"/>
          </a:xfrm>
          <a:prstGeom prst="rect">
            <a:avLst/>
          </a:prstGeom>
        </p:spPr>
        <p:txBody>
          <a:bodyPr lIns="0" tIns="0" rIns="0" bIns="0" rtlCol="0" anchor="t">
            <a:spAutoFit/>
          </a:bodyPr>
          <a:lstStyle/>
          <a:p>
            <a:pPr algn="l">
              <a:lnSpc>
                <a:spcPts val="3359"/>
              </a:lnSpc>
              <a:spcBef>
                <a:spcPct val="0"/>
              </a:spcBef>
            </a:pPr>
            <a:r>
              <a:rPr lang="en-US" sz="2400" b="1" dirty="0" err="1">
                <a:solidFill>
                  <a:srgbClr val="000000"/>
                </a:solidFill>
                <a:latin typeface="Roboto Bold"/>
                <a:ea typeface="Roboto Bold"/>
                <a:cs typeface="Roboto Bold"/>
                <a:sym typeface="Roboto Bold"/>
              </a:rPr>
              <a:t>Veri</a:t>
            </a:r>
            <a:r>
              <a:rPr lang="en-US" sz="2400" b="1" dirty="0">
                <a:solidFill>
                  <a:srgbClr val="000000"/>
                </a:solidFill>
                <a:latin typeface="Roboto Bold"/>
                <a:ea typeface="Roboto Bold"/>
                <a:cs typeface="Roboto Bold"/>
                <a:sym typeface="Roboto Bold"/>
              </a:rPr>
              <a:t> </a:t>
            </a:r>
            <a:r>
              <a:rPr lang="en-US" sz="2400" b="1" dirty="0" err="1">
                <a:solidFill>
                  <a:srgbClr val="000000"/>
                </a:solidFill>
                <a:latin typeface="Roboto Bold"/>
                <a:ea typeface="Roboto Bold"/>
                <a:cs typeface="Roboto Bold"/>
                <a:sym typeface="Roboto Bold"/>
              </a:rPr>
              <a:t>Artırma</a:t>
            </a:r>
            <a:r>
              <a:rPr lang="en-US" sz="2400" b="1" dirty="0">
                <a:solidFill>
                  <a:srgbClr val="000000"/>
                </a:solidFill>
                <a:latin typeface="Roboto Bold"/>
                <a:ea typeface="Roboto Bold"/>
                <a:cs typeface="Roboto Bold"/>
                <a:sym typeface="Roboto Bold"/>
              </a:rPr>
              <a:t>:</a:t>
            </a:r>
          </a:p>
          <a:p>
            <a:pPr marL="518160" lvl="1" indent="-259080" algn="l">
              <a:lnSpc>
                <a:spcPts val="3359"/>
              </a:lnSpc>
              <a:spcBef>
                <a:spcPct val="0"/>
              </a:spcBef>
              <a:buFont typeface="Arial"/>
              <a:buChar char="•"/>
            </a:pPr>
            <a:r>
              <a:rPr lang="en-US" sz="2400" dirty="0" err="1">
                <a:solidFill>
                  <a:srgbClr val="000000"/>
                </a:solidFill>
                <a:latin typeface="Roboto"/>
                <a:ea typeface="Roboto"/>
                <a:cs typeface="Roboto"/>
                <a:sym typeface="Roboto"/>
              </a:rPr>
              <a:t>RandomHorizontalFlip</a:t>
            </a:r>
            <a:r>
              <a:rPr lang="en-US" sz="2400" dirty="0">
                <a:solidFill>
                  <a:srgbClr val="000000"/>
                </a:solidFill>
                <a:latin typeface="Roboto"/>
                <a:ea typeface="Roboto"/>
                <a:cs typeface="Roboto"/>
                <a:sym typeface="Roboto"/>
              </a:rPr>
              <a:t>: True</a:t>
            </a:r>
          </a:p>
          <a:p>
            <a:pPr marL="518160" lvl="1" indent="-259080" algn="l">
              <a:lnSpc>
                <a:spcPts val="3359"/>
              </a:lnSpc>
              <a:spcBef>
                <a:spcPct val="0"/>
              </a:spcBef>
              <a:buFont typeface="Arial"/>
              <a:buChar char="•"/>
            </a:pPr>
            <a:r>
              <a:rPr lang="en-US" sz="2400" dirty="0" err="1">
                <a:solidFill>
                  <a:srgbClr val="000000"/>
                </a:solidFill>
                <a:latin typeface="Roboto"/>
                <a:ea typeface="Roboto"/>
                <a:cs typeface="Roboto"/>
                <a:sym typeface="Roboto"/>
              </a:rPr>
              <a:t>RandomCrop</a:t>
            </a:r>
            <a:r>
              <a:rPr lang="en-US" sz="2400" dirty="0">
                <a:solidFill>
                  <a:srgbClr val="000000"/>
                </a:solidFill>
                <a:latin typeface="Roboto"/>
                <a:ea typeface="Roboto"/>
                <a:cs typeface="Roboto"/>
                <a:sym typeface="Roboto"/>
              </a:rPr>
              <a:t>:</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Size: 32</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Padding: 4</a:t>
            </a:r>
          </a:p>
          <a:p>
            <a:pPr marL="518160" lvl="1" indent="-259080" algn="l">
              <a:lnSpc>
                <a:spcPts val="3359"/>
              </a:lnSpc>
              <a:spcBef>
                <a:spcPct val="0"/>
              </a:spcBef>
              <a:buFont typeface="Arial"/>
              <a:buChar char="•"/>
            </a:pPr>
            <a:r>
              <a:rPr lang="en-US" sz="2400" dirty="0">
                <a:solidFill>
                  <a:srgbClr val="000000"/>
                </a:solidFill>
                <a:latin typeface="Roboto"/>
                <a:ea typeface="Roboto"/>
                <a:cs typeface="Roboto"/>
                <a:sym typeface="Roboto"/>
              </a:rPr>
              <a:t> </a:t>
            </a:r>
            <a:r>
              <a:rPr lang="en-US" sz="2400" dirty="0" err="1">
                <a:solidFill>
                  <a:srgbClr val="000000"/>
                </a:solidFill>
                <a:latin typeface="Roboto"/>
                <a:ea typeface="Roboto"/>
                <a:cs typeface="Roboto"/>
                <a:sym typeface="Roboto"/>
              </a:rPr>
              <a:t>ColorJitter</a:t>
            </a:r>
            <a:r>
              <a:rPr lang="en-US" sz="2400" dirty="0">
                <a:solidFill>
                  <a:srgbClr val="000000"/>
                </a:solidFill>
                <a:latin typeface="Roboto"/>
                <a:ea typeface="Roboto"/>
                <a:cs typeface="Roboto"/>
                <a:sym typeface="Roboto"/>
              </a:rPr>
              <a:t>:</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Brightness: 0.2</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Contrast: 0.2</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Saturation: 0.2</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Hue: 0.1</a:t>
            </a:r>
          </a:p>
          <a:p>
            <a:pPr marL="518160" lvl="1" indent="-259080" algn="l">
              <a:lnSpc>
                <a:spcPts val="3359"/>
              </a:lnSpc>
              <a:spcBef>
                <a:spcPct val="0"/>
              </a:spcBef>
              <a:buFont typeface="Arial"/>
              <a:buChar char="•"/>
            </a:pPr>
            <a:r>
              <a:rPr lang="en-US" sz="2400" dirty="0">
                <a:solidFill>
                  <a:srgbClr val="000000"/>
                </a:solidFill>
                <a:latin typeface="Roboto"/>
                <a:ea typeface="Roboto"/>
                <a:cs typeface="Roboto"/>
                <a:sym typeface="Roboto"/>
              </a:rPr>
              <a:t> </a:t>
            </a:r>
            <a:r>
              <a:rPr lang="en-US" sz="2400" dirty="0" err="1">
                <a:solidFill>
                  <a:srgbClr val="000000"/>
                </a:solidFill>
                <a:latin typeface="Roboto"/>
                <a:ea typeface="Roboto"/>
                <a:cs typeface="Roboto"/>
                <a:sym typeface="Roboto"/>
              </a:rPr>
              <a:t>RandomRotation</a:t>
            </a:r>
            <a:r>
              <a:rPr lang="en-US" sz="2400" dirty="0">
                <a:solidFill>
                  <a:srgbClr val="000000"/>
                </a:solidFill>
                <a:latin typeface="Roboto"/>
                <a:ea typeface="Roboto"/>
                <a:cs typeface="Roboto"/>
                <a:sym typeface="Roboto"/>
              </a:rPr>
              <a:t>:</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Degrees: ±10</a:t>
            </a:r>
          </a:p>
          <a:p>
            <a:pPr marL="518160" lvl="1" indent="-259080" algn="l">
              <a:lnSpc>
                <a:spcPts val="3359"/>
              </a:lnSpc>
              <a:spcBef>
                <a:spcPct val="0"/>
              </a:spcBef>
              <a:buFont typeface="Arial"/>
              <a:buChar char="•"/>
            </a:pPr>
            <a:r>
              <a:rPr lang="en-US" sz="2400" dirty="0">
                <a:solidFill>
                  <a:srgbClr val="000000"/>
                </a:solidFill>
                <a:latin typeface="Roboto"/>
                <a:ea typeface="Roboto"/>
                <a:cs typeface="Roboto"/>
                <a:sym typeface="Roboto"/>
              </a:rPr>
              <a:t> </a:t>
            </a:r>
            <a:r>
              <a:rPr lang="en-US" sz="2400" dirty="0" err="1">
                <a:solidFill>
                  <a:srgbClr val="000000"/>
                </a:solidFill>
                <a:latin typeface="Roboto"/>
                <a:ea typeface="Roboto"/>
                <a:cs typeface="Roboto"/>
                <a:sym typeface="Roboto"/>
              </a:rPr>
              <a:t>ToTensor</a:t>
            </a:r>
            <a:r>
              <a:rPr lang="en-US" sz="2400" dirty="0">
                <a:solidFill>
                  <a:srgbClr val="000000"/>
                </a:solidFill>
                <a:latin typeface="Roboto"/>
                <a:ea typeface="Roboto"/>
                <a:cs typeface="Roboto"/>
                <a:sym typeface="Roboto"/>
              </a:rPr>
              <a:t>: True</a:t>
            </a:r>
          </a:p>
          <a:p>
            <a:pPr marL="518160" lvl="1" indent="-259080" algn="l">
              <a:lnSpc>
                <a:spcPts val="3359"/>
              </a:lnSpc>
              <a:spcBef>
                <a:spcPct val="0"/>
              </a:spcBef>
              <a:buFont typeface="Arial"/>
              <a:buChar char="•"/>
            </a:pPr>
            <a:r>
              <a:rPr lang="en-US" sz="2400" dirty="0">
                <a:solidFill>
                  <a:srgbClr val="000000"/>
                </a:solidFill>
                <a:latin typeface="Roboto"/>
                <a:ea typeface="Roboto"/>
                <a:cs typeface="Roboto"/>
                <a:sym typeface="Roboto"/>
              </a:rPr>
              <a:t> </a:t>
            </a:r>
            <a:r>
              <a:rPr lang="en-US" sz="2400" dirty="0" err="1">
                <a:solidFill>
                  <a:srgbClr val="000000"/>
                </a:solidFill>
                <a:latin typeface="Roboto"/>
                <a:ea typeface="Roboto"/>
                <a:cs typeface="Roboto"/>
                <a:sym typeface="Roboto"/>
              </a:rPr>
              <a:t>RandomErasing</a:t>
            </a:r>
            <a:r>
              <a:rPr lang="en-US" sz="2400" dirty="0">
                <a:solidFill>
                  <a:srgbClr val="000000"/>
                </a:solidFill>
                <a:latin typeface="Roboto"/>
                <a:ea typeface="Roboto"/>
                <a:cs typeface="Roboto"/>
                <a:sym typeface="Roboto"/>
              </a:rPr>
              <a:t>:</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Probability: 0.2</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Scale: [0.02, 0.2]</a:t>
            </a:r>
          </a:p>
          <a:p>
            <a:pPr marL="1036320" lvl="2" indent="-345440" algn="l">
              <a:lnSpc>
                <a:spcPts val="3359"/>
              </a:lnSpc>
              <a:spcBef>
                <a:spcPct val="0"/>
              </a:spcBef>
              <a:buFont typeface="Arial"/>
              <a:buChar char="⚬"/>
            </a:pPr>
            <a:r>
              <a:rPr lang="en-US" sz="2400" dirty="0">
                <a:solidFill>
                  <a:srgbClr val="000000"/>
                </a:solidFill>
                <a:latin typeface="Roboto"/>
                <a:ea typeface="Roboto"/>
                <a:cs typeface="Roboto"/>
                <a:sym typeface="Roboto"/>
              </a:rPr>
              <a:t> Ratio: [0.3, 3.3]</a:t>
            </a:r>
          </a:p>
        </p:txBody>
      </p:sp>
      <p:sp>
        <p:nvSpPr>
          <p:cNvPr id="16" name="TextBox 16"/>
          <p:cNvSpPr txBox="1"/>
          <p:nvPr/>
        </p:nvSpPr>
        <p:spPr>
          <a:xfrm>
            <a:off x="1069316" y="144780"/>
            <a:ext cx="1673476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YÖNTEMLERİN PERFORMANS KARŞILAŞTIRMASI - Hiperparametreler</a:t>
            </a:r>
          </a:p>
        </p:txBody>
      </p:sp>
      <p:grpSp>
        <p:nvGrpSpPr>
          <p:cNvPr id="17" name="Group 17"/>
          <p:cNvGrpSpPr/>
          <p:nvPr/>
        </p:nvGrpSpPr>
        <p:grpSpPr>
          <a:xfrm>
            <a:off x="0" y="9820130"/>
            <a:ext cx="18288000" cy="466870"/>
            <a:chOff x="0" y="0"/>
            <a:chExt cx="4816593" cy="122962"/>
          </a:xfrm>
        </p:grpSpPr>
        <p:sp>
          <p:nvSpPr>
            <p:cNvPr id="18" name="Freeform 18"/>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9" name="TextBox 19"/>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7457" y="0"/>
            <a:ext cx="18802914" cy="1028700"/>
            <a:chOff x="0" y="0"/>
            <a:chExt cx="4952208" cy="270933"/>
          </a:xfrm>
        </p:grpSpPr>
        <p:sp>
          <p:nvSpPr>
            <p:cNvPr id="3" name="Freeform 3"/>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4" name="TextBox 4"/>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96420" y="5122058"/>
            <a:ext cx="14361253" cy="3877538"/>
          </a:xfrm>
          <a:custGeom>
            <a:avLst/>
            <a:gdLst/>
            <a:ahLst/>
            <a:cxnLst/>
            <a:rect l="l" t="t" r="r" b="b"/>
            <a:pathLst>
              <a:path w="14361253" h="3877538">
                <a:moveTo>
                  <a:pt x="0" y="0"/>
                </a:moveTo>
                <a:lnTo>
                  <a:pt x="14361254" y="0"/>
                </a:lnTo>
                <a:lnTo>
                  <a:pt x="14361254" y="3877538"/>
                </a:lnTo>
                <a:lnTo>
                  <a:pt x="0" y="3877538"/>
                </a:lnTo>
                <a:lnTo>
                  <a:pt x="0" y="0"/>
                </a:lnTo>
                <a:close/>
              </a:path>
            </a:pathLst>
          </a:custGeom>
          <a:blipFill>
            <a:blip r:embed="rId2"/>
            <a:stretch>
              <a:fillRect/>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40</a:t>
            </a:r>
          </a:p>
        </p:txBody>
      </p:sp>
      <p:sp>
        <p:nvSpPr>
          <p:cNvPr id="7" name="TextBox 7"/>
          <p:cNvSpPr txBox="1"/>
          <p:nvPr/>
        </p:nvSpPr>
        <p:spPr>
          <a:xfrm>
            <a:off x="660460" y="1792117"/>
            <a:ext cx="14956444" cy="2929890"/>
          </a:xfrm>
          <a:prstGeom prst="rect">
            <a:avLst/>
          </a:prstGeom>
        </p:spPr>
        <p:txBody>
          <a:bodyPr lIns="0" tIns="0" rIns="0" bIns="0" rtlCol="0" anchor="t">
            <a:spAutoFit/>
          </a:bodyPr>
          <a:lstStyle/>
          <a:p>
            <a:pPr marL="518157" lvl="1" indent="-259078" algn="l">
              <a:lnSpc>
                <a:spcPts val="3359"/>
              </a:lnSpc>
              <a:buFont typeface="Arial"/>
              <a:buChar char="•"/>
            </a:pPr>
            <a:r>
              <a:rPr lang="en-US" sz="2399">
                <a:solidFill>
                  <a:srgbClr val="000000"/>
                </a:solidFill>
                <a:latin typeface="Roboto"/>
                <a:ea typeface="Roboto"/>
                <a:cs typeface="Roboto"/>
                <a:sym typeface="Roboto"/>
              </a:rPr>
              <a:t>Her iki deneyde ResNet18 model mimarisi kullanılmıştır.</a:t>
            </a:r>
          </a:p>
          <a:p>
            <a:pPr marL="518157" lvl="1" indent="-259078" algn="l">
              <a:lnSpc>
                <a:spcPts val="3359"/>
              </a:lnSpc>
              <a:buFont typeface="Arial"/>
              <a:buChar char="•"/>
            </a:pPr>
            <a:r>
              <a:rPr lang="en-US" sz="2399">
                <a:solidFill>
                  <a:srgbClr val="000000"/>
                </a:solidFill>
                <a:latin typeface="Roboto"/>
                <a:ea typeface="Roboto"/>
                <a:cs typeface="Roboto"/>
                <a:sym typeface="Roboto"/>
              </a:rPr>
              <a:t>Transfer öğrenmede torchvision kütüphanesinden hazır ResNet-18, bilgi damıtmada ise elle implemente edilen ResNet18 modeli kullanılmıştır.</a:t>
            </a:r>
          </a:p>
          <a:p>
            <a:pPr marL="518157" lvl="1" indent="-259078" algn="l">
              <a:lnSpc>
                <a:spcPts val="3359"/>
              </a:lnSpc>
              <a:buFont typeface="Arial"/>
              <a:buChar char="•"/>
            </a:pPr>
            <a:r>
              <a:rPr lang="en-US" sz="2399">
                <a:solidFill>
                  <a:srgbClr val="000000"/>
                </a:solidFill>
                <a:latin typeface="Roboto"/>
                <a:ea typeface="Roboto"/>
                <a:cs typeface="Roboto"/>
                <a:sym typeface="Roboto"/>
              </a:rPr>
              <a:t>ResNet18 (Transfer Learning): 11,342,794 parametre</a:t>
            </a:r>
          </a:p>
          <a:p>
            <a:pPr marL="518157" lvl="1" indent="-259078" algn="l">
              <a:lnSpc>
                <a:spcPts val="3359"/>
              </a:lnSpc>
              <a:buFont typeface="Arial"/>
              <a:buChar char="•"/>
            </a:pPr>
            <a:r>
              <a:rPr lang="en-US" sz="2399">
                <a:solidFill>
                  <a:srgbClr val="000000"/>
                </a:solidFill>
                <a:latin typeface="Roboto"/>
                <a:ea typeface="Roboto"/>
                <a:cs typeface="Roboto"/>
                <a:sym typeface="Roboto"/>
              </a:rPr>
              <a:t>ResNet18 (Knowledge Distillation):</a:t>
            </a:r>
            <a:r>
              <a:rPr lang="en-US" sz="2399" b="1">
                <a:solidFill>
                  <a:srgbClr val="000000"/>
                </a:solidFill>
                <a:latin typeface="Roboto Bold"/>
                <a:ea typeface="Roboto Bold"/>
                <a:cs typeface="Roboto Bold"/>
                <a:sym typeface="Roboto Bold"/>
              </a:rPr>
              <a:t> </a:t>
            </a:r>
            <a:r>
              <a:rPr lang="en-US" sz="2399">
                <a:solidFill>
                  <a:srgbClr val="000000"/>
                </a:solidFill>
                <a:latin typeface="Roboto"/>
                <a:ea typeface="Roboto"/>
                <a:cs typeface="Roboto"/>
                <a:sym typeface="Roboto"/>
              </a:rPr>
              <a:t>11,335,114 parametre</a:t>
            </a:r>
          </a:p>
          <a:p>
            <a:pPr marL="518157" lvl="1" indent="-259078" algn="l">
              <a:lnSpc>
                <a:spcPts val="3359"/>
              </a:lnSpc>
              <a:buFont typeface="Arial"/>
              <a:buChar char="•"/>
            </a:pPr>
            <a:r>
              <a:rPr lang="en-US" sz="2399">
                <a:solidFill>
                  <a:srgbClr val="000000"/>
                </a:solidFill>
                <a:latin typeface="Roboto"/>
                <a:ea typeface="Roboto"/>
                <a:cs typeface="Roboto"/>
                <a:sym typeface="Roboto"/>
              </a:rPr>
              <a:t>Light ResNet18(Hafifletilmiş model):</a:t>
            </a:r>
            <a:r>
              <a:rPr lang="en-US" sz="2399" b="1">
                <a:solidFill>
                  <a:srgbClr val="000000"/>
                </a:solidFill>
                <a:latin typeface="Roboto Bold"/>
                <a:ea typeface="Roboto Bold"/>
                <a:cs typeface="Roboto Bold"/>
                <a:sym typeface="Roboto Bold"/>
              </a:rPr>
              <a:t> </a:t>
            </a:r>
            <a:r>
              <a:rPr lang="en-US" sz="2399">
                <a:solidFill>
                  <a:srgbClr val="000000"/>
                </a:solidFill>
                <a:latin typeface="Roboto"/>
                <a:ea typeface="Roboto"/>
                <a:cs typeface="Roboto"/>
                <a:sym typeface="Roboto"/>
              </a:rPr>
              <a:t>2,837,226 parametre</a:t>
            </a:r>
          </a:p>
          <a:p>
            <a:pPr algn="l">
              <a:lnSpc>
                <a:spcPts val="3359"/>
              </a:lnSpc>
            </a:pPr>
            <a:endParaRPr lang="en-US" sz="2399">
              <a:solidFill>
                <a:srgbClr val="000000"/>
              </a:solidFill>
              <a:latin typeface="Roboto"/>
              <a:ea typeface="Roboto"/>
              <a:cs typeface="Roboto"/>
              <a:sym typeface="Roboto"/>
            </a:endParaRPr>
          </a:p>
        </p:txBody>
      </p:sp>
      <p:sp>
        <p:nvSpPr>
          <p:cNvPr id="8" name="TextBox 8"/>
          <p:cNvSpPr txBox="1"/>
          <p:nvPr/>
        </p:nvSpPr>
        <p:spPr>
          <a:xfrm>
            <a:off x="1069316" y="144780"/>
            <a:ext cx="1673476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YÖNTEMLERİN PERFORMANS KARŞILAŞTIRMASI - Model Mimarisi</a:t>
            </a:r>
          </a:p>
        </p:txBody>
      </p:sp>
      <p:grpSp>
        <p:nvGrpSpPr>
          <p:cNvPr id="9" name="Group 9"/>
          <p:cNvGrpSpPr/>
          <p:nvPr/>
        </p:nvGrpSpPr>
        <p:grpSpPr>
          <a:xfrm>
            <a:off x="0" y="9820130"/>
            <a:ext cx="18288000" cy="466870"/>
            <a:chOff x="0" y="0"/>
            <a:chExt cx="4816593" cy="122962"/>
          </a:xfrm>
        </p:grpSpPr>
        <p:sp>
          <p:nvSpPr>
            <p:cNvPr id="10" name="Freeform 10"/>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1" name="TextBox 11"/>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7457" y="0"/>
            <a:ext cx="18802914" cy="1028700"/>
            <a:chOff x="0" y="0"/>
            <a:chExt cx="4952208" cy="270933"/>
          </a:xfrm>
        </p:grpSpPr>
        <p:sp>
          <p:nvSpPr>
            <p:cNvPr id="3" name="Freeform 3"/>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4" name="TextBox 4"/>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2875751" y="2689113"/>
            <a:ext cx="12536497" cy="4607149"/>
          </a:xfrm>
          <a:custGeom>
            <a:avLst/>
            <a:gdLst/>
            <a:ahLst/>
            <a:cxnLst/>
            <a:rect l="l" t="t" r="r" b="b"/>
            <a:pathLst>
              <a:path w="12536497" h="4607149">
                <a:moveTo>
                  <a:pt x="0" y="0"/>
                </a:moveTo>
                <a:lnTo>
                  <a:pt x="12536498" y="0"/>
                </a:lnTo>
                <a:lnTo>
                  <a:pt x="12536498" y="4607149"/>
                </a:lnTo>
                <a:lnTo>
                  <a:pt x="0" y="4607149"/>
                </a:lnTo>
                <a:lnTo>
                  <a:pt x="0" y="0"/>
                </a:lnTo>
                <a:close/>
              </a:path>
            </a:pathLst>
          </a:custGeom>
          <a:blipFill>
            <a:blip r:embed="rId2"/>
            <a:stretch>
              <a:fillRect l="-71003" t="-118463" r="-73076" b="-155130"/>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41</a:t>
            </a:r>
          </a:p>
        </p:txBody>
      </p:sp>
      <p:sp>
        <p:nvSpPr>
          <p:cNvPr id="7" name="TextBox 7"/>
          <p:cNvSpPr txBox="1"/>
          <p:nvPr/>
        </p:nvSpPr>
        <p:spPr>
          <a:xfrm>
            <a:off x="4827761" y="7239112"/>
            <a:ext cx="8632478" cy="3587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Knowledge Distillation ve Transfer Learning Model Parametre Karşılaştırması</a:t>
            </a:r>
          </a:p>
        </p:txBody>
      </p:sp>
      <p:sp>
        <p:nvSpPr>
          <p:cNvPr id="8" name="TextBox 8"/>
          <p:cNvSpPr txBox="1"/>
          <p:nvPr/>
        </p:nvSpPr>
        <p:spPr>
          <a:xfrm>
            <a:off x="1069316" y="144780"/>
            <a:ext cx="1673476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YÖNTEMLERİN PERFORMANS KARŞILAŞTIRMASI - Deneysel Çalışma</a:t>
            </a:r>
          </a:p>
        </p:txBody>
      </p:sp>
      <p:grpSp>
        <p:nvGrpSpPr>
          <p:cNvPr id="9" name="Group 9"/>
          <p:cNvGrpSpPr/>
          <p:nvPr/>
        </p:nvGrpSpPr>
        <p:grpSpPr>
          <a:xfrm>
            <a:off x="0" y="9820130"/>
            <a:ext cx="18288000" cy="466870"/>
            <a:chOff x="0" y="0"/>
            <a:chExt cx="4816593" cy="122962"/>
          </a:xfrm>
        </p:grpSpPr>
        <p:sp>
          <p:nvSpPr>
            <p:cNvPr id="10" name="Freeform 10"/>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1" name="TextBox 11"/>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7457" y="0"/>
            <a:ext cx="18802914" cy="1028700"/>
            <a:chOff x="0" y="0"/>
            <a:chExt cx="4952208" cy="270933"/>
          </a:xfrm>
        </p:grpSpPr>
        <p:sp>
          <p:nvSpPr>
            <p:cNvPr id="3" name="Freeform 3"/>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4" name="TextBox 4"/>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920373" y="2359818"/>
            <a:ext cx="14184365" cy="5567363"/>
          </a:xfrm>
          <a:custGeom>
            <a:avLst/>
            <a:gdLst/>
            <a:ahLst/>
            <a:cxnLst/>
            <a:rect l="l" t="t" r="r" b="b"/>
            <a:pathLst>
              <a:path w="14184365" h="5567363">
                <a:moveTo>
                  <a:pt x="0" y="0"/>
                </a:moveTo>
                <a:lnTo>
                  <a:pt x="14184365" y="0"/>
                </a:lnTo>
                <a:lnTo>
                  <a:pt x="14184365" y="5567364"/>
                </a:lnTo>
                <a:lnTo>
                  <a:pt x="0" y="5567364"/>
                </a:lnTo>
                <a:lnTo>
                  <a:pt x="0" y="0"/>
                </a:lnTo>
                <a:close/>
              </a:path>
            </a:pathLst>
          </a:custGeom>
          <a:blipFill>
            <a:blip r:embed="rId2"/>
            <a:stretch>
              <a:fillRect/>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42</a:t>
            </a:r>
          </a:p>
        </p:txBody>
      </p:sp>
      <p:sp>
        <p:nvSpPr>
          <p:cNvPr id="7" name="TextBox 7"/>
          <p:cNvSpPr txBox="1"/>
          <p:nvPr/>
        </p:nvSpPr>
        <p:spPr>
          <a:xfrm>
            <a:off x="7203496" y="8017059"/>
            <a:ext cx="4466404" cy="71120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Knowledge Distillation ve Transfer Learning Accuracy Karşılaştırması (%)</a:t>
            </a:r>
          </a:p>
        </p:txBody>
      </p:sp>
      <p:sp>
        <p:nvSpPr>
          <p:cNvPr id="8" name="TextBox 8"/>
          <p:cNvSpPr txBox="1"/>
          <p:nvPr/>
        </p:nvSpPr>
        <p:spPr>
          <a:xfrm>
            <a:off x="1069316" y="144780"/>
            <a:ext cx="1673476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YÖNTEMLERİN PERFORMANS KARŞILAŞTIRMASI - Deneysel Çalışma</a:t>
            </a:r>
          </a:p>
        </p:txBody>
      </p:sp>
      <p:grpSp>
        <p:nvGrpSpPr>
          <p:cNvPr id="9" name="Group 9"/>
          <p:cNvGrpSpPr/>
          <p:nvPr/>
        </p:nvGrpSpPr>
        <p:grpSpPr>
          <a:xfrm>
            <a:off x="0" y="9820130"/>
            <a:ext cx="18288000" cy="466870"/>
            <a:chOff x="0" y="0"/>
            <a:chExt cx="4816593" cy="122962"/>
          </a:xfrm>
        </p:grpSpPr>
        <p:sp>
          <p:nvSpPr>
            <p:cNvPr id="10" name="Freeform 10"/>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1" name="TextBox 11"/>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544910"/>
            <a:ext cx="8140842" cy="6807779"/>
          </a:xfrm>
          <a:custGeom>
            <a:avLst/>
            <a:gdLst/>
            <a:ahLst/>
            <a:cxnLst/>
            <a:rect l="l" t="t" r="r" b="b"/>
            <a:pathLst>
              <a:path w="8140842" h="6807779">
                <a:moveTo>
                  <a:pt x="0" y="0"/>
                </a:moveTo>
                <a:lnTo>
                  <a:pt x="8140842" y="0"/>
                </a:lnTo>
                <a:lnTo>
                  <a:pt x="8140842" y="6807779"/>
                </a:lnTo>
                <a:lnTo>
                  <a:pt x="0" y="6807779"/>
                </a:lnTo>
                <a:lnTo>
                  <a:pt x="0" y="0"/>
                </a:lnTo>
                <a:close/>
              </a:path>
            </a:pathLst>
          </a:custGeom>
          <a:blipFill>
            <a:blip r:embed="rId2"/>
            <a:stretch>
              <a:fillRect/>
            </a:stretch>
          </a:blipFill>
        </p:spPr>
      </p:sp>
      <p:grpSp>
        <p:nvGrpSpPr>
          <p:cNvPr id="3" name="Group 3"/>
          <p:cNvGrpSpPr/>
          <p:nvPr/>
        </p:nvGrpSpPr>
        <p:grpSpPr>
          <a:xfrm>
            <a:off x="-257457" y="0"/>
            <a:ext cx="18802914" cy="1028700"/>
            <a:chOff x="0" y="0"/>
            <a:chExt cx="4952208" cy="270933"/>
          </a:xfrm>
        </p:grpSpPr>
        <p:sp>
          <p:nvSpPr>
            <p:cNvPr id="4" name="Freeform 4"/>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5" name="TextBox 5"/>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9814825" y="1703474"/>
            <a:ext cx="6818267" cy="6196100"/>
          </a:xfrm>
          <a:custGeom>
            <a:avLst/>
            <a:gdLst/>
            <a:ahLst/>
            <a:cxnLst/>
            <a:rect l="l" t="t" r="r" b="b"/>
            <a:pathLst>
              <a:path w="6818267" h="6196100">
                <a:moveTo>
                  <a:pt x="0" y="0"/>
                </a:moveTo>
                <a:lnTo>
                  <a:pt x="6818267" y="0"/>
                </a:lnTo>
                <a:lnTo>
                  <a:pt x="6818267" y="6196100"/>
                </a:lnTo>
                <a:lnTo>
                  <a:pt x="0" y="6196100"/>
                </a:lnTo>
                <a:lnTo>
                  <a:pt x="0" y="0"/>
                </a:lnTo>
                <a:close/>
              </a:path>
            </a:pathLst>
          </a:custGeom>
          <a:blipFill>
            <a:blip r:embed="rId3"/>
            <a:stretch>
              <a:fillRect/>
            </a:stretch>
          </a:blipFill>
        </p:spPr>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43</a:t>
            </a:r>
          </a:p>
        </p:txBody>
      </p:sp>
      <p:sp>
        <p:nvSpPr>
          <p:cNvPr id="8" name="TextBox 8"/>
          <p:cNvSpPr txBox="1"/>
          <p:nvPr/>
        </p:nvSpPr>
        <p:spPr>
          <a:xfrm>
            <a:off x="2841054" y="8301600"/>
            <a:ext cx="4516134" cy="106362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 Transfer Öğrenme Confusion Matrix (Optimizer: Adam, Batch Size: 64)</a:t>
            </a:r>
          </a:p>
          <a:p>
            <a:pPr algn="ctr">
              <a:lnSpc>
                <a:spcPts val="2800"/>
              </a:lnSpc>
              <a:spcBef>
                <a:spcPct val="0"/>
              </a:spcBef>
            </a:pPr>
            <a:endParaRPr lang="en-US" sz="2000">
              <a:solidFill>
                <a:srgbClr val="000000"/>
              </a:solidFill>
              <a:latin typeface="Roboto"/>
              <a:ea typeface="Roboto"/>
              <a:cs typeface="Roboto"/>
              <a:sym typeface="Roboto"/>
            </a:endParaRPr>
          </a:p>
        </p:txBody>
      </p:sp>
      <p:sp>
        <p:nvSpPr>
          <p:cNvPr id="9" name="TextBox 9"/>
          <p:cNvSpPr txBox="1"/>
          <p:nvPr/>
        </p:nvSpPr>
        <p:spPr>
          <a:xfrm>
            <a:off x="10384290" y="8150787"/>
            <a:ext cx="5202650" cy="141605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Bilgi Damıtma Confusion Matrix</a:t>
            </a:r>
          </a:p>
          <a:p>
            <a:pPr algn="ctr">
              <a:lnSpc>
                <a:spcPts val="2800"/>
              </a:lnSpc>
              <a:spcBef>
                <a:spcPct val="0"/>
              </a:spcBef>
            </a:pPr>
            <a:r>
              <a:rPr lang="en-US" sz="2000">
                <a:solidFill>
                  <a:srgbClr val="000000"/>
                </a:solidFill>
                <a:latin typeface="Roboto"/>
                <a:ea typeface="Roboto"/>
                <a:cs typeface="Roboto"/>
                <a:sym typeface="Roboto"/>
              </a:rPr>
              <a:t>“Teacher: ResNet18, Student: Light ResNet18”</a:t>
            </a:r>
          </a:p>
          <a:p>
            <a:pPr algn="ctr">
              <a:lnSpc>
                <a:spcPts val="2800"/>
              </a:lnSpc>
              <a:spcBef>
                <a:spcPct val="0"/>
              </a:spcBef>
            </a:pPr>
            <a:r>
              <a:rPr lang="en-US" sz="2000">
                <a:solidFill>
                  <a:srgbClr val="000000"/>
                </a:solidFill>
                <a:latin typeface="Roboto"/>
                <a:ea typeface="Roboto"/>
                <a:cs typeface="Roboto"/>
                <a:sym typeface="Roboto"/>
              </a:rPr>
              <a:t> (Optimizer: Adam, Batch Size: 64)</a:t>
            </a:r>
          </a:p>
          <a:p>
            <a:pPr algn="ctr">
              <a:lnSpc>
                <a:spcPts val="2800"/>
              </a:lnSpc>
              <a:spcBef>
                <a:spcPct val="0"/>
              </a:spcBef>
            </a:pPr>
            <a:endParaRPr lang="en-US" sz="2000">
              <a:solidFill>
                <a:srgbClr val="000000"/>
              </a:solidFill>
              <a:latin typeface="Roboto"/>
              <a:ea typeface="Roboto"/>
              <a:cs typeface="Roboto"/>
              <a:sym typeface="Roboto"/>
            </a:endParaRPr>
          </a:p>
        </p:txBody>
      </p:sp>
      <p:sp>
        <p:nvSpPr>
          <p:cNvPr id="10" name="TextBox 10"/>
          <p:cNvSpPr txBox="1"/>
          <p:nvPr/>
        </p:nvSpPr>
        <p:spPr>
          <a:xfrm>
            <a:off x="1069316" y="144780"/>
            <a:ext cx="1673476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YÖNTEMLERİN PERFORMANS KARŞILAŞTIRMASI - Deneysel Çalışma</a:t>
            </a:r>
          </a:p>
        </p:txBody>
      </p:sp>
      <p:grpSp>
        <p:nvGrpSpPr>
          <p:cNvPr id="11" name="Group 11"/>
          <p:cNvGrpSpPr/>
          <p:nvPr/>
        </p:nvGrpSpPr>
        <p:grpSpPr>
          <a:xfrm>
            <a:off x="0" y="9820130"/>
            <a:ext cx="18288000" cy="466870"/>
            <a:chOff x="0" y="0"/>
            <a:chExt cx="4816593" cy="122962"/>
          </a:xfrm>
        </p:grpSpPr>
        <p:sp>
          <p:nvSpPr>
            <p:cNvPr id="12" name="Freeform 12"/>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3" name="TextBox 13"/>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7457" y="0"/>
            <a:ext cx="18802914" cy="1028700"/>
            <a:chOff x="0" y="0"/>
            <a:chExt cx="4952208" cy="270933"/>
          </a:xfrm>
        </p:grpSpPr>
        <p:sp>
          <p:nvSpPr>
            <p:cNvPr id="3" name="Freeform 3"/>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4" name="TextBox 4"/>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2368249" y="1928153"/>
            <a:ext cx="14280759" cy="6551298"/>
          </a:xfrm>
          <a:custGeom>
            <a:avLst/>
            <a:gdLst/>
            <a:ahLst/>
            <a:cxnLst/>
            <a:rect l="l" t="t" r="r" b="b"/>
            <a:pathLst>
              <a:path w="14280759" h="6551298">
                <a:moveTo>
                  <a:pt x="0" y="0"/>
                </a:moveTo>
                <a:lnTo>
                  <a:pt x="14280758" y="0"/>
                </a:lnTo>
                <a:lnTo>
                  <a:pt x="14280758" y="6551298"/>
                </a:lnTo>
                <a:lnTo>
                  <a:pt x="0" y="6551298"/>
                </a:lnTo>
                <a:lnTo>
                  <a:pt x="0" y="0"/>
                </a:lnTo>
                <a:close/>
              </a:path>
            </a:pathLst>
          </a:custGeom>
          <a:blipFill>
            <a:blip r:embed="rId2"/>
            <a:stretch>
              <a:fillRect/>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44</a:t>
            </a:r>
          </a:p>
        </p:txBody>
      </p:sp>
      <p:sp>
        <p:nvSpPr>
          <p:cNvPr id="7" name="TextBox 7"/>
          <p:cNvSpPr txBox="1"/>
          <p:nvPr/>
        </p:nvSpPr>
        <p:spPr>
          <a:xfrm>
            <a:off x="5195365" y="8547100"/>
            <a:ext cx="8482666" cy="71120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Bilgi Damıtmada farklı T değerleri için doğruluk karşılaştırması (α=0.5,λ=0.5)</a:t>
            </a:r>
          </a:p>
        </p:txBody>
      </p:sp>
      <p:sp>
        <p:nvSpPr>
          <p:cNvPr id="8" name="TextBox 8"/>
          <p:cNvSpPr txBox="1"/>
          <p:nvPr/>
        </p:nvSpPr>
        <p:spPr>
          <a:xfrm>
            <a:off x="1069316" y="144780"/>
            <a:ext cx="1673476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YÖNTEMLERİN PERFORMANS KARŞILAŞTIRMASI - Deneysel Çalışma</a:t>
            </a:r>
          </a:p>
        </p:txBody>
      </p:sp>
      <p:grpSp>
        <p:nvGrpSpPr>
          <p:cNvPr id="9" name="Group 9"/>
          <p:cNvGrpSpPr/>
          <p:nvPr/>
        </p:nvGrpSpPr>
        <p:grpSpPr>
          <a:xfrm>
            <a:off x="0" y="9820130"/>
            <a:ext cx="18288000" cy="466870"/>
            <a:chOff x="0" y="0"/>
            <a:chExt cx="4816593" cy="122962"/>
          </a:xfrm>
        </p:grpSpPr>
        <p:sp>
          <p:nvSpPr>
            <p:cNvPr id="10" name="Freeform 10"/>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1" name="TextBox 11"/>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7457" y="0"/>
            <a:ext cx="18802914" cy="1028700"/>
            <a:chOff x="0" y="0"/>
            <a:chExt cx="4952208" cy="270933"/>
          </a:xfrm>
        </p:grpSpPr>
        <p:sp>
          <p:nvSpPr>
            <p:cNvPr id="3" name="Freeform 3"/>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4" name="TextBox 4"/>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2804023" y="1721596"/>
            <a:ext cx="11502197" cy="6843807"/>
          </a:xfrm>
          <a:custGeom>
            <a:avLst/>
            <a:gdLst/>
            <a:ahLst/>
            <a:cxnLst/>
            <a:rect l="l" t="t" r="r" b="b"/>
            <a:pathLst>
              <a:path w="11502197" h="6843807">
                <a:moveTo>
                  <a:pt x="0" y="0"/>
                </a:moveTo>
                <a:lnTo>
                  <a:pt x="11502197" y="0"/>
                </a:lnTo>
                <a:lnTo>
                  <a:pt x="11502197" y="6843808"/>
                </a:lnTo>
                <a:lnTo>
                  <a:pt x="0" y="6843808"/>
                </a:lnTo>
                <a:lnTo>
                  <a:pt x="0" y="0"/>
                </a:lnTo>
                <a:close/>
              </a:path>
            </a:pathLst>
          </a:custGeom>
          <a:blipFill>
            <a:blip r:embed="rId2"/>
            <a:stretch>
              <a:fillRect/>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45</a:t>
            </a:r>
          </a:p>
        </p:txBody>
      </p:sp>
      <p:sp>
        <p:nvSpPr>
          <p:cNvPr id="7" name="TextBox 7"/>
          <p:cNvSpPr txBox="1"/>
          <p:nvPr/>
        </p:nvSpPr>
        <p:spPr>
          <a:xfrm>
            <a:off x="4902667" y="8697913"/>
            <a:ext cx="8482666" cy="71120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Farklı T Değerlerinin Bilgi Damıtma Üzerindeki Etkisi</a:t>
            </a:r>
          </a:p>
          <a:p>
            <a:pPr algn="ctr">
              <a:lnSpc>
                <a:spcPts val="2800"/>
              </a:lnSpc>
              <a:spcBef>
                <a:spcPct val="0"/>
              </a:spcBef>
            </a:pPr>
            <a:endParaRPr lang="en-US" sz="2000">
              <a:solidFill>
                <a:srgbClr val="000000"/>
              </a:solidFill>
              <a:latin typeface="Roboto"/>
              <a:ea typeface="Roboto"/>
              <a:cs typeface="Roboto"/>
              <a:sym typeface="Roboto"/>
            </a:endParaRPr>
          </a:p>
        </p:txBody>
      </p:sp>
      <p:sp>
        <p:nvSpPr>
          <p:cNvPr id="8" name="TextBox 8"/>
          <p:cNvSpPr txBox="1"/>
          <p:nvPr/>
        </p:nvSpPr>
        <p:spPr>
          <a:xfrm>
            <a:off x="1069316" y="144780"/>
            <a:ext cx="1673476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YÖNTEMLERİN PERFORMANS KARŞILAŞTIRMASI - Deneysel Çalışma</a:t>
            </a:r>
          </a:p>
        </p:txBody>
      </p:sp>
      <p:grpSp>
        <p:nvGrpSpPr>
          <p:cNvPr id="9" name="Group 9"/>
          <p:cNvGrpSpPr/>
          <p:nvPr/>
        </p:nvGrpSpPr>
        <p:grpSpPr>
          <a:xfrm>
            <a:off x="0" y="9820130"/>
            <a:ext cx="18288000" cy="466870"/>
            <a:chOff x="0" y="0"/>
            <a:chExt cx="4816593" cy="122962"/>
          </a:xfrm>
        </p:grpSpPr>
        <p:sp>
          <p:nvSpPr>
            <p:cNvPr id="10" name="Freeform 10"/>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1" name="TextBox 11"/>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10490" y="2628463"/>
            <a:ext cx="14271050" cy="5333805"/>
          </a:xfrm>
          <a:custGeom>
            <a:avLst/>
            <a:gdLst/>
            <a:ahLst/>
            <a:cxnLst/>
            <a:rect l="l" t="t" r="r" b="b"/>
            <a:pathLst>
              <a:path w="14271050" h="5333805">
                <a:moveTo>
                  <a:pt x="0" y="0"/>
                </a:moveTo>
                <a:lnTo>
                  <a:pt x="14271050" y="0"/>
                </a:lnTo>
                <a:lnTo>
                  <a:pt x="14271050" y="5333805"/>
                </a:lnTo>
                <a:lnTo>
                  <a:pt x="0" y="5333805"/>
                </a:lnTo>
                <a:lnTo>
                  <a:pt x="0" y="0"/>
                </a:lnTo>
                <a:close/>
              </a:path>
            </a:pathLst>
          </a:custGeom>
          <a:blipFill>
            <a:blip r:embed="rId2"/>
            <a:stretch>
              <a:fillRect/>
            </a:stretch>
          </a:blipFill>
        </p:spPr>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46</a:t>
            </a:r>
          </a:p>
        </p:txBody>
      </p:sp>
      <p:grpSp>
        <p:nvGrpSpPr>
          <p:cNvPr id="4" name="Group 4"/>
          <p:cNvGrpSpPr/>
          <p:nvPr/>
        </p:nvGrpSpPr>
        <p:grpSpPr>
          <a:xfrm>
            <a:off x="-257457" y="0"/>
            <a:ext cx="18802914" cy="1028700"/>
            <a:chOff x="0" y="0"/>
            <a:chExt cx="4952208" cy="270933"/>
          </a:xfrm>
        </p:grpSpPr>
        <p:sp>
          <p:nvSpPr>
            <p:cNvPr id="5" name="Freeform 5"/>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6" name="TextBox 6"/>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4600031" y="8194675"/>
            <a:ext cx="9550579" cy="71120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boto"/>
                <a:ea typeface="Roboto"/>
                <a:cs typeface="Roboto"/>
                <a:sym typeface="Roboto"/>
              </a:rPr>
              <a:t>Knowledge Distillation’da farklı loss dağılımları için accuracy karşılaştırması (T=2)</a:t>
            </a:r>
          </a:p>
          <a:p>
            <a:pPr algn="ctr">
              <a:lnSpc>
                <a:spcPts val="2800"/>
              </a:lnSpc>
              <a:spcBef>
                <a:spcPct val="0"/>
              </a:spcBef>
            </a:pPr>
            <a:endParaRPr lang="en-US" sz="2000">
              <a:solidFill>
                <a:srgbClr val="000000"/>
              </a:solidFill>
              <a:latin typeface="Roboto"/>
              <a:ea typeface="Roboto"/>
              <a:cs typeface="Roboto"/>
              <a:sym typeface="Roboto"/>
            </a:endParaRPr>
          </a:p>
        </p:txBody>
      </p:sp>
      <p:sp>
        <p:nvSpPr>
          <p:cNvPr id="8" name="TextBox 8"/>
          <p:cNvSpPr txBox="1"/>
          <p:nvPr/>
        </p:nvSpPr>
        <p:spPr>
          <a:xfrm>
            <a:off x="1069316" y="144780"/>
            <a:ext cx="16734764"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YÖNTEMLERİN PERFORMANS KARŞILAŞTIRMASI - Deneysel Çalışma</a:t>
            </a:r>
          </a:p>
        </p:txBody>
      </p:sp>
      <p:grpSp>
        <p:nvGrpSpPr>
          <p:cNvPr id="9" name="Group 9"/>
          <p:cNvGrpSpPr/>
          <p:nvPr/>
        </p:nvGrpSpPr>
        <p:grpSpPr>
          <a:xfrm>
            <a:off x="0" y="9820130"/>
            <a:ext cx="18288000" cy="466870"/>
            <a:chOff x="0" y="0"/>
            <a:chExt cx="4816593" cy="122962"/>
          </a:xfrm>
        </p:grpSpPr>
        <p:sp>
          <p:nvSpPr>
            <p:cNvPr id="10" name="Freeform 10"/>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1" name="TextBox 11"/>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47</a:t>
            </a:r>
          </a:p>
        </p:txBody>
      </p:sp>
      <p:grpSp>
        <p:nvGrpSpPr>
          <p:cNvPr id="3" name="Group 3"/>
          <p:cNvGrpSpPr/>
          <p:nvPr/>
        </p:nvGrpSpPr>
        <p:grpSpPr>
          <a:xfrm>
            <a:off x="0" y="9820130"/>
            <a:ext cx="18288000" cy="466870"/>
            <a:chOff x="0" y="0"/>
            <a:chExt cx="4816593" cy="122962"/>
          </a:xfrm>
        </p:grpSpPr>
        <p:sp>
          <p:nvSpPr>
            <p:cNvPr id="4" name="Freeform 4"/>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5" name="TextBox 5"/>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7" name="Group 7"/>
          <p:cNvGrpSpPr/>
          <p:nvPr/>
        </p:nvGrpSpPr>
        <p:grpSpPr>
          <a:xfrm>
            <a:off x="-257457" y="0"/>
            <a:ext cx="18802914" cy="1028700"/>
            <a:chOff x="0" y="0"/>
            <a:chExt cx="4952208" cy="270933"/>
          </a:xfrm>
        </p:grpSpPr>
        <p:sp>
          <p:nvSpPr>
            <p:cNvPr id="8" name="Freeform 8"/>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9" name="TextBox 9"/>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69316" y="144780"/>
            <a:ext cx="15246959"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GELECEK ÇALIŞMALAR </a:t>
            </a:r>
          </a:p>
        </p:txBody>
      </p:sp>
      <p:sp>
        <p:nvSpPr>
          <p:cNvPr id="11" name="TextBox 11"/>
          <p:cNvSpPr txBox="1"/>
          <p:nvPr/>
        </p:nvSpPr>
        <p:spPr>
          <a:xfrm>
            <a:off x="4056321" y="4349995"/>
            <a:ext cx="10175358" cy="2091690"/>
          </a:xfrm>
          <a:prstGeom prst="rect">
            <a:avLst/>
          </a:prstGeom>
        </p:spPr>
        <p:txBody>
          <a:bodyPr lIns="0" tIns="0" rIns="0" bIns="0" rtlCol="0" anchor="t">
            <a:spAutoFit/>
          </a:bodyPr>
          <a:lstStyle/>
          <a:p>
            <a:pPr algn="ctr">
              <a:lnSpc>
                <a:spcPts val="3359"/>
              </a:lnSpc>
              <a:spcBef>
                <a:spcPct val="0"/>
              </a:spcBef>
            </a:pPr>
            <a:r>
              <a:rPr lang="en-US" sz="2399">
                <a:solidFill>
                  <a:srgbClr val="000000"/>
                </a:solidFill>
                <a:latin typeface="Roboto"/>
                <a:ea typeface="Roboto"/>
                <a:cs typeface="Roboto"/>
                <a:sym typeface="Roboto"/>
              </a:rPr>
              <a:t>  Çalışmalar sonucu elde edilen bulguların detaylı analizi, mevcut literatürle ilişkilendirilerek, alan yazınına özgün katkılar sağlamayı amaçlamaktadır. Bu doğrultuda, elde edilen karşılaştırmalı sonuçların detaylı analiz edilmesi ve ilgili literatüre katkı sağlamak amacıyla akademik bir yayın olarak hazırlanması hedeflenmektedir.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48</a:t>
            </a:r>
          </a:p>
        </p:txBody>
      </p:sp>
      <p:grpSp>
        <p:nvGrpSpPr>
          <p:cNvPr id="3" name="Group 3"/>
          <p:cNvGrpSpPr/>
          <p:nvPr/>
        </p:nvGrpSpPr>
        <p:grpSpPr>
          <a:xfrm>
            <a:off x="0" y="9820130"/>
            <a:ext cx="18288000" cy="466870"/>
            <a:chOff x="0" y="0"/>
            <a:chExt cx="4816593" cy="122962"/>
          </a:xfrm>
        </p:grpSpPr>
        <p:sp>
          <p:nvSpPr>
            <p:cNvPr id="4" name="Freeform 4"/>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5" name="TextBox 5"/>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grpSp>
        <p:nvGrpSpPr>
          <p:cNvPr id="7" name="Group 7"/>
          <p:cNvGrpSpPr/>
          <p:nvPr/>
        </p:nvGrpSpPr>
        <p:grpSpPr>
          <a:xfrm>
            <a:off x="-257457" y="0"/>
            <a:ext cx="18802914" cy="1028700"/>
            <a:chOff x="0" y="0"/>
            <a:chExt cx="4952208" cy="270933"/>
          </a:xfrm>
        </p:grpSpPr>
        <p:sp>
          <p:nvSpPr>
            <p:cNvPr id="8" name="Freeform 8"/>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9" name="TextBox 9"/>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69316" y="144780"/>
            <a:ext cx="15246959"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SONUÇ</a:t>
            </a:r>
          </a:p>
        </p:txBody>
      </p:sp>
      <p:sp>
        <p:nvSpPr>
          <p:cNvPr id="11" name="TextBox 11"/>
          <p:cNvSpPr txBox="1"/>
          <p:nvPr/>
        </p:nvSpPr>
        <p:spPr>
          <a:xfrm>
            <a:off x="2791962" y="3302245"/>
            <a:ext cx="12704075" cy="4187190"/>
          </a:xfrm>
          <a:prstGeom prst="rect">
            <a:avLst/>
          </a:prstGeom>
        </p:spPr>
        <p:txBody>
          <a:bodyPr lIns="0" tIns="0" rIns="0" bIns="0" rtlCol="0" anchor="t">
            <a:spAutoFit/>
          </a:bodyPr>
          <a:lstStyle/>
          <a:p>
            <a:pPr algn="ctr">
              <a:lnSpc>
                <a:spcPts val="3359"/>
              </a:lnSpc>
            </a:pPr>
            <a:r>
              <a:rPr lang="en-US" sz="2399">
                <a:solidFill>
                  <a:srgbClr val="000000"/>
                </a:solidFill>
                <a:latin typeface="Roboto"/>
                <a:ea typeface="Roboto"/>
                <a:cs typeface="Roboto"/>
                <a:sym typeface="Roboto"/>
              </a:rPr>
              <a:t>Deneysel sonuçlar, ResNet-18 modeli ve CIFAR-10 veri seti kullanılarak gerçekleştirilen karşılaştırmalı analizde knowledge distillation yönteminin transfer learning yaklaşımına kıyasla üstün performans sergilediğini göstermektedir. </a:t>
            </a:r>
          </a:p>
          <a:p>
            <a:pPr algn="ctr">
              <a:lnSpc>
                <a:spcPts val="3359"/>
              </a:lnSpc>
            </a:pPr>
            <a:endParaRPr lang="en-US" sz="2399">
              <a:solidFill>
                <a:srgbClr val="000000"/>
              </a:solidFill>
              <a:latin typeface="Roboto"/>
              <a:ea typeface="Roboto"/>
              <a:cs typeface="Roboto"/>
              <a:sym typeface="Roboto"/>
            </a:endParaRPr>
          </a:p>
          <a:p>
            <a:pPr algn="ctr">
              <a:lnSpc>
                <a:spcPts val="3359"/>
              </a:lnSpc>
              <a:spcBef>
                <a:spcPct val="0"/>
              </a:spcBef>
            </a:pPr>
            <a:r>
              <a:rPr lang="en-US" sz="2399">
                <a:solidFill>
                  <a:srgbClr val="000000"/>
                </a:solidFill>
                <a:latin typeface="Roboto"/>
                <a:ea typeface="Roboto"/>
                <a:cs typeface="Roboto"/>
                <a:sym typeface="Roboto"/>
              </a:rPr>
              <a:t>Bu sonuç, knowledge distillation sürecinde öğrenci modelin (student) hem hedef veri setinden hem de öğretmen modelin (teacher) sahip olduğu zengin temsil bilgisinden faydalanması nedeniyle beklenen bir bulgudur. Transfer learning yaklaşımında model yalnızca önceden eğitilmiş ağırlıklardan başlayarak hedef göreve adapte olurken, knowledge distillation yöntemi öğretmen modelin çıktı dağılımlarından ek bilgi transferi sağlayarak daha etkili bir öğrenme süreci gerçekleştirir.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49</a:t>
            </a:r>
          </a:p>
        </p:txBody>
      </p:sp>
      <p:grpSp>
        <p:nvGrpSpPr>
          <p:cNvPr id="3" name="Group 3"/>
          <p:cNvGrpSpPr/>
          <p:nvPr/>
        </p:nvGrpSpPr>
        <p:grpSpPr>
          <a:xfrm>
            <a:off x="-257457" y="0"/>
            <a:ext cx="18802914" cy="1028700"/>
            <a:chOff x="0" y="0"/>
            <a:chExt cx="4952208" cy="270933"/>
          </a:xfrm>
        </p:grpSpPr>
        <p:sp>
          <p:nvSpPr>
            <p:cNvPr id="4" name="Freeform 4"/>
            <p:cNvSpPr/>
            <p:nvPr/>
          </p:nvSpPr>
          <p:spPr>
            <a:xfrm>
              <a:off x="0" y="0"/>
              <a:ext cx="4952208" cy="270933"/>
            </a:xfrm>
            <a:custGeom>
              <a:avLst/>
              <a:gdLst/>
              <a:ahLst/>
              <a:cxnLst/>
              <a:rect l="l" t="t" r="r" b="b"/>
              <a:pathLst>
                <a:path w="4952208" h="270933">
                  <a:moveTo>
                    <a:pt x="0" y="0"/>
                  </a:moveTo>
                  <a:lnTo>
                    <a:pt x="4952208" y="0"/>
                  </a:lnTo>
                  <a:lnTo>
                    <a:pt x="4952208" y="270933"/>
                  </a:lnTo>
                  <a:lnTo>
                    <a:pt x="0" y="270933"/>
                  </a:lnTo>
                  <a:close/>
                </a:path>
              </a:pathLst>
            </a:custGeom>
            <a:solidFill>
              <a:srgbClr val="006781"/>
            </a:solidFill>
          </p:spPr>
        </p:sp>
        <p:sp>
          <p:nvSpPr>
            <p:cNvPr id="5" name="TextBox 5"/>
            <p:cNvSpPr txBox="1"/>
            <p:nvPr/>
          </p:nvSpPr>
          <p:spPr>
            <a:xfrm>
              <a:off x="0" y="-28575"/>
              <a:ext cx="4952208" cy="29950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69316" y="144780"/>
            <a:ext cx="15246959" cy="662940"/>
          </a:xfrm>
          <a:prstGeom prst="rect">
            <a:avLst/>
          </a:prstGeom>
        </p:spPr>
        <p:txBody>
          <a:bodyPr lIns="0" tIns="0" rIns="0" bIns="0" rtlCol="0" anchor="t">
            <a:spAutoFit/>
          </a:bodyPr>
          <a:lstStyle/>
          <a:p>
            <a:pPr algn="l">
              <a:lnSpc>
                <a:spcPts val="5460"/>
              </a:lnSpc>
              <a:spcBef>
                <a:spcPct val="0"/>
              </a:spcBef>
            </a:pPr>
            <a:r>
              <a:rPr lang="en-US" sz="3900" b="1">
                <a:solidFill>
                  <a:srgbClr val="FFFFFF"/>
                </a:solidFill>
                <a:latin typeface="Roboto Bold"/>
                <a:ea typeface="Roboto Bold"/>
                <a:cs typeface="Roboto Bold"/>
                <a:sym typeface="Roboto Bold"/>
              </a:rPr>
              <a:t>TEŞEKKÜR VE SORULAR</a:t>
            </a:r>
          </a:p>
        </p:txBody>
      </p:sp>
      <p:sp>
        <p:nvSpPr>
          <p:cNvPr id="7" name="TextBox 7"/>
          <p:cNvSpPr txBox="1"/>
          <p:nvPr/>
        </p:nvSpPr>
        <p:spPr>
          <a:xfrm>
            <a:off x="6867698" y="5082149"/>
            <a:ext cx="4938266" cy="415290"/>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Roboto"/>
                <a:ea typeface="Roboto"/>
                <a:cs typeface="Roboto"/>
                <a:sym typeface="Roboto"/>
              </a:rPr>
              <a:t>Bizi dinlediğiniz için teşekkür ederiz. </a:t>
            </a:r>
          </a:p>
        </p:txBody>
      </p:sp>
      <p:grpSp>
        <p:nvGrpSpPr>
          <p:cNvPr id="8" name="Group 8"/>
          <p:cNvGrpSpPr/>
          <p:nvPr/>
        </p:nvGrpSpPr>
        <p:grpSpPr>
          <a:xfrm>
            <a:off x="0" y="9820130"/>
            <a:ext cx="18288000" cy="466870"/>
            <a:chOff x="0" y="0"/>
            <a:chExt cx="4816593" cy="122962"/>
          </a:xfrm>
        </p:grpSpPr>
        <p:sp>
          <p:nvSpPr>
            <p:cNvPr id="9" name="Freeform 9"/>
            <p:cNvSpPr/>
            <p:nvPr/>
          </p:nvSpPr>
          <p:spPr>
            <a:xfrm>
              <a:off x="0" y="0"/>
              <a:ext cx="4816592" cy="122962"/>
            </a:xfrm>
            <a:custGeom>
              <a:avLst/>
              <a:gdLst/>
              <a:ahLst/>
              <a:cxnLst/>
              <a:rect l="l" t="t" r="r" b="b"/>
              <a:pathLst>
                <a:path w="4816592" h="122962">
                  <a:moveTo>
                    <a:pt x="0" y="0"/>
                  </a:moveTo>
                  <a:lnTo>
                    <a:pt x="4816592" y="0"/>
                  </a:lnTo>
                  <a:lnTo>
                    <a:pt x="4816592" y="122962"/>
                  </a:lnTo>
                  <a:lnTo>
                    <a:pt x="0" y="122962"/>
                  </a:lnTo>
                  <a:close/>
                </a:path>
              </a:pathLst>
            </a:custGeom>
            <a:solidFill>
              <a:srgbClr val="006781"/>
            </a:solidFill>
          </p:spPr>
        </p:sp>
        <p:sp>
          <p:nvSpPr>
            <p:cNvPr id="10" name="TextBox 10"/>
            <p:cNvSpPr txBox="1"/>
            <p:nvPr/>
          </p:nvSpPr>
          <p:spPr>
            <a:xfrm>
              <a:off x="0" y="-28575"/>
              <a:ext cx="4816593" cy="15153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7077984" y="9871637"/>
            <a:ext cx="3617119" cy="3162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Roboto"/>
                <a:ea typeface="Roboto"/>
                <a:cs typeface="Roboto"/>
                <a:sym typeface="Roboto"/>
              </a:rPr>
              <a:t>Transfer Öğrenme ve Bilgi Damıtma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2787</Words>
  <Application>Microsoft Office PowerPoint</Application>
  <PresentationFormat>Özel</PresentationFormat>
  <Paragraphs>560</Paragraphs>
  <Slides>49</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49</vt:i4>
      </vt:variant>
    </vt:vector>
  </HeadingPairs>
  <TitlesOfParts>
    <vt:vector size="55" baseType="lpstr">
      <vt:lpstr>Arial</vt:lpstr>
      <vt:lpstr>Roboto Bold</vt:lpstr>
      <vt:lpstr>Roboto</vt:lpstr>
      <vt:lpstr>Canva Sans</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2121221005_2021221052_Sunum</dc:title>
  <dc:creator>Beyza Yıldızlı</dc:creator>
  <cp:lastModifiedBy>Beyza Yıldızlı</cp:lastModifiedBy>
  <cp:revision>2</cp:revision>
  <dcterms:created xsi:type="dcterms:W3CDTF">2006-08-16T00:00:00Z</dcterms:created>
  <dcterms:modified xsi:type="dcterms:W3CDTF">2025-06-19T15:02:27Z</dcterms:modified>
  <dc:identifier>DAGqg4Wrmf4</dc:identifier>
</cp:coreProperties>
</file>